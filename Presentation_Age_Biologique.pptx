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2.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5" roundtripDataSignature="AMtx7mgB7N/FLw07npRCRxeeaoO4hAD0U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777335-6E78-4D11-92F4-CBAF9F99DE82}">
  <a:tblStyle styleId="{59777335-6E78-4D11-92F4-CBAF9F99DE8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A391BEE-151E-4823-9188-C41C05F77F12}" styleName="Table_1">
    <a:wholeTbl>
      <a:tcTxStyle>
        <a:font>
          <a:latin typeface="Arial"/>
          <a:ea typeface="Arial"/>
          <a:cs typeface="Arial"/>
        </a:font>
        <a:srgbClr val="000000"/>
      </a:tcTxStyle>
      <a:tcStyle>
        <a:tcBdr>
          <a:left>
            <a:ln w="6350" cap="flat" cmpd="sng">
              <a:solidFill>
                <a:srgbClr val="000000"/>
              </a:solidFill>
              <a:prstDash val="solid"/>
              <a:round/>
              <a:headEnd type="none" w="sm" len="sm"/>
              <a:tailEnd type="none" w="sm" len="sm"/>
            </a:ln>
          </a:left>
          <a:right>
            <a:ln w="6350" cap="flat" cmpd="sng">
              <a:solidFill>
                <a:srgbClr val="000000"/>
              </a:solidFill>
              <a:prstDash val="solid"/>
              <a:round/>
              <a:headEnd type="none" w="sm" len="sm"/>
              <a:tailEnd type="none" w="sm" len="sm"/>
            </a:ln>
          </a:right>
          <a:top>
            <a:ln w="6350" cap="flat" cmpd="sng">
              <a:solidFill>
                <a:srgbClr val="000000"/>
              </a:solidFill>
              <a:prstDash val="solid"/>
              <a:round/>
              <a:headEnd type="none" w="sm" len="sm"/>
              <a:tailEnd type="none" w="sm" len="sm"/>
            </a:ln>
          </a:top>
          <a:bottom>
            <a:ln w="6350" cap="flat" cmpd="sng">
              <a:solidFill>
                <a:srgbClr val="000000"/>
              </a:solidFill>
              <a:prstDash val="solid"/>
              <a:round/>
              <a:headEnd type="none" w="sm" len="sm"/>
              <a:tailEnd type="none" w="sm" len="sm"/>
            </a:ln>
          </a:bottom>
          <a:insideH>
            <a:ln w="6350" cap="flat" cmpd="sng">
              <a:solidFill>
                <a:srgbClr val="000000"/>
              </a:solidFill>
              <a:prstDash val="solid"/>
              <a:round/>
              <a:headEnd type="none" w="sm" len="sm"/>
              <a:tailEnd type="none" w="sm" len="sm"/>
            </a:ln>
          </a:insideH>
          <a:insideV>
            <a:ln w="635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customschemas.google.com/relationships/presentationmetadata" Target="metadata"/><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400" b="0" i="0" u="none" strike="noStrike">
                <a:solidFill>
                  <a:srgbClr val="21295C"/>
                </a:solidFill>
                <a:latin typeface="Georgia"/>
              </a:defRPr>
            </a:pPr>
            <a:r>
              <a:rPr lang="fr-FR" sz="1400" b="0" i="0" u="none" strike="noStrike">
                <a:solidFill>
                  <a:srgbClr val="21295C"/>
                </a:solidFill>
                <a:latin typeface="Georgia"/>
              </a:rPr>
              <a:t>Répartition par classe d'âge</a:t>
            </a:r>
          </a:p>
        </c:rich>
      </c:tx>
      <c:overlay val="0"/>
    </c:title>
    <c:autoTitleDeleted val="0"/>
    <c:plotArea>
      <c:layout/>
      <c:barChart>
        <c:barDir val="col"/>
        <c:grouping val="clustered"/>
        <c:varyColors val="0"/>
        <c:ser>
          <c:idx val="0"/>
          <c:order val="0"/>
          <c:tx>
            <c:strRef>
              <c:f>Sheet1!$B$1</c:f>
              <c:strCache>
                <c:ptCount val="1"/>
                <c:pt idx="0">
                  <c:v>Sujets</c:v>
                </c:pt>
              </c:strCache>
            </c:strRef>
          </c:tx>
          <c:spPr>
            <a:solidFill>
              <a:srgbClr val="065A82"/>
            </a:solidFill>
            <a:effectLst/>
          </c:spPr>
          <c:invertIfNegative val="0"/>
          <c:dLbls>
            <c:numFmt formatCode="#,##0" sourceLinked="0"/>
            <c:spPr>
              <a:noFill/>
              <a:ln>
                <a:noFill/>
              </a:ln>
              <a:effectLst/>
            </c:spPr>
            <c:txPr>
              <a:bodyPr/>
              <a:lstStyle/>
              <a:p>
                <a:pPr>
                  <a:defRPr sz="1000" b="0" i="0" u="none" strike="noStrike">
                    <a:solidFill>
                      <a:srgbClr val="1E293B"/>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18–27</c:v>
                </c:pt>
                <c:pt idx="1">
                  <c:v>28–37</c:v>
                </c:pt>
                <c:pt idx="2">
                  <c:v>38–47</c:v>
                </c:pt>
                <c:pt idx="3">
                  <c:v>48–57</c:v>
                </c:pt>
                <c:pt idx="4">
                  <c:v>58–67</c:v>
                </c:pt>
                <c:pt idx="5">
                  <c:v>68–77</c:v>
                </c:pt>
                <c:pt idx="6">
                  <c:v>78–90</c:v>
                </c:pt>
              </c:strCache>
            </c:strRef>
          </c:cat>
          <c:val>
            <c:numRef>
              <c:f>Sheet1!$B$2:$B$8</c:f>
              <c:numCache>
                <c:formatCode>General</c:formatCode>
                <c:ptCount val="7"/>
                <c:pt idx="0">
                  <c:v>48</c:v>
                </c:pt>
                <c:pt idx="1">
                  <c:v>56</c:v>
                </c:pt>
                <c:pt idx="2">
                  <c:v>52</c:v>
                </c:pt>
                <c:pt idx="3">
                  <c:v>60</c:v>
                </c:pt>
                <c:pt idx="4">
                  <c:v>62</c:v>
                </c:pt>
                <c:pt idx="5">
                  <c:v>68</c:v>
                </c:pt>
                <c:pt idx="6">
                  <c:v>54</c:v>
                </c:pt>
              </c:numCache>
            </c:numRef>
          </c:val>
          <c:extLst>
            <c:ext xmlns:c16="http://schemas.microsoft.com/office/drawing/2014/chart" uri="{C3380CC4-5D6E-409C-BE32-E72D297353CC}">
              <c16:uniqueId val="{00000000-55E5-48D3-BB1D-72C6A1A54CC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Arial"/>
              </a:defRPr>
            </a:pPr>
            <a:endParaRPr lang="fr-FR"/>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Arial"/>
              </a:defRPr>
            </a:pPr>
            <a:endParaRPr lang="fr-FR"/>
          </a:p>
        </c:txPr>
        <c:crossAx val="2094734554"/>
        <c:crosses val="autoZero"/>
        <c:crossBetween val="between"/>
      </c:valAx>
      <c:spPr>
        <a:noFill/>
        <a:ln w="25400">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400" b="0" i="0" u="none" strike="noStrike">
                <a:solidFill>
                  <a:srgbClr val="21295C"/>
                </a:solidFill>
                <a:latin typeface="Georgia"/>
              </a:defRPr>
            </a:pPr>
            <a:r>
              <a:rPr lang="fr-FR" sz="1400" b="0" i="0" u="none" strike="noStrike">
                <a:solidFill>
                  <a:srgbClr val="21295C"/>
                </a:solidFill>
                <a:latin typeface="Georgia"/>
              </a:rPr>
              <a:t>Évolution de la MAE selon le taux de CpG manquants</a:t>
            </a:r>
          </a:p>
        </c:rich>
      </c:tx>
      <c:overlay val="0"/>
    </c:title>
    <c:autoTitleDeleted val="0"/>
    <c:plotArea>
      <c:layout/>
      <c:lineChart>
        <c:grouping val="standard"/>
        <c:varyColors val="0"/>
        <c:ser>
          <c:idx val="0"/>
          <c:order val="0"/>
          <c:tx>
            <c:strRef>
              <c:f>Sheet1!$B$1</c:f>
              <c:strCache>
                <c:ptCount val="1"/>
                <c:pt idx="0">
                  <c:v>Ridge (imputation médiane)</c:v>
                </c:pt>
              </c:strCache>
            </c:strRef>
          </c:tx>
          <c:spPr>
            <a:ln w="38100" cap="flat">
              <a:solidFill>
                <a:srgbClr val="065A82"/>
              </a:solidFill>
              <a:prstDash val="solid"/>
              <a:round/>
            </a:ln>
            <a:effectLst/>
          </c:spPr>
          <c:marker>
            <c:symbol val="circle"/>
            <c:size val="6"/>
            <c:spPr>
              <a:solidFill>
                <a:srgbClr val="065A82"/>
              </a:solidFill>
              <a:ln w="9525" cap="flat">
                <a:solidFill>
                  <a:srgbClr val="065A82"/>
                </a:solidFill>
                <a:prstDash val="solid"/>
                <a:round/>
              </a:ln>
              <a:effectLst/>
            </c:spPr>
          </c:marker>
          <c:dLbls>
            <c:numFmt formatCode="0.00" sourceLinked="0"/>
            <c:spPr>
              <a:noFill/>
              <a:ln>
                <a:noFill/>
              </a:ln>
              <a:effectLst/>
            </c:spPr>
            <c:txPr>
              <a:bodyPr/>
              <a:lstStyle/>
              <a:p>
                <a:pPr>
                  <a:defRPr sz="1000" b="0" i="0" u="none" strike="noStrike">
                    <a:solidFill>
                      <a:srgbClr val="1E293B"/>
                    </a:solidFill>
                    <a:latin typeface="Arial"/>
                  </a:defRPr>
                </a:pPr>
                <a:endParaRPr lang="fr-F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0 %</c:v>
                </c:pt>
                <c:pt idx="1">
                  <c:v>20 %</c:v>
                </c:pt>
                <c:pt idx="2">
                  <c:v>50 %</c:v>
                </c:pt>
                <c:pt idx="3">
                  <c:v>90 %</c:v>
                </c:pt>
              </c:strCache>
            </c:strRef>
          </c:cat>
          <c:val>
            <c:numRef>
              <c:f>Sheet1!$B$2:$B$5</c:f>
              <c:numCache>
                <c:formatCode>General</c:formatCode>
                <c:ptCount val="4"/>
                <c:pt idx="0">
                  <c:v>4.91</c:v>
                </c:pt>
                <c:pt idx="1">
                  <c:v>6.99</c:v>
                </c:pt>
                <c:pt idx="2">
                  <c:v>10.92</c:v>
                </c:pt>
                <c:pt idx="3">
                  <c:v>16.36</c:v>
                </c:pt>
              </c:numCache>
            </c:numRef>
          </c:val>
          <c:smooth val="1"/>
          <c:extLst>
            <c:ext xmlns:c16="http://schemas.microsoft.com/office/drawing/2014/chart" uri="{C3380CC4-5D6E-409C-BE32-E72D297353CC}">
              <c16:uniqueId val="{00000000-8D02-4A20-9D60-9D430F4D875B}"/>
            </c:ext>
          </c:extLst>
        </c:ser>
        <c:ser>
          <c:idx val="1"/>
          <c:order val="1"/>
          <c:tx>
            <c:strRef>
              <c:f>Sheet1!$C$1</c:f>
              <c:strCache>
                <c:ptCount val="1"/>
                <c:pt idx="0">
                  <c:v>XGBoost (sans imputation)</c:v>
                </c:pt>
              </c:strCache>
            </c:strRef>
          </c:tx>
          <c:spPr>
            <a:ln w="38100" cap="flat">
              <a:solidFill>
                <a:srgbClr val="E07A5F"/>
              </a:solidFill>
              <a:prstDash val="solid"/>
              <a:round/>
            </a:ln>
            <a:effectLst/>
          </c:spPr>
          <c:marker>
            <c:symbol val="circle"/>
            <c:size val="6"/>
            <c:spPr>
              <a:solidFill>
                <a:srgbClr val="E07A5F"/>
              </a:solidFill>
              <a:ln w="9525" cap="flat">
                <a:solidFill>
                  <a:srgbClr val="E07A5F"/>
                </a:solidFill>
                <a:prstDash val="solid"/>
                <a:round/>
              </a:ln>
              <a:effectLst/>
            </c:spPr>
          </c:marker>
          <c:dLbls>
            <c:numFmt formatCode="0.00" sourceLinked="0"/>
            <c:spPr>
              <a:noFill/>
              <a:ln>
                <a:noFill/>
              </a:ln>
              <a:effectLst/>
            </c:spPr>
            <c:txPr>
              <a:bodyPr/>
              <a:lstStyle/>
              <a:p>
                <a:pPr>
                  <a:defRPr sz="1000" b="0" i="0" u="none" strike="noStrike">
                    <a:solidFill>
                      <a:srgbClr val="1E293B"/>
                    </a:solidFill>
                    <a:latin typeface="Arial"/>
                  </a:defRPr>
                </a:pPr>
                <a:endParaRPr lang="fr-F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0 %</c:v>
                </c:pt>
                <c:pt idx="1">
                  <c:v>20 %</c:v>
                </c:pt>
                <c:pt idx="2">
                  <c:v>50 %</c:v>
                </c:pt>
                <c:pt idx="3">
                  <c:v>90 %</c:v>
                </c:pt>
              </c:strCache>
            </c:strRef>
          </c:cat>
          <c:val>
            <c:numRef>
              <c:f>Sheet1!$C$2:$C$5</c:f>
              <c:numCache>
                <c:formatCode>General</c:formatCode>
                <c:ptCount val="4"/>
                <c:pt idx="0">
                  <c:v>4.57</c:v>
                </c:pt>
                <c:pt idx="1">
                  <c:v>7.87</c:v>
                </c:pt>
                <c:pt idx="2">
                  <c:v>13.21</c:v>
                </c:pt>
                <c:pt idx="3">
                  <c:v>21.09</c:v>
                </c:pt>
              </c:numCache>
            </c:numRef>
          </c:val>
          <c:smooth val="1"/>
          <c:extLst>
            <c:ext xmlns:c16="http://schemas.microsoft.com/office/drawing/2014/chart" uri="{C3380CC4-5D6E-409C-BE32-E72D297353CC}">
              <c16:uniqueId val="{00000001-8D02-4A20-9D60-9D430F4D875B}"/>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64748B"/>
                    </a:solidFill>
                    <a:latin typeface="Arial"/>
                  </a:defRPr>
                </a:pPr>
                <a:r>
                  <a:rPr lang="fr-FR" sz="1200" b="0" i="0" u="none" strike="noStrike">
                    <a:solidFill>
                      <a:srgbClr val="64748B"/>
                    </a:solidFill>
                    <a:latin typeface="Arial"/>
                  </a:rPr>
                  <a:t>% de CpG manquants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93B"/>
                </a:solidFill>
                <a:latin typeface="Arial"/>
              </a:defRPr>
            </a:pPr>
            <a:endParaRPr lang="fr-FR"/>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sz="1200" b="0" i="0" u="none" strike="noStrike">
                    <a:solidFill>
                      <a:srgbClr val="64748B"/>
                    </a:solidFill>
                    <a:latin typeface="Arial"/>
                  </a:defRPr>
                </a:pPr>
                <a:r>
                  <a:rPr lang="fr-FR" sz="1200" b="0" i="0" u="none" strike="noStrike">
                    <a:solidFill>
                      <a:srgbClr val="64748B"/>
                    </a:solidFill>
                    <a:latin typeface="Arial"/>
                  </a:rPr>
                  <a:t>MAE (ans)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Arial"/>
              </a:defRPr>
            </a:pPr>
            <a:endParaRPr lang="fr-FR"/>
          </a:p>
        </c:txPr>
        <c:crossAx val="2094734554"/>
        <c:crosses val="autoZero"/>
        <c:crossBetween val="between"/>
      </c:valAx>
      <c:spPr>
        <a:noFill/>
        <a:ln>
          <a:noFill/>
        </a:ln>
        <a:effectLst/>
      </c:spPr>
    </c:plotArea>
    <c:legend>
      <c:legendPos val="t"/>
      <c:overlay val="0"/>
      <c:txPr>
        <a:bodyPr/>
        <a:lstStyle/>
        <a:p>
          <a:pPr>
            <a:defRPr sz="1100">
              <a:solidFill>
                <a:srgbClr val="1E293B"/>
              </a:solidFill>
            </a:defRPr>
          </a:pPr>
          <a:endParaRPr lang="fr-FR"/>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 name="Google Shape;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 name="Google Shape;10;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p:cNvGrpSpPr/>
        <p:nvPr/>
      </p:nvGrpSpPr>
      <p:grpSpPr>
        <a:xfrm>
          <a:off x="0" y="0"/>
          <a:ext cx="0" cy="0"/>
          <a:chOff x="0" y="0"/>
          <a:chExt cx="0" cy="0"/>
        </a:xfrm>
      </p:grpSpPr>
      <p:sp>
        <p:nvSpPr>
          <p:cNvPr id="22" name="Google Shape;22;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 name="Google Shape;23;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4" name="Google Shape;24;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 name="Google Shape;64;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5" name="Google Shape;65;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6" name="Google Shape;96;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97" name="Google Shape;97;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4</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1" name="Google Shape;111;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12" name="Google Shape;112;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5</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43" name="Google Shape;143;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6</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d90502f107_2_5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4" name="Google Shape;154;g3d90502f107_2_5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55" name="Google Shape;155;g3d90502f107_2_5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7</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d90502f107_0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6" name="Google Shape;166;g3d90502f107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67" name="Google Shape;167;g3d90502f107_0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8</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2" name="Google Shape;192;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93" name="Google Shape;193;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9</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2" name="Google Shape;202;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03" name="Google Shape;203;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10</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d90502f107_0_2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2" name="Google Shape;212;g3d90502f107_0_2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13" name="Google Shape;213;g3d90502f107_0_2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11</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3" name="Google Shape;223;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24" name="Google Shape;224;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12</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5" name="Google Shape;275;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76" name="Google Shape;276;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13</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1" name="Google Shape;291;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92" name="Google Shape;292;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14</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1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6" name="Google Shape;336;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37" name="Google Shape;337;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15</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3d90502f107_0_4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8" name="Google Shape;368;g3d90502f107_0_4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69" name="Google Shape;369;g3d90502f107_0_4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16</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1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9" name="Google Shape;379;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80" name="Google Shape;380;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17</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3d90502f107_0_7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2" name="Google Shape;402;g3d90502f107_0_7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03" name="Google Shape;403;g3d90502f107_0_7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18</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1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3" name="Google Shape;413;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14" name="Google Shape;414;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19</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1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5" name="Google Shape;435;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36" name="Google Shape;436;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20</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3d90502f107_0_11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6" name="Google Shape;456;g3d90502f107_0_1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57" name="Google Shape;457;g3d90502f107_0_1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21</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3d90502f107_0_8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8" name="Google Shape;468;g3d90502f107_0_8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69" name="Google Shape;469;g3d90502f107_0_8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22</a:t>
            </a:fld>
            <a:endParaRPr sz="1800">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dbedb9dc74_0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0" name="Google Shape;480;g3dbedb9dc74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81" name="Google Shape;481;g3dbedb9dc74_0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23</a:t>
            </a:fld>
            <a:endParaRPr sz="1800">
              <a:solidFill>
                <a:schemeClr val="dk1"/>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3dbedb9dc74_0_1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1" name="Google Shape;491;g3dbedb9dc74_0_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92" name="Google Shape;492;g3dbedb9dc74_0_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24</a:t>
            </a:fld>
            <a:endParaRPr sz="1800">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3dbedb9dc74_0_2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2" name="Google Shape;502;g3dbedb9dc74_0_2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03" name="Google Shape;503;g3dbedb9dc74_0_2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25</a:t>
            </a:fld>
            <a:endParaRPr sz="1800">
              <a:solidFill>
                <a:schemeClr val="dk1"/>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3dbedb9dc74_0_3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3" name="Google Shape;513;g3dbedb9dc74_0_3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14" name="Google Shape;514;g3dbedb9dc74_0_3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26</a:t>
            </a:fld>
            <a:endParaRPr sz="1800">
              <a:solidFill>
                <a:schemeClr val="dk1"/>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3dbedb9dc74_0_4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4" name="Google Shape;524;g3dbedb9dc74_0_4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25" name="Google Shape;525;g3dbedb9dc74_0_4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27</a:t>
            </a:fld>
            <a:endParaRPr sz="1800">
              <a:solidFill>
                <a:schemeClr val="dk1"/>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p1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4" name="Google Shape;534;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35" name="Google Shape;535;p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28</a:t>
            </a:fld>
            <a:endParaRPr sz="1800">
              <a:solidFill>
                <a:schemeClr val="dk1"/>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1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6" name="Google Shape;576;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77" name="Google Shape;577;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29</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Shape 11"/>
        <p:cNvGrpSpPr/>
        <p:nvPr/>
      </p:nvGrpSpPr>
      <p:grpSpPr>
        <a:xfrm>
          <a:off x="0" y="0"/>
          <a:ext cx="0" cy="0"/>
          <a:chOff x="0" y="0"/>
          <a:chExt cx="0" cy="0"/>
        </a:xfrm>
      </p:grpSpPr>
      <p:sp>
        <p:nvSpPr>
          <p:cNvPr id="12" name="Google Shape;12;p1"/>
          <p:cNvSpPr/>
          <p:nvPr/>
        </p:nvSpPr>
        <p:spPr>
          <a:xfrm>
            <a:off x="8686800" y="-1371600"/>
            <a:ext cx="5486400" cy="5486400"/>
          </a:xfrm>
          <a:prstGeom prst="ellipse">
            <a:avLst/>
          </a:prstGeom>
          <a:solidFill>
            <a:srgbClr val="065A82">
              <a:alpha val="7019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1"/>
          <p:cNvSpPr/>
          <p:nvPr/>
        </p:nvSpPr>
        <p:spPr>
          <a:xfrm>
            <a:off x="9601200" y="3657600"/>
            <a:ext cx="3657600" cy="3657600"/>
          </a:xfrm>
          <a:prstGeom prst="ellipse">
            <a:avLst/>
          </a:prstGeom>
          <a:solidFill>
            <a:srgbClr val="1C7293">
              <a:alpha val="5019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1"/>
          <p:cNvSpPr/>
          <p:nvPr/>
        </p:nvSpPr>
        <p:spPr>
          <a:xfrm>
            <a:off x="640080" y="1097280"/>
            <a:ext cx="73152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2B705"/>
              </a:buClr>
              <a:buSzPts val="1300"/>
              <a:buFont typeface="Calibri"/>
              <a:buNone/>
            </a:pPr>
            <a:r>
              <a:rPr lang="en-US" sz="1300" b="1" i="0" u="none" strike="noStrike" cap="none">
                <a:solidFill>
                  <a:srgbClr val="F2B705"/>
                </a:solidFill>
                <a:latin typeface="Calibri"/>
                <a:ea typeface="Calibri"/>
                <a:cs typeface="Calibri"/>
                <a:sym typeface="Calibri"/>
              </a:rPr>
              <a:t>HACKATHON · MASTER </a:t>
            </a:r>
            <a:r>
              <a:rPr lang="en-US" sz="1300" b="1">
                <a:solidFill>
                  <a:srgbClr val="F2B705"/>
                </a:solidFill>
                <a:latin typeface="Calibri"/>
                <a:ea typeface="Calibri"/>
                <a:cs typeface="Calibri"/>
                <a:sym typeface="Calibri"/>
              </a:rPr>
              <a:t>1</a:t>
            </a:r>
            <a:r>
              <a:rPr lang="en-US" sz="1300" b="1" i="0" u="none" strike="noStrike" cap="none">
                <a:solidFill>
                  <a:srgbClr val="F2B705"/>
                </a:solidFill>
                <a:latin typeface="Calibri"/>
                <a:ea typeface="Calibri"/>
                <a:cs typeface="Calibri"/>
                <a:sym typeface="Calibri"/>
              </a:rPr>
              <a:t> UCA 2025</a:t>
            </a:r>
            <a:r>
              <a:rPr lang="en-US" sz="1300" b="1">
                <a:solidFill>
                  <a:srgbClr val="F2B705"/>
                </a:solidFill>
                <a:latin typeface="Calibri"/>
                <a:ea typeface="Calibri"/>
                <a:cs typeface="Calibri"/>
                <a:sym typeface="Calibri"/>
              </a:rPr>
              <a:t> - </a:t>
            </a:r>
            <a:r>
              <a:rPr lang="en-US" sz="1300" b="1" i="0" u="none" strike="noStrike" cap="none">
                <a:solidFill>
                  <a:srgbClr val="F2B705"/>
                </a:solidFill>
                <a:latin typeface="Calibri"/>
                <a:ea typeface="Calibri"/>
                <a:cs typeface="Calibri"/>
                <a:sym typeface="Calibri"/>
              </a:rPr>
              <a:t>2026</a:t>
            </a:r>
            <a:endParaRPr sz="1300" b="0" i="0" u="none" strike="noStrike" cap="none">
              <a:solidFill>
                <a:schemeClr val="dk1"/>
              </a:solidFill>
              <a:latin typeface="Calibri"/>
              <a:ea typeface="Calibri"/>
              <a:cs typeface="Calibri"/>
              <a:sym typeface="Calibri"/>
            </a:endParaRPr>
          </a:p>
        </p:txBody>
      </p:sp>
      <p:sp>
        <p:nvSpPr>
          <p:cNvPr id="15" name="Google Shape;15;p1"/>
          <p:cNvSpPr/>
          <p:nvPr/>
        </p:nvSpPr>
        <p:spPr>
          <a:xfrm>
            <a:off x="640080" y="1645920"/>
            <a:ext cx="9601200" cy="10058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4800"/>
              <a:buFont typeface="Georgia"/>
              <a:buNone/>
            </a:pPr>
            <a:r>
              <a:rPr lang="en-US" sz="4800" b="1" i="0" u="none" strike="noStrike" cap="none">
                <a:solidFill>
                  <a:srgbClr val="FFFFFF"/>
                </a:solidFill>
                <a:latin typeface="Georgia"/>
                <a:ea typeface="Georgia"/>
                <a:cs typeface="Georgia"/>
                <a:sym typeface="Georgia"/>
              </a:rPr>
              <a:t>Prédiction de l'âge biologique</a:t>
            </a:r>
            <a:endParaRPr sz="4800" b="0" i="0" u="none" strike="noStrike" cap="none">
              <a:solidFill>
                <a:schemeClr val="dk1"/>
              </a:solidFill>
              <a:latin typeface="Calibri"/>
              <a:ea typeface="Calibri"/>
              <a:cs typeface="Calibri"/>
              <a:sym typeface="Calibri"/>
            </a:endParaRPr>
          </a:p>
        </p:txBody>
      </p:sp>
      <p:sp>
        <p:nvSpPr>
          <p:cNvPr id="16" name="Google Shape;16;p1"/>
          <p:cNvSpPr/>
          <p:nvPr/>
        </p:nvSpPr>
        <p:spPr>
          <a:xfrm>
            <a:off x="640080" y="2651760"/>
            <a:ext cx="960120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ADCFC"/>
              </a:buClr>
              <a:buSzPts val="3200"/>
              <a:buFont typeface="Georgia"/>
              <a:buNone/>
            </a:pPr>
            <a:r>
              <a:rPr lang="en-US" sz="3200" b="0" i="1" u="none" strike="noStrike" cap="none">
                <a:solidFill>
                  <a:srgbClr val="CADCFC"/>
                </a:solidFill>
                <a:latin typeface="Georgia"/>
                <a:ea typeface="Georgia"/>
                <a:cs typeface="Georgia"/>
                <a:sym typeface="Georgia"/>
              </a:rPr>
              <a:t>par méthylation de l'ADN</a:t>
            </a:r>
            <a:endParaRPr sz="3200" b="0" i="0" u="none" strike="noStrike" cap="none">
              <a:solidFill>
                <a:schemeClr val="dk1"/>
              </a:solidFill>
              <a:latin typeface="Calibri"/>
              <a:ea typeface="Calibri"/>
              <a:cs typeface="Calibri"/>
              <a:sym typeface="Calibri"/>
            </a:endParaRPr>
          </a:p>
        </p:txBody>
      </p:sp>
      <p:sp>
        <p:nvSpPr>
          <p:cNvPr id="17" name="Google Shape;17;p1"/>
          <p:cNvSpPr/>
          <p:nvPr/>
        </p:nvSpPr>
        <p:spPr>
          <a:xfrm>
            <a:off x="640080" y="3611880"/>
            <a:ext cx="731520" cy="73152"/>
          </a:xfrm>
          <a:prstGeom prst="rect">
            <a:avLst/>
          </a:prstGeom>
          <a:solidFill>
            <a:srgbClr val="F2B7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1"/>
          <p:cNvSpPr/>
          <p:nvPr/>
        </p:nvSpPr>
        <p:spPr>
          <a:xfrm>
            <a:off x="640080" y="3794760"/>
            <a:ext cx="8686800" cy="10058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ADCFC"/>
              </a:buClr>
              <a:buSzPts val="1600"/>
              <a:buFont typeface="Calibri"/>
              <a:buNone/>
            </a:pPr>
            <a:r>
              <a:rPr lang="en-US" sz="1600" b="0" i="0" u="none" strike="noStrike" cap="none">
                <a:solidFill>
                  <a:srgbClr val="CADCFC"/>
                </a:solidFill>
                <a:latin typeface="Calibri"/>
                <a:ea typeface="Calibri"/>
                <a:cs typeface="Calibri"/>
                <a:sym typeface="Calibri"/>
              </a:rPr>
              <a:t>Construction d'une horloge épigénétique à partir de 894k sites CpG </a:t>
            </a:r>
            <a:r>
              <a:rPr lang="en-US" sz="1600">
                <a:solidFill>
                  <a:srgbClr val="CADCFC"/>
                </a:solidFill>
                <a:latin typeface="Calibri"/>
                <a:ea typeface="Calibri"/>
                <a:cs typeface="Calibri"/>
                <a:sym typeface="Calibri"/>
              </a:rPr>
              <a:t>- 6 </a:t>
            </a:r>
            <a:r>
              <a:rPr lang="en-US" sz="1600" b="0" i="0" u="none" strike="noStrike" cap="none">
                <a:solidFill>
                  <a:srgbClr val="CADCFC"/>
                </a:solidFill>
                <a:latin typeface="Calibri"/>
                <a:ea typeface="Calibri"/>
                <a:cs typeface="Calibri"/>
                <a:sym typeface="Calibri"/>
              </a:rPr>
              <a:t>pipeline complet, comparaison de 9 modèles et étude de robustesse</a:t>
            </a:r>
            <a:endParaRPr sz="1600" b="0" i="0" u="none" strike="noStrike" cap="none">
              <a:solidFill>
                <a:schemeClr val="dk1"/>
              </a:solidFill>
              <a:latin typeface="Calibri"/>
              <a:ea typeface="Calibri"/>
              <a:cs typeface="Calibri"/>
              <a:sym typeface="Calibri"/>
            </a:endParaRPr>
          </a:p>
        </p:txBody>
      </p:sp>
      <p:sp>
        <p:nvSpPr>
          <p:cNvPr id="19" name="Google Shape;19;p1"/>
          <p:cNvSpPr/>
          <p:nvPr/>
        </p:nvSpPr>
        <p:spPr>
          <a:xfrm>
            <a:off x="640080" y="5212080"/>
            <a:ext cx="109728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2B705"/>
              </a:buClr>
              <a:buSzPts val="1500"/>
              <a:buFont typeface="Calibri"/>
              <a:buNone/>
            </a:pPr>
            <a:r>
              <a:rPr lang="en-US" sz="1500" b="1" i="0" u="none" strike="noStrike" cap="none">
                <a:solidFill>
                  <a:srgbClr val="F2B705"/>
                </a:solidFill>
                <a:latin typeface="Calibri"/>
                <a:ea typeface="Calibri"/>
                <a:cs typeface="Calibri"/>
                <a:sym typeface="Calibri"/>
              </a:rPr>
              <a:t>Présenté par  </a:t>
            </a:r>
            <a:r>
              <a:rPr lang="en-US" sz="1500" b="0" i="0" u="none" strike="noStrike" cap="none">
                <a:solidFill>
                  <a:srgbClr val="FFFFFF"/>
                </a:solidFill>
                <a:latin typeface="Calibri"/>
                <a:ea typeface="Calibri"/>
                <a:cs typeface="Calibri"/>
                <a:sym typeface="Calibri"/>
              </a:rPr>
              <a:t>Don De Dieu MBOUMBA   </a:t>
            </a:r>
            <a:r>
              <a:rPr lang="en-US" sz="1500">
                <a:solidFill>
                  <a:srgbClr val="FFFFFF"/>
                </a:solidFill>
                <a:latin typeface="Calibri"/>
                <a:ea typeface="Calibri"/>
                <a:cs typeface="Calibri"/>
                <a:sym typeface="Calibri"/>
              </a:rPr>
              <a:t>-</a:t>
            </a:r>
            <a:r>
              <a:rPr lang="en-US" sz="1500" b="0" i="0" u="none" strike="noStrike" cap="none">
                <a:solidFill>
                  <a:srgbClr val="FFFFFF"/>
                </a:solidFill>
                <a:latin typeface="Calibri"/>
                <a:ea typeface="Calibri"/>
                <a:cs typeface="Calibri"/>
                <a:sym typeface="Calibri"/>
              </a:rPr>
              <a:t>   Moustapha Diago  </a:t>
            </a:r>
            <a:r>
              <a:rPr lang="en-US" sz="1500">
                <a:solidFill>
                  <a:srgbClr val="FFFFFF"/>
                </a:solidFill>
                <a:latin typeface="Calibri"/>
                <a:ea typeface="Calibri"/>
                <a:cs typeface="Calibri"/>
                <a:sym typeface="Calibri"/>
              </a:rPr>
              <a:t>- </a:t>
            </a:r>
            <a:r>
              <a:rPr lang="en-US" sz="1500" b="0" i="0" u="none" strike="noStrike" cap="none">
                <a:solidFill>
                  <a:srgbClr val="FFFFFF"/>
                </a:solidFill>
                <a:latin typeface="Calibri"/>
                <a:ea typeface="Calibri"/>
                <a:cs typeface="Calibri"/>
                <a:sym typeface="Calibri"/>
              </a:rPr>
              <a:t> Baba Galle Ndiaye</a:t>
            </a:r>
            <a:endParaRPr sz="1500" b="0" i="0" u="none" strike="noStrike" cap="none">
              <a:solidFill>
                <a:schemeClr val="dk1"/>
              </a:solidFill>
              <a:latin typeface="Calibri"/>
              <a:ea typeface="Calibri"/>
              <a:cs typeface="Calibri"/>
              <a:sym typeface="Calibri"/>
            </a:endParaRPr>
          </a:p>
        </p:txBody>
      </p:sp>
      <p:sp>
        <p:nvSpPr>
          <p:cNvPr id="20" name="Google Shape;20;p1"/>
          <p:cNvSpPr/>
          <p:nvPr/>
        </p:nvSpPr>
        <p:spPr>
          <a:xfrm>
            <a:off x="640080" y="5623560"/>
            <a:ext cx="109728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AB3E8"/>
              </a:buClr>
              <a:buSzPts val="1200"/>
              <a:buFont typeface="Calibri"/>
              <a:buNone/>
            </a:pPr>
            <a:r>
              <a:rPr lang="en-US" sz="1200" b="0" i="1" u="none" strike="noStrike" cap="none">
                <a:solidFill>
                  <a:srgbClr val="9AB3E8"/>
                </a:solidFill>
                <a:latin typeface="Calibri"/>
                <a:ea typeface="Calibri"/>
                <a:cs typeface="Calibri"/>
                <a:sym typeface="Calibri"/>
              </a:rPr>
              <a:t>Sujet proposé par Sylvain Moinard </a:t>
            </a:r>
            <a:r>
              <a:rPr lang="en-US" sz="1200" i="1">
                <a:solidFill>
                  <a:srgbClr val="9AB3E8"/>
                </a:solidFill>
                <a:latin typeface="Calibri"/>
                <a:ea typeface="Calibri"/>
                <a:cs typeface="Calibri"/>
                <a:sym typeface="Calibri"/>
              </a:rPr>
              <a:t>- </a:t>
            </a:r>
            <a:r>
              <a:rPr lang="en-US" sz="1200" b="0" i="1" u="none" strike="noStrike" cap="none">
                <a:solidFill>
                  <a:srgbClr val="9AB3E8"/>
                </a:solidFill>
                <a:latin typeface="Calibri"/>
                <a:ea typeface="Calibri"/>
                <a:cs typeface="Calibri"/>
                <a:sym typeface="Calibri"/>
              </a:rPr>
              <a:t> CHU de Clermont-Ferrand</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
        <p:cNvGrpSpPr/>
        <p:nvPr/>
      </p:nvGrpSpPr>
      <p:grpSpPr>
        <a:xfrm>
          <a:off x="0" y="0"/>
          <a:ext cx="0" cy="0"/>
          <a:chOff x="0" y="0"/>
          <a:chExt cx="0" cy="0"/>
        </a:xfrm>
      </p:grpSpPr>
      <p:sp>
        <p:nvSpPr>
          <p:cNvPr id="26" name="Google Shape;26;p2"/>
          <p:cNvSpPr/>
          <p:nvPr/>
        </p:nvSpPr>
        <p:spPr>
          <a:xfrm>
            <a:off x="457200" y="228600"/>
            <a:ext cx="91440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SOMMAIRE</a:t>
            </a:r>
            <a:endParaRPr sz="1100">
              <a:solidFill>
                <a:schemeClr val="dk1"/>
              </a:solidFill>
              <a:latin typeface="Calibri"/>
              <a:ea typeface="Calibri"/>
              <a:cs typeface="Calibri"/>
              <a:sym typeface="Calibri"/>
            </a:endParaRPr>
          </a:p>
        </p:txBody>
      </p:sp>
      <p:sp>
        <p:nvSpPr>
          <p:cNvPr id="27" name="Google Shape;27;p2"/>
          <p:cNvSpPr/>
          <p:nvPr/>
        </p:nvSpPr>
        <p:spPr>
          <a:xfrm>
            <a:off x="10972800" y="228600"/>
            <a:ext cx="914400" cy="32004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2 / 16</a:t>
            </a:r>
            <a:endParaRPr sz="1000">
              <a:solidFill>
                <a:schemeClr val="dk1"/>
              </a:solidFill>
              <a:latin typeface="Calibri"/>
              <a:ea typeface="Calibri"/>
              <a:cs typeface="Calibri"/>
              <a:sym typeface="Calibri"/>
            </a:endParaRPr>
          </a:p>
        </p:txBody>
      </p:sp>
      <p:sp>
        <p:nvSpPr>
          <p:cNvPr id="28" name="Google Shape;28;p2"/>
          <p:cNvSpPr/>
          <p:nvPr/>
        </p:nvSpPr>
        <p:spPr>
          <a:xfrm>
            <a:off x="457200" y="502920"/>
            <a:ext cx="1124712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3000"/>
              <a:buFont typeface="Georgia"/>
              <a:buNone/>
            </a:pPr>
            <a:r>
              <a:rPr lang="en-US" sz="3000" b="1">
                <a:solidFill>
                  <a:srgbClr val="21295C"/>
                </a:solidFill>
                <a:latin typeface="Georgia"/>
                <a:ea typeface="Georgia"/>
                <a:cs typeface="Georgia"/>
                <a:sym typeface="Georgia"/>
              </a:rPr>
              <a:t>Plan de la présentation</a:t>
            </a:r>
            <a:endParaRPr sz="3000">
              <a:solidFill>
                <a:schemeClr val="dk1"/>
              </a:solidFill>
              <a:latin typeface="Calibri"/>
              <a:ea typeface="Calibri"/>
              <a:cs typeface="Calibri"/>
              <a:sym typeface="Calibri"/>
            </a:endParaRPr>
          </a:p>
        </p:txBody>
      </p:sp>
      <p:sp>
        <p:nvSpPr>
          <p:cNvPr id="29" name="Google Shape;29;p2"/>
          <p:cNvSpPr/>
          <p:nvPr/>
        </p:nvSpPr>
        <p:spPr>
          <a:xfrm>
            <a:off x="457200" y="6537960"/>
            <a:ext cx="1124712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Prédiction âge biologique · Méthylation ADN · Master UCA 2025-2026</a:t>
            </a:r>
            <a:endParaRPr sz="900">
              <a:solidFill>
                <a:schemeClr val="dk1"/>
              </a:solidFill>
              <a:latin typeface="Calibri"/>
              <a:ea typeface="Calibri"/>
              <a:cs typeface="Calibri"/>
              <a:sym typeface="Calibri"/>
            </a:endParaRPr>
          </a:p>
        </p:txBody>
      </p:sp>
      <p:sp>
        <p:nvSpPr>
          <p:cNvPr id="30" name="Google Shape;30;p2"/>
          <p:cNvSpPr/>
          <p:nvPr/>
        </p:nvSpPr>
        <p:spPr>
          <a:xfrm>
            <a:off x="640080" y="1508760"/>
            <a:ext cx="640080" cy="640080"/>
          </a:xfrm>
          <a:prstGeom prst="ellipse">
            <a:avLst/>
          </a:prstGeom>
          <a:solidFill>
            <a:srgbClr val="065A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640080" y="1508760"/>
            <a:ext cx="64008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200"/>
              <a:buFont typeface="Georgia"/>
              <a:buNone/>
            </a:pPr>
            <a:r>
              <a:rPr lang="en-US" sz="2200" b="1">
                <a:solidFill>
                  <a:srgbClr val="FFFFFF"/>
                </a:solidFill>
                <a:latin typeface="Georgia"/>
                <a:ea typeface="Georgia"/>
                <a:cs typeface="Georgia"/>
                <a:sym typeface="Georgia"/>
              </a:rPr>
              <a:t>1</a:t>
            </a:r>
            <a:endParaRPr sz="2200">
              <a:solidFill>
                <a:schemeClr val="dk1"/>
              </a:solidFill>
              <a:latin typeface="Calibri"/>
              <a:ea typeface="Calibri"/>
              <a:cs typeface="Calibri"/>
              <a:sym typeface="Calibri"/>
            </a:endParaRPr>
          </a:p>
        </p:txBody>
      </p:sp>
      <p:sp>
        <p:nvSpPr>
          <p:cNvPr id="32" name="Google Shape;32;p2"/>
          <p:cNvSpPr/>
          <p:nvPr/>
        </p:nvSpPr>
        <p:spPr>
          <a:xfrm>
            <a:off x="1463040" y="1463040"/>
            <a:ext cx="48463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700"/>
              <a:buFont typeface="Georgia"/>
              <a:buNone/>
            </a:pPr>
            <a:r>
              <a:rPr lang="en-US" sz="1700" b="1">
                <a:solidFill>
                  <a:srgbClr val="21295C"/>
                </a:solidFill>
                <a:latin typeface="Georgia"/>
                <a:ea typeface="Georgia"/>
                <a:cs typeface="Georgia"/>
                <a:sym typeface="Georgia"/>
              </a:rPr>
              <a:t>Contexte &amp; problématique</a:t>
            </a:r>
            <a:endParaRPr sz="1700">
              <a:solidFill>
                <a:schemeClr val="dk1"/>
              </a:solidFill>
              <a:latin typeface="Calibri"/>
              <a:ea typeface="Calibri"/>
              <a:cs typeface="Calibri"/>
              <a:sym typeface="Calibri"/>
            </a:endParaRPr>
          </a:p>
        </p:txBody>
      </p:sp>
      <p:sp>
        <p:nvSpPr>
          <p:cNvPr id="33" name="Google Shape;33;p2"/>
          <p:cNvSpPr/>
          <p:nvPr/>
        </p:nvSpPr>
        <p:spPr>
          <a:xfrm>
            <a:off x="1463040" y="1856232"/>
            <a:ext cx="48463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200"/>
              <a:buFont typeface="Calibri"/>
              <a:buNone/>
            </a:pPr>
            <a:r>
              <a:rPr lang="en-US" sz="1200" i="1">
                <a:solidFill>
                  <a:srgbClr val="64748B"/>
                </a:solidFill>
                <a:latin typeface="Calibri"/>
                <a:ea typeface="Calibri"/>
                <a:cs typeface="Calibri"/>
                <a:sym typeface="Calibri"/>
              </a:rPr>
              <a:t>Âge biologique, données de méthylation</a:t>
            </a:r>
            <a:endParaRPr sz="1200">
              <a:solidFill>
                <a:schemeClr val="dk1"/>
              </a:solidFill>
              <a:latin typeface="Calibri"/>
              <a:ea typeface="Calibri"/>
              <a:cs typeface="Calibri"/>
              <a:sym typeface="Calibri"/>
            </a:endParaRPr>
          </a:p>
        </p:txBody>
      </p:sp>
      <p:sp>
        <p:nvSpPr>
          <p:cNvPr id="34" name="Google Shape;34;p2"/>
          <p:cNvSpPr/>
          <p:nvPr/>
        </p:nvSpPr>
        <p:spPr>
          <a:xfrm>
            <a:off x="640080" y="2606040"/>
            <a:ext cx="640080" cy="640080"/>
          </a:xfrm>
          <a:prstGeom prst="ellipse">
            <a:avLst/>
          </a:prstGeom>
          <a:solidFill>
            <a:srgbClr val="065A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640080" y="2606040"/>
            <a:ext cx="64008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200"/>
              <a:buFont typeface="Georgia"/>
              <a:buNone/>
            </a:pPr>
            <a:r>
              <a:rPr lang="en-US" sz="2200" b="1">
                <a:solidFill>
                  <a:srgbClr val="FFFFFF"/>
                </a:solidFill>
                <a:latin typeface="Georgia"/>
                <a:ea typeface="Georgia"/>
                <a:cs typeface="Georgia"/>
                <a:sym typeface="Georgia"/>
              </a:rPr>
              <a:t>2</a:t>
            </a:r>
            <a:endParaRPr sz="2200">
              <a:solidFill>
                <a:schemeClr val="dk1"/>
              </a:solidFill>
              <a:latin typeface="Calibri"/>
              <a:ea typeface="Calibri"/>
              <a:cs typeface="Calibri"/>
              <a:sym typeface="Calibri"/>
            </a:endParaRPr>
          </a:p>
        </p:txBody>
      </p:sp>
      <p:sp>
        <p:nvSpPr>
          <p:cNvPr id="36" name="Google Shape;36;p2"/>
          <p:cNvSpPr/>
          <p:nvPr/>
        </p:nvSpPr>
        <p:spPr>
          <a:xfrm>
            <a:off x="1463040" y="2560320"/>
            <a:ext cx="48463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700"/>
              <a:buFont typeface="Georgia"/>
              <a:buNone/>
            </a:pPr>
            <a:r>
              <a:rPr lang="en-US" sz="1700" b="1">
                <a:solidFill>
                  <a:srgbClr val="21295C"/>
                </a:solidFill>
                <a:latin typeface="Georgia"/>
                <a:ea typeface="Georgia"/>
                <a:cs typeface="Georgia"/>
                <a:sym typeface="Georgia"/>
              </a:rPr>
              <a:t>Statistiques descriptives &amp; EDA</a:t>
            </a:r>
            <a:endParaRPr sz="1700">
              <a:solidFill>
                <a:schemeClr val="dk1"/>
              </a:solidFill>
              <a:latin typeface="Calibri"/>
              <a:ea typeface="Calibri"/>
              <a:cs typeface="Calibri"/>
              <a:sym typeface="Calibri"/>
            </a:endParaRPr>
          </a:p>
        </p:txBody>
      </p:sp>
      <p:sp>
        <p:nvSpPr>
          <p:cNvPr id="37" name="Google Shape;37;p2"/>
          <p:cNvSpPr/>
          <p:nvPr/>
        </p:nvSpPr>
        <p:spPr>
          <a:xfrm>
            <a:off x="1463040" y="2953512"/>
            <a:ext cx="48463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200"/>
              <a:buFont typeface="Calibri"/>
              <a:buNone/>
            </a:pPr>
            <a:r>
              <a:rPr lang="en-US" sz="1200" i="1">
                <a:solidFill>
                  <a:srgbClr val="64748B"/>
                </a:solidFill>
                <a:latin typeface="Calibri"/>
                <a:ea typeface="Calibri"/>
                <a:cs typeface="Calibri"/>
                <a:sym typeface="Calibri"/>
              </a:rPr>
              <a:t>Distribution, corrélations, ACP</a:t>
            </a:r>
            <a:endParaRPr sz="1200">
              <a:solidFill>
                <a:schemeClr val="dk1"/>
              </a:solidFill>
              <a:latin typeface="Calibri"/>
              <a:ea typeface="Calibri"/>
              <a:cs typeface="Calibri"/>
              <a:sym typeface="Calibri"/>
            </a:endParaRPr>
          </a:p>
        </p:txBody>
      </p:sp>
      <p:sp>
        <p:nvSpPr>
          <p:cNvPr id="38" name="Google Shape;38;p2"/>
          <p:cNvSpPr/>
          <p:nvPr/>
        </p:nvSpPr>
        <p:spPr>
          <a:xfrm>
            <a:off x="640080" y="3703320"/>
            <a:ext cx="640080" cy="640080"/>
          </a:xfrm>
          <a:prstGeom prst="ellipse">
            <a:avLst/>
          </a:prstGeom>
          <a:solidFill>
            <a:srgbClr val="065A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640080" y="3703320"/>
            <a:ext cx="64008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200"/>
              <a:buFont typeface="Georgia"/>
              <a:buNone/>
            </a:pPr>
            <a:r>
              <a:rPr lang="en-US" sz="2200" b="1">
                <a:solidFill>
                  <a:srgbClr val="FFFFFF"/>
                </a:solidFill>
                <a:latin typeface="Georgia"/>
                <a:ea typeface="Georgia"/>
                <a:cs typeface="Georgia"/>
                <a:sym typeface="Georgia"/>
              </a:rPr>
              <a:t>3</a:t>
            </a:r>
            <a:endParaRPr sz="2200">
              <a:solidFill>
                <a:schemeClr val="dk1"/>
              </a:solidFill>
              <a:latin typeface="Calibri"/>
              <a:ea typeface="Calibri"/>
              <a:cs typeface="Calibri"/>
              <a:sym typeface="Calibri"/>
            </a:endParaRPr>
          </a:p>
        </p:txBody>
      </p:sp>
      <p:sp>
        <p:nvSpPr>
          <p:cNvPr id="40" name="Google Shape;40;p2"/>
          <p:cNvSpPr/>
          <p:nvPr/>
        </p:nvSpPr>
        <p:spPr>
          <a:xfrm>
            <a:off x="1463040" y="3657600"/>
            <a:ext cx="48463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700"/>
              <a:buFont typeface="Georgia"/>
              <a:buNone/>
            </a:pPr>
            <a:r>
              <a:rPr lang="en-US" sz="1700" b="1">
                <a:solidFill>
                  <a:srgbClr val="21295C"/>
                </a:solidFill>
                <a:latin typeface="Georgia"/>
                <a:ea typeface="Georgia"/>
                <a:cs typeface="Georgia"/>
                <a:sym typeface="Georgia"/>
              </a:rPr>
              <a:t>Gestion des données manquantes</a:t>
            </a:r>
            <a:endParaRPr sz="1700">
              <a:solidFill>
                <a:schemeClr val="dk1"/>
              </a:solidFill>
              <a:latin typeface="Calibri"/>
              <a:ea typeface="Calibri"/>
              <a:cs typeface="Calibri"/>
              <a:sym typeface="Calibri"/>
            </a:endParaRPr>
          </a:p>
        </p:txBody>
      </p:sp>
      <p:sp>
        <p:nvSpPr>
          <p:cNvPr id="41" name="Google Shape;41;p2"/>
          <p:cNvSpPr/>
          <p:nvPr/>
        </p:nvSpPr>
        <p:spPr>
          <a:xfrm>
            <a:off x="1463040" y="4050792"/>
            <a:ext cx="48463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200"/>
              <a:buFont typeface="Calibri"/>
              <a:buNone/>
            </a:pPr>
            <a:r>
              <a:rPr lang="en-US" sz="1200" i="1">
                <a:solidFill>
                  <a:srgbClr val="64748B"/>
                </a:solidFill>
                <a:latin typeface="Calibri"/>
                <a:ea typeface="Calibri"/>
                <a:cs typeface="Calibri"/>
                <a:sym typeface="Calibri"/>
              </a:rPr>
              <a:t>Stratégie en 4 étapes</a:t>
            </a:r>
            <a:endParaRPr sz="1200">
              <a:solidFill>
                <a:schemeClr val="dk1"/>
              </a:solidFill>
              <a:latin typeface="Calibri"/>
              <a:ea typeface="Calibri"/>
              <a:cs typeface="Calibri"/>
              <a:sym typeface="Calibri"/>
            </a:endParaRPr>
          </a:p>
        </p:txBody>
      </p:sp>
      <p:sp>
        <p:nvSpPr>
          <p:cNvPr id="42" name="Google Shape;42;p2"/>
          <p:cNvSpPr/>
          <p:nvPr/>
        </p:nvSpPr>
        <p:spPr>
          <a:xfrm>
            <a:off x="640080" y="4800600"/>
            <a:ext cx="640080" cy="640080"/>
          </a:xfrm>
          <a:prstGeom prst="ellipse">
            <a:avLst/>
          </a:prstGeom>
          <a:solidFill>
            <a:srgbClr val="065A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640080" y="4800600"/>
            <a:ext cx="64008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200"/>
              <a:buFont typeface="Georgia"/>
              <a:buNone/>
            </a:pPr>
            <a:r>
              <a:rPr lang="en-US" sz="2200" b="1">
                <a:solidFill>
                  <a:srgbClr val="FFFFFF"/>
                </a:solidFill>
                <a:latin typeface="Georgia"/>
                <a:ea typeface="Georgia"/>
                <a:cs typeface="Georgia"/>
                <a:sym typeface="Georgia"/>
              </a:rPr>
              <a:t>4</a:t>
            </a:r>
            <a:endParaRPr sz="2200">
              <a:solidFill>
                <a:schemeClr val="dk1"/>
              </a:solidFill>
              <a:latin typeface="Calibri"/>
              <a:ea typeface="Calibri"/>
              <a:cs typeface="Calibri"/>
              <a:sym typeface="Calibri"/>
            </a:endParaRPr>
          </a:p>
        </p:txBody>
      </p:sp>
      <p:sp>
        <p:nvSpPr>
          <p:cNvPr id="44" name="Google Shape;44;p2"/>
          <p:cNvSpPr/>
          <p:nvPr/>
        </p:nvSpPr>
        <p:spPr>
          <a:xfrm>
            <a:off x="1463040" y="4754880"/>
            <a:ext cx="48463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700"/>
              <a:buFont typeface="Georgia"/>
              <a:buNone/>
            </a:pPr>
            <a:r>
              <a:rPr lang="en-US" sz="1700" b="1">
                <a:solidFill>
                  <a:srgbClr val="21295C"/>
                </a:solidFill>
                <a:latin typeface="Georgia"/>
                <a:ea typeface="Georgia"/>
                <a:cs typeface="Georgia"/>
                <a:sym typeface="Georgia"/>
              </a:rPr>
              <a:t>Séparation des données</a:t>
            </a:r>
            <a:endParaRPr sz="1700">
              <a:solidFill>
                <a:schemeClr val="dk1"/>
              </a:solidFill>
              <a:latin typeface="Calibri"/>
              <a:ea typeface="Calibri"/>
              <a:cs typeface="Calibri"/>
              <a:sym typeface="Calibri"/>
            </a:endParaRPr>
          </a:p>
        </p:txBody>
      </p:sp>
      <p:sp>
        <p:nvSpPr>
          <p:cNvPr id="45" name="Google Shape;45;p2"/>
          <p:cNvSpPr/>
          <p:nvPr/>
        </p:nvSpPr>
        <p:spPr>
          <a:xfrm>
            <a:off x="1463040" y="5148072"/>
            <a:ext cx="48463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200"/>
              <a:buFont typeface="Calibri"/>
              <a:buNone/>
            </a:pPr>
            <a:r>
              <a:rPr lang="en-US" sz="1200" i="1">
                <a:solidFill>
                  <a:srgbClr val="64748B"/>
                </a:solidFill>
                <a:latin typeface="Calibri"/>
                <a:ea typeface="Calibri"/>
                <a:cs typeface="Calibri"/>
                <a:sym typeface="Calibri"/>
              </a:rPr>
              <a:t>Train / Val / Test (60/20/20)</a:t>
            </a:r>
            <a:endParaRPr sz="1200">
              <a:solidFill>
                <a:schemeClr val="dk1"/>
              </a:solidFill>
              <a:latin typeface="Calibri"/>
              <a:ea typeface="Calibri"/>
              <a:cs typeface="Calibri"/>
              <a:sym typeface="Calibri"/>
            </a:endParaRPr>
          </a:p>
        </p:txBody>
      </p:sp>
      <p:sp>
        <p:nvSpPr>
          <p:cNvPr id="46" name="Google Shape;46;p2"/>
          <p:cNvSpPr/>
          <p:nvPr/>
        </p:nvSpPr>
        <p:spPr>
          <a:xfrm>
            <a:off x="6400800" y="1508760"/>
            <a:ext cx="640080" cy="640080"/>
          </a:xfrm>
          <a:prstGeom prst="ellipse">
            <a:avLst/>
          </a:prstGeom>
          <a:solidFill>
            <a:srgbClr val="065A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6400800" y="1508760"/>
            <a:ext cx="64008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200"/>
              <a:buFont typeface="Georgia"/>
              <a:buNone/>
            </a:pPr>
            <a:r>
              <a:rPr lang="en-US" sz="2200" b="1">
                <a:solidFill>
                  <a:srgbClr val="FFFFFF"/>
                </a:solidFill>
                <a:latin typeface="Georgia"/>
                <a:ea typeface="Georgia"/>
                <a:cs typeface="Georgia"/>
                <a:sym typeface="Georgia"/>
              </a:rPr>
              <a:t>5</a:t>
            </a:r>
            <a:endParaRPr sz="2200">
              <a:solidFill>
                <a:schemeClr val="dk1"/>
              </a:solidFill>
              <a:latin typeface="Calibri"/>
              <a:ea typeface="Calibri"/>
              <a:cs typeface="Calibri"/>
              <a:sym typeface="Calibri"/>
            </a:endParaRPr>
          </a:p>
        </p:txBody>
      </p:sp>
      <p:sp>
        <p:nvSpPr>
          <p:cNvPr id="48" name="Google Shape;48;p2"/>
          <p:cNvSpPr/>
          <p:nvPr/>
        </p:nvSpPr>
        <p:spPr>
          <a:xfrm>
            <a:off x="7223760" y="1463040"/>
            <a:ext cx="48463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700"/>
              <a:buFont typeface="Georgia"/>
              <a:buNone/>
            </a:pPr>
            <a:r>
              <a:rPr lang="en-US" sz="1700" b="1">
                <a:solidFill>
                  <a:srgbClr val="21295C"/>
                </a:solidFill>
                <a:latin typeface="Georgia"/>
                <a:ea typeface="Georgia"/>
                <a:cs typeface="Georgia"/>
                <a:sym typeface="Georgia"/>
              </a:rPr>
              <a:t>Modèles appliqués</a:t>
            </a:r>
            <a:endParaRPr sz="1700">
              <a:solidFill>
                <a:schemeClr val="dk1"/>
              </a:solidFill>
              <a:latin typeface="Calibri"/>
              <a:ea typeface="Calibri"/>
              <a:cs typeface="Calibri"/>
              <a:sym typeface="Calibri"/>
            </a:endParaRPr>
          </a:p>
        </p:txBody>
      </p:sp>
      <p:sp>
        <p:nvSpPr>
          <p:cNvPr id="49" name="Google Shape;49;p2"/>
          <p:cNvSpPr/>
          <p:nvPr/>
        </p:nvSpPr>
        <p:spPr>
          <a:xfrm>
            <a:off x="7223760" y="1856232"/>
            <a:ext cx="48463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200"/>
              <a:buFont typeface="Calibri"/>
              <a:buNone/>
            </a:pPr>
            <a:r>
              <a:rPr lang="en-US" sz="1200" i="1">
                <a:solidFill>
                  <a:srgbClr val="64748B"/>
                </a:solidFill>
                <a:latin typeface="Calibri"/>
                <a:ea typeface="Calibri"/>
                <a:cs typeface="Calibri"/>
                <a:sym typeface="Calibri"/>
              </a:rPr>
              <a:t>9 modèles : linéaires, ensemblistes, stacking</a:t>
            </a:r>
            <a:endParaRPr sz="1200">
              <a:solidFill>
                <a:schemeClr val="dk1"/>
              </a:solidFill>
              <a:latin typeface="Calibri"/>
              <a:ea typeface="Calibri"/>
              <a:cs typeface="Calibri"/>
              <a:sym typeface="Calibri"/>
            </a:endParaRPr>
          </a:p>
        </p:txBody>
      </p:sp>
      <p:sp>
        <p:nvSpPr>
          <p:cNvPr id="50" name="Google Shape;50;p2"/>
          <p:cNvSpPr/>
          <p:nvPr/>
        </p:nvSpPr>
        <p:spPr>
          <a:xfrm>
            <a:off x="6400800" y="2606040"/>
            <a:ext cx="640080" cy="640080"/>
          </a:xfrm>
          <a:prstGeom prst="ellipse">
            <a:avLst/>
          </a:prstGeom>
          <a:solidFill>
            <a:srgbClr val="065A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6400800" y="2606040"/>
            <a:ext cx="64008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200"/>
              <a:buFont typeface="Georgia"/>
              <a:buNone/>
            </a:pPr>
            <a:r>
              <a:rPr lang="en-US" sz="2200" b="1">
                <a:solidFill>
                  <a:srgbClr val="FFFFFF"/>
                </a:solidFill>
                <a:latin typeface="Georgia"/>
                <a:ea typeface="Georgia"/>
                <a:cs typeface="Georgia"/>
                <a:sym typeface="Georgia"/>
              </a:rPr>
              <a:t>6</a:t>
            </a:r>
            <a:endParaRPr sz="2200">
              <a:solidFill>
                <a:schemeClr val="dk1"/>
              </a:solidFill>
              <a:latin typeface="Calibri"/>
              <a:ea typeface="Calibri"/>
              <a:cs typeface="Calibri"/>
              <a:sym typeface="Calibri"/>
            </a:endParaRPr>
          </a:p>
        </p:txBody>
      </p:sp>
      <p:sp>
        <p:nvSpPr>
          <p:cNvPr id="52" name="Google Shape;52;p2"/>
          <p:cNvSpPr/>
          <p:nvPr/>
        </p:nvSpPr>
        <p:spPr>
          <a:xfrm>
            <a:off x="7223760" y="2560320"/>
            <a:ext cx="48463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700"/>
              <a:buFont typeface="Georgia"/>
              <a:buNone/>
            </a:pPr>
            <a:r>
              <a:rPr lang="en-US" sz="1700" b="1">
                <a:solidFill>
                  <a:srgbClr val="21295C"/>
                </a:solidFill>
                <a:latin typeface="Georgia"/>
                <a:ea typeface="Georgia"/>
                <a:cs typeface="Georgia"/>
                <a:sym typeface="Georgia"/>
              </a:rPr>
              <a:t>Résultats &amp; diagnostics</a:t>
            </a:r>
            <a:endParaRPr sz="1700">
              <a:solidFill>
                <a:schemeClr val="dk1"/>
              </a:solidFill>
              <a:latin typeface="Calibri"/>
              <a:ea typeface="Calibri"/>
              <a:cs typeface="Calibri"/>
              <a:sym typeface="Calibri"/>
            </a:endParaRPr>
          </a:p>
        </p:txBody>
      </p:sp>
      <p:sp>
        <p:nvSpPr>
          <p:cNvPr id="53" name="Google Shape;53;p2"/>
          <p:cNvSpPr/>
          <p:nvPr/>
        </p:nvSpPr>
        <p:spPr>
          <a:xfrm>
            <a:off x="7223760" y="2953512"/>
            <a:ext cx="48463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200"/>
              <a:buFont typeface="Calibri"/>
              <a:buNone/>
            </a:pPr>
            <a:r>
              <a:rPr lang="en-US" sz="1200" i="1">
                <a:solidFill>
                  <a:srgbClr val="64748B"/>
                </a:solidFill>
                <a:latin typeface="Calibri"/>
                <a:ea typeface="Calibri"/>
                <a:cs typeface="Calibri"/>
                <a:sym typeface="Calibri"/>
              </a:rPr>
              <a:t>Comparaison, résidus, meilleur modèle</a:t>
            </a:r>
            <a:endParaRPr sz="1200">
              <a:solidFill>
                <a:schemeClr val="dk1"/>
              </a:solidFill>
              <a:latin typeface="Calibri"/>
              <a:ea typeface="Calibri"/>
              <a:cs typeface="Calibri"/>
              <a:sym typeface="Calibri"/>
            </a:endParaRPr>
          </a:p>
        </p:txBody>
      </p:sp>
      <p:sp>
        <p:nvSpPr>
          <p:cNvPr id="54" name="Google Shape;54;p2"/>
          <p:cNvSpPr/>
          <p:nvPr/>
        </p:nvSpPr>
        <p:spPr>
          <a:xfrm>
            <a:off x="6400800" y="3703320"/>
            <a:ext cx="640080" cy="640080"/>
          </a:xfrm>
          <a:prstGeom prst="ellipse">
            <a:avLst/>
          </a:prstGeom>
          <a:solidFill>
            <a:srgbClr val="065A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6400800" y="3703320"/>
            <a:ext cx="64008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200"/>
              <a:buFont typeface="Georgia"/>
              <a:buNone/>
            </a:pPr>
            <a:r>
              <a:rPr lang="en-US" sz="2200" b="1">
                <a:solidFill>
                  <a:srgbClr val="FFFFFF"/>
                </a:solidFill>
                <a:latin typeface="Georgia"/>
                <a:ea typeface="Georgia"/>
                <a:cs typeface="Georgia"/>
                <a:sym typeface="Georgia"/>
              </a:rPr>
              <a:t>7</a:t>
            </a:r>
            <a:endParaRPr sz="2200">
              <a:solidFill>
                <a:schemeClr val="dk1"/>
              </a:solidFill>
              <a:latin typeface="Calibri"/>
              <a:ea typeface="Calibri"/>
              <a:cs typeface="Calibri"/>
              <a:sym typeface="Calibri"/>
            </a:endParaRPr>
          </a:p>
        </p:txBody>
      </p:sp>
      <p:sp>
        <p:nvSpPr>
          <p:cNvPr id="56" name="Google Shape;56;p2"/>
          <p:cNvSpPr/>
          <p:nvPr/>
        </p:nvSpPr>
        <p:spPr>
          <a:xfrm>
            <a:off x="7223760" y="3657600"/>
            <a:ext cx="48463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700"/>
              <a:buFont typeface="Georgia"/>
              <a:buNone/>
            </a:pPr>
            <a:r>
              <a:rPr lang="en-US" sz="1700" b="1">
                <a:solidFill>
                  <a:srgbClr val="21295C"/>
                </a:solidFill>
                <a:latin typeface="Georgia"/>
                <a:ea typeface="Georgia"/>
                <a:cs typeface="Georgia"/>
                <a:sym typeface="Georgia"/>
              </a:rPr>
              <a:t>Robustesse aux CpG manquants</a:t>
            </a:r>
            <a:endParaRPr sz="1700">
              <a:solidFill>
                <a:schemeClr val="dk1"/>
              </a:solidFill>
              <a:latin typeface="Calibri"/>
              <a:ea typeface="Calibri"/>
              <a:cs typeface="Calibri"/>
              <a:sym typeface="Calibri"/>
            </a:endParaRPr>
          </a:p>
        </p:txBody>
      </p:sp>
      <p:sp>
        <p:nvSpPr>
          <p:cNvPr id="57" name="Google Shape;57;p2"/>
          <p:cNvSpPr/>
          <p:nvPr/>
        </p:nvSpPr>
        <p:spPr>
          <a:xfrm>
            <a:off x="7223760" y="4050792"/>
            <a:ext cx="48463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200"/>
              <a:buFont typeface="Calibri"/>
              <a:buNone/>
            </a:pPr>
            <a:r>
              <a:rPr lang="en-US" sz="1200" i="1">
                <a:solidFill>
                  <a:srgbClr val="64748B"/>
                </a:solidFill>
                <a:latin typeface="Calibri"/>
                <a:ea typeface="Calibri"/>
                <a:cs typeface="Calibri"/>
                <a:sym typeface="Calibri"/>
              </a:rPr>
              <a:t>Dégradation à 20 %, 50 %, 90 %</a:t>
            </a:r>
            <a:endParaRPr sz="1200">
              <a:solidFill>
                <a:schemeClr val="dk1"/>
              </a:solidFill>
              <a:latin typeface="Calibri"/>
              <a:ea typeface="Calibri"/>
              <a:cs typeface="Calibri"/>
              <a:sym typeface="Calibri"/>
            </a:endParaRPr>
          </a:p>
        </p:txBody>
      </p:sp>
      <p:sp>
        <p:nvSpPr>
          <p:cNvPr id="58" name="Google Shape;58;p2"/>
          <p:cNvSpPr/>
          <p:nvPr/>
        </p:nvSpPr>
        <p:spPr>
          <a:xfrm>
            <a:off x="6400800" y="4800600"/>
            <a:ext cx="640080" cy="640080"/>
          </a:xfrm>
          <a:prstGeom prst="ellipse">
            <a:avLst/>
          </a:prstGeom>
          <a:solidFill>
            <a:srgbClr val="065A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6400800" y="4800600"/>
            <a:ext cx="64008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200"/>
              <a:buFont typeface="Georgia"/>
              <a:buNone/>
            </a:pPr>
            <a:r>
              <a:rPr lang="en-US" sz="2200" b="1">
                <a:solidFill>
                  <a:srgbClr val="FFFFFF"/>
                </a:solidFill>
                <a:latin typeface="Georgia"/>
                <a:ea typeface="Georgia"/>
                <a:cs typeface="Georgia"/>
                <a:sym typeface="Georgia"/>
              </a:rPr>
              <a:t>8</a:t>
            </a:r>
            <a:endParaRPr sz="2200">
              <a:solidFill>
                <a:schemeClr val="dk1"/>
              </a:solidFill>
              <a:latin typeface="Calibri"/>
              <a:ea typeface="Calibri"/>
              <a:cs typeface="Calibri"/>
              <a:sym typeface="Calibri"/>
            </a:endParaRPr>
          </a:p>
        </p:txBody>
      </p:sp>
      <p:sp>
        <p:nvSpPr>
          <p:cNvPr id="60" name="Google Shape;60;p2"/>
          <p:cNvSpPr/>
          <p:nvPr/>
        </p:nvSpPr>
        <p:spPr>
          <a:xfrm>
            <a:off x="7223760" y="4754880"/>
            <a:ext cx="48463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700"/>
              <a:buFont typeface="Georgia"/>
              <a:buNone/>
            </a:pPr>
            <a:r>
              <a:rPr lang="en-US" sz="1700" b="1">
                <a:solidFill>
                  <a:srgbClr val="21295C"/>
                </a:solidFill>
                <a:latin typeface="Georgia"/>
                <a:ea typeface="Georgia"/>
                <a:cs typeface="Georgia"/>
                <a:sym typeface="Georgia"/>
              </a:rPr>
              <a:t>Conclusion &amp; perspectives</a:t>
            </a:r>
            <a:endParaRPr sz="1700">
              <a:solidFill>
                <a:schemeClr val="dk1"/>
              </a:solidFill>
              <a:latin typeface="Calibri"/>
              <a:ea typeface="Calibri"/>
              <a:cs typeface="Calibri"/>
              <a:sym typeface="Calibri"/>
            </a:endParaRPr>
          </a:p>
        </p:txBody>
      </p:sp>
      <p:sp>
        <p:nvSpPr>
          <p:cNvPr id="61" name="Google Shape;61;p2"/>
          <p:cNvSpPr/>
          <p:nvPr/>
        </p:nvSpPr>
        <p:spPr>
          <a:xfrm>
            <a:off x="7223760" y="5148072"/>
            <a:ext cx="48463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200"/>
              <a:buFont typeface="Calibri"/>
              <a:buNone/>
            </a:pPr>
            <a:r>
              <a:rPr lang="en-US" sz="1200" i="1">
                <a:solidFill>
                  <a:srgbClr val="64748B"/>
                </a:solidFill>
                <a:latin typeface="Calibri"/>
                <a:ea typeface="Calibri"/>
                <a:cs typeface="Calibri"/>
                <a:sym typeface="Calibri"/>
              </a:rPr>
              <a:t>Synthèse et pistes d'amélioration</a:t>
            </a:r>
            <a:endParaRPr sz="12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6"/>
        <p:cNvGrpSpPr/>
        <p:nvPr/>
      </p:nvGrpSpPr>
      <p:grpSpPr>
        <a:xfrm>
          <a:off x="0" y="0"/>
          <a:ext cx="0" cy="0"/>
          <a:chOff x="0" y="0"/>
          <a:chExt cx="0" cy="0"/>
        </a:xfrm>
      </p:grpSpPr>
      <p:sp>
        <p:nvSpPr>
          <p:cNvPr id="67" name="Google Shape;67;p3"/>
          <p:cNvSpPr/>
          <p:nvPr/>
        </p:nvSpPr>
        <p:spPr>
          <a:xfrm>
            <a:off x="457200" y="228600"/>
            <a:ext cx="91440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PARTIE I · CONTEXTE</a:t>
            </a:r>
            <a:endParaRPr sz="1100">
              <a:solidFill>
                <a:schemeClr val="dk1"/>
              </a:solidFill>
              <a:latin typeface="Calibri"/>
              <a:ea typeface="Calibri"/>
              <a:cs typeface="Calibri"/>
              <a:sym typeface="Calibri"/>
            </a:endParaRPr>
          </a:p>
        </p:txBody>
      </p:sp>
      <p:sp>
        <p:nvSpPr>
          <p:cNvPr id="68" name="Google Shape;68;p3"/>
          <p:cNvSpPr/>
          <p:nvPr/>
        </p:nvSpPr>
        <p:spPr>
          <a:xfrm>
            <a:off x="10972800" y="228600"/>
            <a:ext cx="914400" cy="32004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3 / 16</a:t>
            </a:r>
            <a:endParaRPr sz="1000">
              <a:solidFill>
                <a:schemeClr val="dk1"/>
              </a:solidFill>
              <a:latin typeface="Calibri"/>
              <a:ea typeface="Calibri"/>
              <a:cs typeface="Calibri"/>
              <a:sym typeface="Calibri"/>
            </a:endParaRPr>
          </a:p>
        </p:txBody>
      </p:sp>
      <p:sp>
        <p:nvSpPr>
          <p:cNvPr id="69" name="Google Shape;69;p3"/>
          <p:cNvSpPr/>
          <p:nvPr/>
        </p:nvSpPr>
        <p:spPr>
          <a:xfrm>
            <a:off x="457200" y="502920"/>
            <a:ext cx="1124712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3000"/>
              <a:buFont typeface="Georgia"/>
              <a:buNone/>
            </a:pPr>
            <a:r>
              <a:rPr lang="en-US" sz="3000" b="1">
                <a:solidFill>
                  <a:srgbClr val="21295C"/>
                </a:solidFill>
                <a:latin typeface="Georgia"/>
                <a:ea typeface="Georgia"/>
                <a:cs typeface="Georgia"/>
                <a:sym typeface="Georgia"/>
              </a:rPr>
              <a:t>De l'âge chronologique à l’âge biologique</a:t>
            </a:r>
            <a:endParaRPr sz="3000">
              <a:solidFill>
                <a:schemeClr val="dk1"/>
              </a:solidFill>
              <a:latin typeface="Calibri"/>
              <a:ea typeface="Calibri"/>
              <a:cs typeface="Calibri"/>
              <a:sym typeface="Calibri"/>
            </a:endParaRPr>
          </a:p>
        </p:txBody>
      </p:sp>
      <p:sp>
        <p:nvSpPr>
          <p:cNvPr id="70" name="Google Shape;70;p3"/>
          <p:cNvSpPr/>
          <p:nvPr/>
        </p:nvSpPr>
        <p:spPr>
          <a:xfrm>
            <a:off x="457200" y="6537960"/>
            <a:ext cx="1124712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Prédiction âge biologique · Méthylation ADN · Master UCA 2025-2026</a:t>
            </a:r>
            <a:endParaRPr sz="900">
              <a:solidFill>
                <a:schemeClr val="dk1"/>
              </a:solidFill>
              <a:latin typeface="Calibri"/>
              <a:ea typeface="Calibri"/>
              <a:cs typeface="Calibri"/>
              <a:sym typeface="Calibri"/>
            </a:endParaRPr>
          </a:p>
        </p:txBody>
      </p:sp>
      <p:sp>
        <p:nvSpPr>
          <p:cNvPr id="71" name="Google Shape;71;p3"/>
          <p:cNvSpPr/>
          <p:nvPr/>
        </p:nvSpPr>
        <p:spPr>
          <a:xfrm>
            <a:off x="640080" y="1417320"/>
            <a:ext cx="59436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900"/>
              <a:buFont typeface="Calibri"/>
              <a:buNone/>
            </a:pPr>
            <a:endParaRPr sz="1900">
              <a:solidFill>
                <a:schemeClr val="dk1"/>
              </a:solidFill>
              <a:latin typeface="Calibri"/>
              <a:ea typeface="Calibri"/>
              <a:cs typeface="Calibri"/>
              <a:sym typeface="Calibri"/>
            </a:endParaRPr>
          </a:p>
        </p:txBody>
      </p:sp>
      <p:sp>
        <p:nvSpPr>
          <p:cNvPr id="72" name="Google Shape;72;p3"/>
          <p:cNvSpPr/>
          <p:nvPr/>
        </p:nvSpPr>
        <p:spPr>
          <a:xfrm>
            <a:off x="640085" y="1433155"/>
            <a:ext cx="5943600" cy="822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300"/>
              <a:buFont typeface="Calibri"/>
              <a:buNone/>
            </a:pPr>
            <a:r>
              <a:rPr lang="en-US" sz="1300" b="1">
                <a:solidFill>
                  <a:srgbClr val="21295C"/>
                </a:solidFill>
                <a:latin typeface="Calibri"/>
                <a:ea typeface="Calibri"/>
                <a:cs typeface="Calibri"/>
                <a:sym typeface="Calibri"/>
              </a:rPr>
              <a:t>- annot_projet : information sur les 400 sujets :(Sample_Name : à ignorer), female, ethnicity, age : données de chaque sujet, Sample_Description : id des sujets dans les tables beta.</a:t>
            </a:r>
            <a:endParaRPr sz="1300">
              <a:solidFill>
                <a:schemeClr val="dk1"/>
              </a:solidFill>
              <a:latin typeface="Calibri"/>
              <a:ea typeface="Calibri"/>
              <a:cs typeface="Calibri"/>
              <a:sym typeface="Calibri"/>
            </a:endParaRPr>
          </a:p>
        </p:txBody>
      </p:sp>
      <p:sp>
        <p:nvSpPr>
          <p:cNvPr id="73" name="Google Shape;73;p3"/>
          <p:cNvSpPr/>
          <p:nvPr/>
        </p:nvSpPr>
        <p:spPr>
          <a:xfrm>
            <a:off x="685800" y="2454825"/>
            <a:ext cx="5943600" cy="502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300"/>
              <a:buFont typeface="Calibri"/>
              <a:buNone/>
            </a:pPr>
            <a:r>
              <a:rPr lang="en-US" sz="1300" b="1">
                <a:solidFill>
                  <a:srgbClr val="21295C"/>
                </a:solidFill>
                <a:latin typeface="Calibri"/>
                <a:ea typeface="Calibri"/>
                <a:cs typeface="Calibri"/>
                <a:sym typeface="Calibri"/>
              </a:rPr>
              <a:t>- GSE246337_beta_projet : données de méthylation : 1 ligne par cpg, 1 colonne par sujet</a:t>
            </a:r>
            <a:endParaRPr sz="1300" b="1">
              <a:solidFill>
                <a:srgbClr val="21295C"/>
              </a:solidFill>
              <a:latin typeface="Calibri"/>
              <a:ea typeface="Calibri"/>
              <a:cs typeface="Calibri"/>
              <a:sym typeface="Calibri"/>
            </a:endParaRPr>
          </a:p>
          <a:p>
            <a:pPr marL="0" marR="0" lvl="0" indent="0" algn="l" rtl="0">
              <a:spcBef>
                <a:spcPts val="0"/>
              </a:spcBef>
              <a:spcAft>
                <a:spcPts val="0"/>
              </a:spcAft>
              <a:buClr>
                <a:srgbClr val="21295C"/>
              </a:buClr>
              <a:buSzPts val="1300"/>
              <a:buFont typeface="Calibri"/>
              <a:buNone/>
            </a:pPr>
            <a:endParaRPr sz="1300" b="1">
              <a:solidFill>
                <a:srgbClr val="21295C"/>
              </a:solidFill>
              <a:latin typeface="Calibri"/>
              <a:ea typeface="Calibri"/>
              <a:cs typeface="Calibri"/>
              <a:sym typeface="Calibri"/>
            </a:endParaRPr>
          </a:p>
        </p:txBody>
      </p:sp>
      <p:sp>
        <p:nvSpPr>
          <p:cNvPr id="74" name="Google Shape;74;p3"/>
          <p:cNvSpPr/>
          <p:nvPr/>
        </p:nvSpPr>
        <p:spPr>
          <a:xfrm>
            <a:off x="640075" y="3886173"/>
            <a:ext cx="5943600" cy="50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21295C"/>
              </a:buClr>
              <a:buSzPts val="1300"/>
              <a:buFont typeface="Calibri"/>
              <a:buNone/>
            </a:pPr>
            <a:r>
              <a:rPr lang="en-US" sz="1300" b="1">
                <a:solidFill>
                  <a:srgbClr val="21295C"/>
                </a:solidFill>
                <a:latin typeface="Calibri"/>
                <a:ea typeface="Calibri"/>
                <a:cs typeface="Calibri"/>
                <a:sym typeface="Calibri"/>
              </a:rPr>
              <a:t>- beta_toy : extrait de la table précédente (1000 premières lignes)</a:t>
            </a:r>
            <a:endParaRPr sz="1300">
              <a:solidFill>
                <a:schemeClr val="dk1"/>
              </a:solidFill>
              <a:latin typeface="Calibri"/>
              <a:ea typeface="Calibri"/>
              <a:cs typeface="Calibri"/>
              <a:sym typeface="Calibri"/>
            </a:endParaRPr>
          </a:p>
        </p:txBody>
      </p:sp>
      <p:sp>
        <p:nvSpPr>
          <p:cNvPr id="75" name="Google Shape;75;p3"/>
          <p:cNvSpPr/>
          <p:nvPr/>
        </p:nvSpPr>
        <p:spPr>
          <a:xfrm>
            <a:off x="640080" y="4434840"/>
            <a:ext cx="5943600" cy="1463040"/>
          </a:xfrm>
          <a:prstGeom prst="rect">
            <a:avLst/>
          </a:prstGeom>
          <a:solidFill>
            <a:srgbClr val="F4F7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640080" y="4434840"/>
            <a:ext cx="109728" cy="1463040"/>
          </a:xfrm>
          <a:prstGeom prst="rect">
            <a:avLst/>
          </a:prstGeom>
          <a:solidFill>
            <a:srgbClr val="F2B7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3"/>
          <p:cNvSpPr/>
          <p:nvPr/>
        </p:nvSpPr>
        <p:spPr>
          <a:xfrm>
            <a:off x="868680" y="4526280"/>
            <a:ext cx="53035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2B705"/>
              </a:buClr>
              <a:buSzPts val="1100"/>
              <a:buFont typeface="Calibri"/>
              <a:buNone/>
            </a:pPr>
            <a:r>
              <a:rPr lang="en-US" sz="1100" b="1">
                <a:solidFill>
                  <a:srgbClr val="F2B705"/>
                </a:solidFill>
                <a:latin typeface="Calibri"/>
                <a:ea typeface="Calibri"/>
                <a:cs typeface="Calibri"/>
                <a:sym typeface="Calibri"/>
              </a:rPr>
              <a:t>OBJECTIF DU PROJET</a:t>
            </a:r>
            <a:endParaRPr sz="1100">
              <a:solidFill>
                <a:schemeClr val="dk1"/>
              </a:solidFill>
              <a:latin typeface="Calibri"/>
              <a:ea typeface="Calibri"/>
              <a:cs typeface="Calibri"/>
              <a:sym typeface="Calibri"/>
            </a:endParaRPr>
          </a:p>
        </p:txBody>
      </p:sp>
      <p:sp>
        <p:nvSpPr>
          <p:cNvPr id="78" name="Google Shape;78;p3"/>
          <p:cNvSpPr/>
          <p:nvPr/>
        </p:nvSpPr>
        <p:spPr>
          <a:xfrm>
            <a:off x="868680" y="4892040"/>
            <a:ext cx="557784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300"/>
              <a:buFont typeface="Calibri"/>
              <a:buNone/>
            </a:pPr>
            <a:r>
              <a:rPr lang="en-US" sz="1300" i="1">
                <a:solidFill>
                  <a:srgbClr val="1E293B"/>
                </a:solidFill>
                <a:latin typeface="Calibri"/>
                <a:ea typeface="Calibri"/>
                <a:cs typeface="Calibri"/>
                <a:sym typeface="Calibri"/>
              </a:rPr>
              <a:t>Construire un modèle prédictif de l'âge chronologique à partir des valeurs bêta de méthylation, et évaluer sa robustesse face à des CpG manquants.</a:t>
            </a:r>
            <a:endParaRPr sz="1300">
              <a:solidFill>
                <a:schemeClr val="dk1"/>
              </a:solidFill>
              <a:latin typeface="Calibri"/>
              <a:ea typeface="Calibri"/>
              <a:cs typeface="Calibri"/>
              <a:sym typeface="Calibri"/>
            </a:endParaRPr>
          </a:p>
        </p:txBody>
      </p:sp>
      <p:sp>
        <p:nvSpPr>
          <p:cNvPr id="79" name="Google Shape;79;p3"/>
          <p:cNvSpPr/>
          <p:nvPr/>
        </p:nvSpPr>
        <p:spPr>
          <a:xfrm>
            <a:off x="7178040" y="1150620"/>
            <a:ext cx="2169160" cy="1501140"/>
          </a:xfrm>
          <a:prstGeom prst="rect">
            <a:avLst/>
          </a:prstGeom>
          <a:solidFill>
            <a:srgbClr val="FFFFFF"/>
          </a:solidFill>
          <a:ln w="12700" cap="flat" cmpd="sng">
            <a:solidFill>
              <a:srgbClr val="E2E8F0"/>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 name="Google Shape;80;p3"/>
          <p:cNvSpPr/>
          <p:nvPr/>
        </p:nvSpPr>
        <p:spPr>
          <a:xfrm>
            <a:off x="7223760" y="1089660"/>
            <a:ext cx="2194560" cy="16078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65A82"/>
              </a:buClr>
              <a:buSzPts val="4200"/>
              <a:buFont typeface="Georgia"/>
              <a:buNone/>
            </a:pPr>
            <a:r>
              <a:rPr lang="en-US" sz="4200" b="1">
                <a:solidFill>
                  <a:srgbClr val="065A82"/>
                </a:solidFill>
                <a:latin typeface="Georgia"/>
                <a:ea typeface="Georgia"/>
                <a:cs typeface="Georgia"/>
                <a:sym typeface="Georgia"/>
              </a:rPr>
              <a:t>400</a:t>
            </a:r>
            <a:endParaRPr sz="4200">
              <a:solidFill>
                <a:schemeClr val="dk1"/>
              </a:solidFill>
              <a:latin typeface="Calibri"/>
              <a:ea typeface="Calibri"/>
              <a:cs typeface="Calibri"/>
              <a:sym typeface="Calibri"/>
            </a:endParaRPr>
          </a:p>
        </p:txBody>
      </p:sp>
      <p:sp>
        <p:nvSpPr>
          <p:cNvPr id="81" name="Google Shape;81;p3"/>
          <p:cNvSpPr/>
          <p:nvPr/>
        </p:nvSpPr>
        <p:spPr>
          <a:xfrm>
            <a:off x="7223760" y="1971040"/>
            <a:ext cx="219456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sujets</a:t>
            </a:r>
            <a:endParaRPr sz="1200">
              <a:solidFill>
                <a:schemeClr val="dk1"/>
              </a:solidFill>
              <a:latin typeface="Calibri"/>
              <a:ea typeface="Calibri"/>
              <a:cs typeface="Calibri"/>
              <a:sym typeface="Calibri"/>
            </a:endParaRPr>
          </a:p>
        </p:txBody>
      </p:sp>
      <p:sp>
        <p:nvSpPr>
          <p:cNvPr id="82" name="Google Shape;82;p3"/>
          <p:cNvSpPr/>
          <p:nvPr/>
        </p:nvSpPr>
        <p:spPr>
          <a:xfrm>
            <a:off x="9634220" y="1188720"/>
            <a:ext cx="2070100" cy="1501140"/>
          </a:xfrm>
          <a:prstGeom prst="rect">
            <a:avLst/>
          </a:prstGeom>
          <a:solidFill>
            <a:srgbClr val="FFFFFF"/>
          </a:solidFill>
          <a:ln w="12700" cap="flat" cmpd="sng">
            <a:solidFill>
              <a:srgbClr val="E2E8F0"/>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p:cNvSpPr/>
          <p:nvPr/>
        </p:nvSpPr>
        <p:spPr>
          <a:xfrm>
            <a:off x="9601200" y="680720"/>
            <a:ext cx="2194560" cy="2016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65A82"/>
              </a:buClr>
              <a:buSzPts val="4200"/>
              <a:buFont typeface="Georgia"/>
              <a:buNone/>
            </a:pPr>
            <a:r>
              <a:rPr lang="en-US" sz="4200" b="1">
                <a:solidFill>
                  <a:srgbClr val="065A82"/>
                </a:solidFill>
                <a:latin typeface="Georgia"/>
                <a:ea typeface="Georgia"/>
                <a:cs typeface="Georgia"/>
                <a:sym typeface="Georgia"/>
              </a:rPr>
              <a:t>50k</a:t>
            </a:r>
            <a:endParaRPr sz="4200">
              <a:solidFill>
                <a:schemeClr val="dk1"/>
              </a:solidFill>
              <a:latin typeface="Calibri"/>
              <a:ea typeface="Calibri"/>
              <a:cs typeface="Calibri"/>
              <a:sym typeface="Calibri"/>
            </a:endParaRPr>
          </a:p>
        </p:txBody>
      </p:sp>
      <p:sp>
        <p:nvSpPr>
          <p:cNvPr id="84" name="Google Shape;84;p3"/>
          <p:cNvSpPr/>
          <p:nvPr/>
        </p:nvSpPr>
        <p:spPr>
          <a:xfrm>
            <a:off x="9509760" y="1983740"/>
            <a:ext cx="219456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sites CpG (brut)</a:t>
            </a:r>
            <a:endParaRPr sz="1200">
              <a:solidFill>
                <a:schemeClr val="dk1"/>
              </a:solidFill>
              <a:latin typeface="Calibri"/>
              <a:ea typeface="Calibri"/>
              <a:cs typeface="Calibri"/>
              <a:sym typeface="Calibri"/>
            </a:endParaRPr>
          </a:p>
        </p:txBody>
      </p:sp>
      <p:sp>
        <p:nvSpPr>
          <p:cNvPr id="85" name="Google Shape;85;p3"/>
          <p:cNvSpPr/>
          <p:nvPr/>
        </p:nvSpPr>
        <p:spPr>
          <a:xfrm>
            <a:off x="7152650" y="4625350"/>
            <a:ext cx="2194500" cy="1501200"/>
          </a:xfrm>
          <a:prstGeom prst="rect">
            <a:avLst/>
          </a:prstGeom>
          <a:solidFill>
            <a:srgbClr val="FFFFFF"/>
          </a:solidFill>
          <a:ln w="12700" cap="flat" cmpd="sng">
            <a:solidFill>
              <a:srgbClr val="E2E8F0"/>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7223760" y="4622800"/>
            <a:ext cx="2194560" cy="8686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65A82"/>
              </a:buClr>
              <a:buSzPts val="4200"/>
              <a:buFont typeface="Georgia"/>
              <a:buNone/>
            </a:pPr>
            <a:r>
              <a:rPr lang="en-US" sz="4200" b="1">
                <a:solidFill>
                  <a:srgbClr val="065A82"/>
                </a:solidFill>
                <a:latin typeface="Georgia"/>
                <a:ea typeface="Georgia"/>
                <a:cs typeface="Georgia"/>
                <a:sym typeface="Georgia"/>
              </a:rPr>
              <a:t>18–90</a:t>
            </a:r>
            <a:endParaRPr sz="4200">
              <a:solidFill>
                <a:schemeClr val="dk1"/>
              </a:solidFill>
              <a:latin typeface="Calibri"/>
              <a:ea typeface="Calibri"/>
              <a:cs typeface="Calibri"/>
              <a:sym typeface="Calibri"/>
            </a:endParaRPr>
          </a:p>
        </p:txBody>
      </p:sp>
      <p:sp>
        <p:nvSpPr>
          <p:cNvPr id="87" name="Google Shape;87;p3"/>
          <p:cNvSpPr/>
          <p:nvPr/>
        </p:nvSpPr>
        <p:spPr>
          <a:xfrm>
            <a:off x="7223760" y="5303520"/>
            <a:ext cx="219456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ans (plage d'âge)</a:t>
            </a:r>
            <a:endParaRPr sz="1200">
              <a:solidFill>
                <a:schemeClr val="dk1"/>
              </a:solidFill>
              <a:latin typeface="Calibri"/>
              <a:ea typeface="Calibri"/>
              <a:cs typeface="Calibri"/>
              <a:sym typeface="Calibri"/>
            </a:endParaRPr>
          </a:p>
        </p:txBody>
      </p:sp>
      <p:sp>
        <p:nvSpPr>
          <p:cNvPr id="88" name="Google Shape;88;p3"/>
          <p:cNvSpPr/>
          <p:nvPr/>
        </p:nvSpPr>
        <p:spPr>
          <a:xfrm>
            <a:off x="9601200" y="4592325"/>
            <a:ext cx="2194500" cy="1501200"/>
          </a:xfrm>
          <a:prstGeom prst="rect">
            <a:avLst/>
          </a:prstGeom>
          <a:solidFill>
            <a:srgbClr val="FFFFFF"/>
          </a:solidFill>
          <a:ln w="12700" cap="flat" cmpd="sng">
            <a:solidFill>
              <a:srgbClr val="E2E8F0"/>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p:nvPr/>
        </p:nvSpPr>
        <p:spPr>
          <a:xfrm>
            <a:off x="9601200" y="4592320"/>
            <a:ext cx="2194560" cy="8686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65A82"/>
              </a:buClr>
              <a:buSzPts val="4200"/>
              <a:buFont typeface="Georgia"/>
              <a:buNone/>
            </a:pPr>
            <a:r>
              <a:rPr lang="en-US" sz="4200" b="1">
                <a:solidFill>
                  <a:srgbClr val="065A82"/>
                </a:solidFill>
                <a:latin typeface="Georgia"/>
                <a:ea typeface="Georgia"/>
                <a:cs typeface="Georgia"/>
                <a:sym typeface="Georgia"/>
              </a:rPr>
              <a:t>9</a:t>
            </a:r>
            <a:endParaRPr sz="4200">
              <a:solidFill>
                <a:schemeClr val="dk1"/>
              </a:solidFill>
              <a:latin typeface="Calibri"/>
              <a:ea typeface="Calibri"/>
              <a:cs typeface="Calibri"/>
              <a:sym typeface="Calibri"/>
            </a:endParaRPr>
          </a:p>
        </p:txBody>
      </p:sp>
      <p:sp>
        <p:nvSpPr>
          <p:cNvPr id="90" name="Google Shape;90;p3"/>
          <p:cNvSpPr/>
          <p:nvPr/>
        </p:nvSpPr>
        <p:spPr>
          <a:xfrm>
            <a:off x="9601200" y="5240020"/>
            <a:ext cx="219456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modèles comparés</a:t>
            </a:r>
            <a:endParaRPr sz="1200">
              <a:solidFill>
                <a:schemeClr val="dk1"/>
              </a:solidFill>
              <a:latin typeface="Calibri"/>
              <a:ea typeface="Calibri"/>
              <a:cs typeface="Calibri"/>
              <a:sym typeface="Calibri"/>
            </a:endParaRPr>
          </a:p>
        </p:txBody>
      </p:sp>
      <p:sp>
        <p:nvSpPr>
          <p:cNvPr id="91" name="Google Shape;91;p3"/>
          <p:cNvSpPr/>
          <p:nvPr/>
        </p:nvSpPr>
        <p:spPr>
          <a:xfrm>
            <a:off x="8412486" y="2801618"/>
            <a:ext cx="2194500" cy="1463100"/>
          </a:xfrm>
          <a:prstGeom prst="rect">
            <a:avLst/>
          </a:prstGeom>
          <a:solidFill>
            <a:srgbClr val="FFFFFF"/>
          </a:solidFill>
          <a:ln w="12700" cap="flat" cmpd="sng">
            <a:solidFill>
              <a:srgbClr val="E2E8F0"/>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45700" rIns="91425" bIns="45700" anchor="t" anchorCtr="0">
            <a:noAutofit/>
          </a:bodyPr>
          <a:lstStyle/>
          <a:p>
            <a:pPr marL="0" marR="0" lvl="0" indent="0" algn="ctr" rtl="0">
              <a:spcBef>
                <a:spcPts val="0"/>
              </a:spcBef>
              <a:spcAft>
                <a:spcPts val="0"/>
              </a:spcAft>
              <a:buClr>
                <a:srgbClr val="065A82"/>
              </a:buClr>
              <a:buSzPts val="4000"/>
              <a:buFont typeface="Georgia"/>
              <a:buNone/>
            </a:pPr>
            <a:r>
              <a:rPr lang="en-US" sz="4000" b="1">
                <a:solidFill>
                  <a:srgbClr val="065A82"/>
                </a:solidFill>
                <a:latin typeface="Georgia"/>
                <a:ea typeface="Georgia"/>
                <a:cs typeface="Georgia"/>
                <a:sym typeface="Georgia"/>
              </a:rPr>
              <a:t>5</a:t>
            </a:r>
            <a:endParaRPr sz="4000">
              <a:solidFill>
                <a:schemeClr val="dk1"/>
              </a:solidFill>
              <a:latin typeface="Calibri"/>
              <a:ea typeface="Calibri"/>
              <a:cs typeface="Calibri"/>
              <a:sym typeface="Calibri"/>
            </a:endParaRPr>
          </a:p>
        </p:txBody>
      </p:sp>
      <p:sp>
        <p:nvSpPr>
          <p:cNvPr id="92" name="Google Shape;92;p3"/>
          <p:cNvSpPr/>
          <p:nvPr/>
        </p:nvSpPr>
        <p:spPr>
          <a:xfrm>
            <a:off x="8412480" y="3657601"/>
            <a:ext cx="219456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Variables</a:t>
            </a:r>
            <a:endParaRPr sz="1200">
              <a:solidFill>
                <a:schemeClr val="dk1"/>
              </a:solidFill>
              <a:latin typeface="Calibri"/>
              <a:ea typeface="Calibri"/>
              <a:cs typeface="Calibri"/>
              <a:sym typeface="Calibri"/>
            </a:endParaRPr>
          </a:p>
        </p:txBody>
      </p:sp>
      <p:sp>
        <p:nvSpPr>
          <p:cNvPr id="93" name="Google Shape;93;p3"/>
          <p:cNvSpPr/>
          <p:nvPr/>
        </p:nvSpPr>
        <p:spPr>
          <a:xfrm>
            <a:off x="685800" y="3170503"/>
            <a:ext cx="5943600" cy="64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300"/>
              <a:buFont typeface="Calibri"/>
              <a:buNone/>
            </a:pPr>
            <a:r>
              <a:rPr lang="en-US" sz="1300" b="1">
                <a:solidFill>
                  <a:srgbClr val="21295C"/>
                </a:solidFill>
                <a:latin typeface="Calibri"/>
                <a:ea typeface="Calibri"/>
                <a:cs typeface="Calibri"/>
                <a:sym typeface="Calibri"/>
              </a:rPr>
              <a:t>- cpg_names_projet : id des 894k cpg = noms des lignes de la table GSE246337_beta_projet.</a:t>
            </a:r>
            <a:endParaRPr sz="13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8"/>
        <p:cNvGrpSpPr/>
        <p:nvPr/>
      </p:nvGrpSpPr>
      <p:grpSpPr>
        <a:xfrm>
          <a:off x="0" y="0"/>
          <a:ext cx="0" cy="0"/>
          <a:chOff x="0" y="0"/>
          <a:chExt cx="0" cy="0"/>
        </a:xfrm>
      </p:grpSpPr>
      <p:sp>
        <p:nvSpPr>
          <p:cNvPr id="99" name="Google Shape;99;p4"/>
          <p:cNvSpPr/>
          <p:nvPr/>
        </p:nvSpPr>
        <p:spPr>
          <a:xfrm>
            <a:off x="457200" y="228600"/>
            <a:ext cx="91440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PARTIE I · CONTEXTE</a:t>
            </a:r>
            <a:endParaRPr sz="1100">
              <a:solidFill>
                <a:schemeClr val="dk1"/>
              </a:solidFill>
              <a:latin typeface="Calibri"/>
              <a:ea typeface="Calibri"/>
              <a:cs typeface="Calibri"/>
              <a:sym typeface="Calibri"/>
            </a:endParaRPr>
          </a:p>
        </p:txBody>
      </p:sp>
      <p:sp>
        <p:nvSpPr>
          <p:cNvPr id="100" name="Google Shape;100;p4"/>
          <p:cNvSpPr/>
          <p:nvPr/>
        </p:nvSpPr>
        <p:spPr>
          <a:xfrm>
            <a:off x="10972800" y="228600"/>
            <a:ext cx="914400" cy="32004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4 / 16</a:t>
            </a:r>
            <a:endParaRPr sz="1000">
              <a:solidFill>
                <a:schemeClr val="dk1"/>
              </a:solidFill>
              <a:latin typeface="Calibri"/>
              <a:ea typeface="Calibri"/>
              <a:cs typeface="Calibri"/>
              <a:sym typeface="Calibri"/>
            </a:endParaRPr>
          </a:p>
        </p:txBody>
      </p:sp>
      <p:sp>
        <p:nvSpPr>
          <p:cNvPr id="101" name="Google Shape;101;p4"/>
          <p:cNvSpPr/>
          <p:nvPr/>
        </p:nvSpPr>
        <p:spPr>
          <a:xfrm>
            <a:off x="457200" y="502920"/>
            <a:ext cx="1124712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3000"/>
              <a:buFont typeface="Georgia"/>
              <a:buNone/>
            </a:pPr>
            <a:r>
              <a:rPr lang="en-US" sz="3000" b="1">
                <a:solidFill>
                  <a:srgbClr val="21295C"/>
                </a:solidFill>
                <a:latin typeface="Georgia"/>
                <a:ea typeface="Georgia"/>
                <a:cs typeface="Georgia"/>
                <a:sym typeface="Georgia"/>
              </a:rPr>
              <a:t>Les données : 4 fichiers, 400 sujets, 50k CpG</a:t>
            </a:r>
            <a:endParaRPr sz="3000">
              <a:solidFill>
                <a:schemeClr val="dk1"/>
              </a:solidFill>
              <a:latin typeface="Calibri"/>
              <a:ea typeface="Calibri"/>
              <a:cs typeface="Calibri"/>
              <a:sym typeface="Calibri"/>
            </a:endParaRPr>
          </a:p>
        </p:txBody>
      </p:sp>
      <p:sp>
        <p:nvSpPr>
          <p:cNvPr id="102" name="Google Shape;102;p4"/>
          <p:cNvSpPr/>
          <p:nvPr/>
        </p:nvSpPr>
        <p:spPr>
          <a:xfrm>
            <a:off x="457200" y="6537960"/>
            <a:ext cx="1124712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Prédiction âge biologique · Méthylation ADN · Master UCA 2025-2026</a:t>
            </a:r>
            <a:endParaRPr sz="900">
              <a:solidFill>
                <a:schemeClr val="dk1"/>
              </a:solidFill>
              <a:latin typeface="Calibri"/>
              <a:ea typeface="Calibri"/>
              <a:cs typeface="Calibri"/>
              <a:sym typeface="Calibri"/>
            </a:endParaRPr>
          </a:p>
        </p:txBody>
      </p:sp>
      <p:sp>
        <p:nvSpPr>
          <p:cNvPr id="103" name="Google Shape;103;p4"/>
          <p:cNvSpPr/>
          <p:nvPr/>
        </p:nvSpPr>
        <p:spPr>
          <a:xfrm>
            <a:off x="640080" y="1325880"/>
            <a:ext cx="112471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300"/>
              <a:buFont typeface="Calibri"/>
              <a:buNone/>
            </a:pPr>
            <a:endParaRPr sz="1300">
              <a:solidFill>
                <a:schemeClr val="dk1"/>
              </a:solidFill>
              <a:latin typeface="Calibri"/>
              <a:ea typeface="Calibri"/>
              <a:cs typeface="Calibri"/>
              <a:sym typeface="Calibri"/>
            </a:endParaRPr>
          </a:p>
        </p:txBody>
      </p:sp>
      <p:graphicFrame>
        <p:nvGraphicFramePr>
          <p:cNvPr id="104" name="Google Shape;104;p4"/>
          <p:cNvGraphicFramePr/>
          <p:nvPr/>
        </p:nvGraphicFramePr>
        <p:xfrm>
          <a:off x="640080" y="1828800"/>
          <a:ext cx="3000000" cy="3000000"/>
        </p:xfrm>
        <a:graphic>
          <a:graphicData uri="http://schemas.openxmlformats.org/drawingml/2006/table">
            <a:tbl>
              <a:tblPr>
                <a:noFill/>
                <a:tableStyleId>{59777335-6E78-4D11-92F4-CBAF9F99DE82}</a:tableStyleId>
              </a:tblPr>
              <a:tblGrid>
                <a:gridCol w="2926075">
                  <a:extLst>
                    <a:ext uri="{9D8B030D-6E8A-4147-A177-3AD203B41FA5}">
                      <a16:colId xmlns:a16="http://schemas.microsoft.com/office/drawing/2014/main" val="20000"/>
                    </a:ext>
                  </a:extLst>
                </a:gridCol>
                <a:gridCol w="557785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548650">
                <a:tc>
                  <a:txBody>
                    <a:bodyPr/>
                    <a:lstStyle/>
                    <a:p>
                      <a:pPr marL="0" marR="0" lvl="0" indent="0" algn="l" rtl="0">
                        <a:spcBef>
                          <a:spcPts val="0"/>
                        </a:spcBef>
                        <a:spcAft>
                          <a:spcPts val="0"/>
                        </a:spcAft>
                        <a:buClr>
                          <a:srgbClr val="FFFFFF"/>
                        </a:buClr>
                        <a:buSzPts val="1200"/>
                        <a:buFont typeface="Calibri"/>
                        <a:buNone/>
                      </a:pPr>
                      <a:r>
                        <a:rPr lang="en-US" sz="1200" b="1" u="none" strike="noStrike" cap="none">
                          <a:solidFill>
                            <a:srgbClr val="FFFFFF"/>
                          </a:solidFill>
                          <a:latin typeface="Calibri"/>
                          <a:ea typeface="Calibri"/>
                          <a:cs typeface="Calibri"/>
                          <a:sym typeface="Calibri"/>
                        </a:rPr>
                        <a:t>Fichier</a:t>
                      </a:r>
                      <a:endParaRPr sz="12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21295C"/>
                    </a:solidFill>
                  </a:tcPr>
                </a:tc>
                <a:tc>
                  <a:txBody>
                    <a:bodyPr/>
                    <a:lstStyle/>
                    <a:p>
                      <a:pPr marL="0" marR="0" lvl="0" indent="0" algn="l" rtl="0">
                        <a:spcBef>
                          <a:spcPts val="0"/>
                        </a:spcBef>
                        <a:spcAft>
                          <a:spcPts val="0"/>
                        </a:spcAft>
                        <a:buClr>
                          <a:srgbClr val="FFFFFF"/>
                        </a:buClr>
                        <a:buSzPts val="1200"/>
                        <a:buFont typeface="Calibri"/>
                        <a:buNone/>
                      </a:pPr>
                      <a:r>
                        <a:rPr lang="en-US" sz="1200" b="1" u="none" strike="noStrike" cap="none">
                          <a:solidFill>
                            <a:srgbClr val="FFFFFF"/>
                          </a:solidFill>
                          <a:latin typeface="Calibri"/>
                          <a:ea typeface="Calibri"/>
                          <a:cs typeface="Calibri"/>
                          <a:sym typeface="Calibri"/>
                        </a:rPr>
                        <a:t>Contenu</a:t>
                      </a:r>
                      <a:endParaRPr sz="12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21295C"/>
                    </a:solidFill>
                  </a:tcPr>
                </a:tc>
                <a:tc>
                  <a:txBody>
                    <a:bodyPr/>
                    <a:lstStyle/>
                    <a:p>
                      <a:pPr marL="0" marR="0" lvl="0" indent="0" algn="l" rtl="0">
                        <a:spcBef>
                          <a:spcPts val="0"/>
                        </a:spcBef>
                        <a:spcAft>
                          <a:spcPts val="0"/>
                        </a:spcAft>
                        <a:buClr>
                          <a:srgbClr val="FFFFFF"/>
                        </a:buClr>
                        <a:buSzPts val="1200"/>
                        <a:buFont typeface="Calibri"/>
                        <a:buNone/>
                      </a:pPr>
                      <a:r>
                        <a:rPr lang="en-US" sz="1200" b="1" u="none" strike="noStrike" cap="none">
                          <a:solidFill>
                            <a:srgbClr val="FFFFFF"/>
                          </a:solidFill>
                          <a:latin typeface="Calibri"/>
                          <a:ea typeface="Calibri"/>
                          <a:cs typeface="Calibri"/>
                          <a:sym typeface="Calibri"/>
                        </a:rPr>
                        <a:t>Dimensions</a:t>
                      </a:r>
                      <a:endParaRPr sz="12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21295C"/>
                    </a:solidFill>
                  </a:tcPr>
                </a:tc>
                <a:extLst>
                  <a:ext uri="{0D108BD9-81ED-4DB2-BD59-A6C34878D82A}">
                    <a16:rowId xmlns:a16="http://schemas.microsoft.com/office/drawing/2014/main" val="10000"/>
                  </a:ext>
                </a:extLst>
              </a:tr>
              <a:tr h="548650">
                <a:tc>
                  <a:txBody>
                    <a:bodyPr/>
                    <a:lstStyle/>
                    <a:p>
                      <a:pPr marL="0" marR="0" lvl="0" indent="0" algn="l" rtl="0">
                        <a:spcBef>
                          <a:spcPts val="0"/>
                        </a:spcBef>
                        <a:spcAft>
                          <a:spcPts val="0"/>
                        </a:spcAft>
                        <a:buClr>
                          <a:srgbClr val="065A82"/>
                        </a:buClr>
                        <a:buSzPts val="1200"/>
                        <a:buFont typeface="Calibri"/>
                        <a:buNone/>
                      </a:pPr>
                      <a:r>
                        <a:rPr lang="en-US" sz="1200" b="1" u="none" strike="noStrike" cap="none">
                          <a:solidFill>
                            <a:srgbClr val="065A82"/>
                          </a:solidFill>
                          <a:latin typeface="Calibri"/>
                          <a:ea typeface="Calibri"/>
                          <a:cs typeface="Calibri"/>
                          <a:sym typeface="Calibri"/>
                        </a:rPr>
                        <a:t>annot_projet.csv</a:t>
                      </a:r>
                      <a:endParaRPr sz="12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spcBef>
                          <a:spcPts val="0"/>
                        </a:spcBef>
                        <a:spcAft>
                          <a:spcPts val="0"/>
                        </a:spcAft>
                        <a:buClr>
                          <a:srgbClr val="1E293B"/>
                        </a:buClr>
                        <a:buSzPts val="1200"/>
                        <a:buFont typeface="Calibri"/>
                        <a:buNone/>
                      </a:pPr>
                      <a:r>
                        <a:rPr lang="en-US" sz="1200" u="none" strike="noStrike" cap="none">
                          <a:solidFill>
                            <a:srgbClr val="1E293B"/>
                          </a:solidFill>
                          <a:latin typeface="Calibri"/>
                          <a:ea typeface="Calibri"/>
                          <a:cs typeface="Calibri"/>
                          <a:sym typeface="Calibri"/>
                        </a:rPr>
                        <a:t>Annotations sujets : sexe, ethnie, âge</a:t>
                      </a:r>
                      <a:endParaRPr sz="12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spcBef>
                          <a:spcPts val="0"/>
                        </a:spcBef>
                        <a:spcAft>
                          <a:spcPts val="0"/>
                        </a:spcAft>
                        <a:buClr>
                          <a:srgbClr val="1E293B"/>
                        </a:buClr>
                        <a:buSzPts val="1200"/>
                        <a:buFont typeface="Calibri"/>
                        <a:buNone/>
                      </a:pPr>
                      <a:r>
                        <a:rPr lang="en-US" sz="1200" u="none" strike="noStrike" cap="none">
                          <a:solidFill>
                            <a:srgbClr val="1E293B"/>
                          </a:solidFill>
                          <a:latin typeface="Calibri"/>
                          <a:ea typeface="Calibri"/>
                          <a:cs typeface="Calibri"/>
                          <a:sym typeface="Calibri"/>
                        </a:rPr>
                        <a:t>400 × 5</a:t>
                      </a:r>
                      <a:endParaRPr sz="12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1"/>
                  </a:ext>
                </a:extLst>
              </a:tr>
              <a:tr h="548650">
                <a:tc>
                  <a:txBody>
                    <a:bodyPr/>
                    <a:lstStyle/>
                    <a:p>
                      <a:pPr marL="0" marR="0" lvl="0" indent="0" algn="l" rtl="0">
                        <a:spcBef>
                          <a:spcPts val="0"/>
                        </a:spcBef>
                        <a:spcAft>
                          <a:spcPts val="0"/>
                        </a:spcAft>
                        <a:buClr>
                          <a:srgbClr val="065A82"/>
                        </a:buClr>
                        <a:buSzPts val="1200"/>
                        <a:buFont typeface="Calibri"/>
                        <a:buNone/>
                      </a:pPr>
                      <a:r>
                        <a:rPr lang="en-US" sz="1200" b="1" u="none" strike="noStrike" cap="none">
                          <a:solidFill>
                            <a:srgbClr val="065A82"/>
                          </a:solidFill>
                          <a:latin typeface="Calibri"/>
                          <a:ea typeface="Calibri"/>
                          <a:cs typeface="Calibri"/>
                          <a:sym typeface="Calibri"/>
                        </a:rPr>
                        <a:t>cpg_names_projet.csv</a:t>
                      </a:r>
                      <a:endParaRPr sz="12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spcBef>
                          <a:spcPts val="0"/>
                        </a:spcBef>
                        <a:spcAft>
                          <a:spcPts val="0"/>
                        </a:spcAft>
                        <a:buClr>
                          <a:srgbClr val="1E293B"/>
                        </a:buClr>
                        <a:buSzPts val="1200"/>
                        <a:buFont typeface="Calibri"/>
                        <a:buNone/>
                      </a:pPr>
                      <a:r>
                        <a:rPr lang="en-US" sz="1200" u="none" strike="noStrike" cap="none">
                          <a:solidFill>
                            <a:srgbClr val="1E293B"/>
                          </a:solidFill>
                          <a:latin typeface="Calibri"/>
                          <a:ea typeface="Calibri"/>
                          <a:cs typeface="Calibri"/>
                          <a:sym typeface="Calibri"/>
                        </a:rPr>
                        <a:t>Identifiants des sites CpG</a:t>
                      </a:r>
                      <a:endParaRPr sz="12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spcBef>
                          <a:spcPts val="0"/>
                        </a:spcBef>
                        <a:spcAft>
                          <a:spcPts val="0"/>
                        </a:spcAft>
                        <a:buClr>
                          <a:srgbClr val="1E293B"/>
                        </a:buClr>
                        <a:buSzPts val="1200"/>
                        <a:buFont typeface="Calibri"/>
                        <a:buNone/>
                      </a:pPr>
                      <a:r>
                        <a:rPr lang="en-US" sz="1200" u="none" strike="noStrike" cap="none">
                          <a:solidFill>
                            <a:srgbClr val="1E293B"/>
                          </a:solidFill>
                          <a:latin typeface="Calibri"/>
                          <a:ea typeface="Calibri"/>
                          <a:cs typeface="Calibri"/>
                          <a:sym typeface="Calibri"/>
                        </a:rPr>
                        <a:t>894 006 × 1</a:t>
                      </a:r>
                      <a:endParaRPr sz="12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2"/>
                  </a:ext>
                </a:extLst>
              </a:tr>
              <a:tr h="548650">
                <a:tc>
                  <a:txBody>
                    <a:bodyPr/>
                    <a:lstStyle/>
                    <a:p>
                      <a:pPr marL="0" marR="0" lvl="0" indent="0" algn="l" rtl="0">
                        <a:spcBef>
                          <a:spcPts val="0"/>
                        </a:spcBef>
                        <a:spcAft>
                          <a:spcPts val="0"/>
                        </a:spcAft>
                        <a:buClr>
                          <a:srgbClr val="065A82"/>
                        </a:buClr>
                        <a:buSzPts val="1200"/>
                        <a:buFont typeface="Calibri"/>
                        <a:buNone/>
                      </a:pPr>
                      <a:r>
                        <a:rPr lang="en-US" sz="1200" b="1" u="none" strike="noStrike" cap="none">
                          <a:solidFill>
                            <a:srgbClr val="065A82"/>
                          </a:solidFill>
                          <a:latin typeface="Calibri"/>
                          <a:ea typeface="Calibri"/>
                          <a:cs typeface="Calibri"/>
                          <a:sym typeface="Calibri"/>
                        </a:rPr>
                        <a:t>GSE246337_beta_projet</a:t>
                      </a:r>
                      <a:endParaRPr sz="12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spcBef>
                          <a:spcPts val="0"/>
                        </a:spcBef>
                        <a:spcAft>
                          <a:spcPts val="0"/>
                        </a:spcAft>
                        <a:buClr>
                          <a:srgbClr val="1E293B"/>
                        </a:buClr>
                        <a:buSzPts val="1200"/>
                        <a:buFont typeface="Calibri"/>
                        <a:buNone/>
                      </a:pPr>
                      <a:r>
                        <a:rPr lang="en-US" sz="1200" u="none" strike="noStrike" cap="none">
                          <a:solidFill>
                            <a:srgbClr val="1E293B"/>
                          </a:solidFill>
                          <a:latin typeface="Calibri"/>
                          <a:ea typeface="Calibri"/>
                          <a:cs typeface="Calibri"/>
                          <a:sym typeface="Calibri"/>
                        </a:rPr>
                        <a:t>Matrice de méthylation (valeurs bêta ∈ [0,1])</a:t>
                      </a:r>
                      <a:endParaRPr sz="12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spcBef>
                          <a:spcPts val="0"/>
                        </a:spcBef>
                        <a:spcAft>
                          <a:spcPts val="0"/>
                        </a:spcAft>
                        <a:buClr>
                          <a:srgbClr val="1E293B"/>
                        </a:buClr>
                        <a:buSzPts val="1200"/>
                        <a:buFont typeface="Calibri"/>
                        <a:buNone/>
                      </a:pPr>
                      <a:r>
                        <a:rPr lang="en-US" sz="1200" u="none" strike="noStrike" cap="none">
                          <a:solidFill>
                            <a:srgbClr val="1E293B"/>
                          </a:solidFill>
                          <a:latin typeface="Calibri"/>
                          <a:ea typeface="Calibri"/>
                          <a:cs typeface="Calibri"/>
                          <a:sym typeface="Calibri"/>
                        </a:rPr>
                        <a:t>894k × 400</a:t>
                      </a:r>
                      <a:endParaRPr sz="12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3"/>
                  </a:ext>
                </a:extLst>
              </a:tr>
              <a:tr h="548650">
                <a:tc>
                  <a:txBody>
                    <a:bodyPr/>
                    <a:lstStyle/>
                    <a:p>
                      <a:pPr marL="0" marR="0" lvl="0" indent="0" algn="l" rtl="0">
                        <a:spcBef>
                          <a:spcPts val="0"/>
                        </a:spcBef>
                        <a:spcAft>
                          <a:spcPts val="0"/>
                        </a:spcAft>
                        <a:buClr>
                          <a:srgbClr val="065A82"/>
                        </a:buClr>
                        <a:buSzPts val="1200"/>
                        <a:buFont typeface="Calibri"/>
                        <a:buNone/>
                      </a:pPr>
                      <a:r>
                        <a:rPr lang="en-US" sz="1200" b="1" u="none" strike="noStrike" cap="none">
                          <a:solidFill>
                            <a:srgbClr val="065A82"/>
                          </a:solidFill>
                          <a:latin typeface="Calibri"/>
                          <a:ea typeface="Calibri"/>
                          <a:cs typeface="Calibri"/>
                          <a:sym typeface="Calibri"/>
                        </a:rPr>
                        <a:t>beta_toy.csv</a:t>
                      </a:r>
                      <a:endParaRPr sz="12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spcBef>
                          <a:spcPts val="0"/>
                        </a:spcBef>
                        <a:spcAft>
                          <a:spcPts val="0"/>
                        </a:spcAft>
                        <a:buClr>
                          <a:srgbClr val="1E293B"/>
                        </a:buClr>
                        <a:buSzPts val="1200"/>
                        <a:buFont typeface="Calibri"/>
                        <a:buNone/>
                      </a:pPr>
                      <a:r>
                        <a:rPr lang="en-US" sz="1200" u="none" strike="noStrike" cap="none">
                          <a:solidFill>
                            <a:srgbClr val="1E293B"/>
                          </a:solidFill>
                          <a:latin typeface="Calibri"/>
                          <a:ea typeface="Calibri"/>
                          <a:cs typeface="Calibri"/>
                          <a:sym typeface="Calibri"/>
                        </a:rPr>
                        <a:t>Sous-ensemble de test (1000 premiers CpG)</a:t>
                      </a:r>
                      <a:endParaRPr sz="12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tc>
                  <a:txBody>
                    <a:bodyPr/>
                    <a:lstStyle/>
                    <a:p>
                      <a:pPr marL="0" marR="0" lvl="0" indent="0" algn="l" rtl="0">
                        <a:spcBef>
                          <a:spcPts val="0"/>
                        </a:spcBef>
                        <a:spcAft>
                          <a:spcPts val="0"/>
                        </a:spcAft>
                        <a:buClr>
                          <a:srgbClr val="1E293B"/>
                        </a:buClr>
                        <a:buSzPts val="1200"/>
                        <a:buFont typeface="Calibri"/>
                        <a:buNone/>
                      </a:pPr>
                      <a:r>
                        <a:rPr lang="en-US" sz="1200" u="none" strike="noStrike" cap="none">
                          <a:solidFill>
                            <a:srgbClr val="1E293B"/>
                          </a:solidFill>
                          <a:latin typeface="Calibri"/>
                          <a:ea typeface="Calibri"/>
                          <a:cs typeface="Calibri"/>
                          <a:sym typeface="Calibri"/>
                        </a:rPr>
                        <a:t>1000 × 400</a:t>
                      </a:r>
                      <a:endParaRPr sz="1200" u="none" strike="noStrike" cap="none">
                        <a:latin typeface="Calibri"/>
                        <a:ea typeface="Calibri"/>
                        <a:cs typeface="Calibri"/>
                        <a:sym typeface="Calibri"/>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105" name="Google Shape;105;p4"/>
          <p:cNvSpPr/>
          <p:nvPr/>
        </p:nvSpPr>
        <p:spPr>
          <a:xfrm>
            <a:off x="640080" y="4937760"/>
            <a:ext cx="11247120" cy="1371600"/>
          </a:xfrm>
          <a:prstGeom prst="rect">
            <a:avLst/>
          </a:prstGeom>
          <a:solidFill>
            <a:srgbClr val="F4F7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4"/>
          <p:cNvSpPr/>
          <p:nvPr/>
        </p:nvSpPr>
        <p:spPr>
          <a:xfrm>
            <a:off x="640080" y="4937760"/>
            <a:ext cx="109728" cy="1371600"/>
          </a:xfrm>
          <a:prstGeom prst="rect">
            <a:avLst/>
          </a:prstGeom>
          <a:solidFill>
            <a:srgbClr val="1C72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4"/>
          <p:cNvSpPr/>
          <p:nvPr/>
        </p:nvSpPr>
        <p:spPr>
          <a:xfrm>
            <a:off x="868680" y="5029200"/>
            <a:ext cx="7315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CHOIX PRATIQUE</a:t>
            </a:r>
            <a:endParaRPr sz="1100">
              <a:solidFill>
                <a:schemeClr val="dk1"/>
              </a:solidFill>
              <a:latin typeface="Calibri"/>
              <a:ea typeface="Calibri"/>
              <a:cs typeface="Calibri"/>
              <a:sym typeface="Calibri"/>
            </a:endParaRPr>
          </a:p>
        </p:txBody>
      </p:sp>
      <p:sp>
        <p:nvSpPr>
          <p:cNvPr id="108" name="Google Shape;108;p4"/>
          <p:cNvSpPr/>
          <p:nvPr/>
        </p:nvSpPr>
        <p:spPr>
          <a:xfrm>
            <a:off x="868680" y="5349240"/>
            <a:ext cx="1097280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Travail sur un échantillon de 50 000 CpG (au lieu de 894k) pour limiter les coûts mémoire, calcul tout en conservant une couverture pertinente. Données déjà normalisées et filtrées en amont par le CHU.</a:t>
            </a:r>
            <a:endParaRPr sz="13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3"/>
        <p:cNvGrpSpPr/>
        <p:nvPr/>
      </p:nvGrpSpPr>
      <p:grpSpPr>
        <a:xfrm>
          <a:off x="0" y="0"/>
          <a:ext cx="0" cy="0"/>
          <a:chOff x="0" y="0"/>
          <a:chExt cx="0" cy="0"/>
        </a:xfrm>
      </p:grpSpPr>
      <p:sp>
        <p:nvSpPr>
          <p:cNvPr id="114" name="Google Shape;114;p5"/>
          <p:cNvSpPr/>
          <p:nvPr/>
        </p:nvSpPr>
        <p:spPr>
          <a:xfrm>
            <a:off x="457200" y="228600"/>
            <a:ext cx="91440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PARTIE II · EDA</a:t>
            </a:r>
            <a:endParaRPr sz="1100">
              <a:solidFill>
                <a:schemeClr val="dk1"/>
              </a:solidFill>
              <a:latin typeface="Calibri"/>
              <a:ea typeface="Calibri"/>
              <a:cs typeface="Calibri"/>
              <a:sym typeface="Calibri"/>
            </a:endParaRPr>
          </a:p>
        </p:txBody>
      </p:sp>
      <p:sp>
        <p:nvSpPr>
          <p:cNvPr id="115" name="Google Shape;115;p5"/>
          <p:cNvSpPr/>
          <p:nvPr/>
        </p:nvSpPr>
        <p:spPr>
          <a:xfrm>
            <a:off x="10972800" y="228600"/>
            <a:ext cx="914400" cy="32004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5 / 16</a:t>
            </a:r>
            <a:endParaRPr sz="1000">
              <a:solidFill>
                <a:schemeClr val="dk1"/>
              </a:solidFill>
              <a:latin typeface="Calibri"/>
              <a:ea typeface="Calibri"/>
              <a:cs typeface="Calibri"/>
              <a:sym typeface="Calibri"/>
            </a:endParaRPr>
          </a:p>
        </p:txBody>
      </p:sp>
      <p:sp>
        <p:nvSpPr>
          <p:cNvPr id="116" name="Google Shape;116;p5"/>
          <p:cNvSpPr/>
          <p:nvPr/>
        </p:nvSpPr>
        <p:spPr>
          <a:xfrm>
            <a:off x="457200" y="502920"/>
            <a:ext cx="1124712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3000"/>
              <a:buFont typeface="Georgia"/>
              <a:buNone/>
            </a:pPr>
            <a:r>
              <a:rPr lang="en-US" sz="3000" b="1">
                <a:solidFill>
                  <a:srgbClr val="21295C"/>
                </a:solidFill>
                <a:latin typeface="Georgia"/>
                <a:ea typeface="Georgia"/>
                <a:cs typeface="Georgia"/>
                <a:sym typeface="Georgia"/>
              </a:rPr>
              <a:t>Distribution de l'âge chronologique (n = 400)</a:t>
            </a:r>
            <a:endParaRPr sz="3000">
              <a:solidFill>
                <a:schemeClr val="dk1"/>
              </a:solidFill>
              <a:latin typeface="Calibri"/>
              <a:ea typeface="Calibri"/>
              <a:cs typeface="Calibri"/>
              <a:sym typeface="Calibri"/>
            </a:endParaRPr>
          </a:p>
        </p:txBody>
      </p:sp>
      <p:sp>
        <p:nvSpPr>
          <p:cNvPr id="117" name="Google Shape;117;p5"/>
          <p:cNvSpPr/>
          <p:nvPr/>
        </p:nvSpPr>
        <p:spPr>
          <a:xfrm>
            <a:off x="457200" y="6537960"/>
            <a:ext cx="1124712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Prédiction âge biologique · Méthylation ADN · Master 1 UCA 2025-2026</a:t>
            </a:r>
            <a:endParaRPr sz="900">
              <a:solidFill>
                <a:schemeClr val="dk1"/>
              </a:solidFill>
              <a:latin typeface="Calibri"/>
              <a:ea typeface="Calibri"/>
              <a:cs typeface="Calibri"/>
              <a:sym typeface="Calibri"/>
            </a:endParaRPr>
          </a:p>
        </p:txBody>
      </p:sp>
      <p:graphicFrame>
        <p:nvGraphicFramePr>
          <p:cNvPr id="118" name="Google Shape;118;p5"/>
          <p:cNvGraphicFramePr/>
          <p:nvPr/>
        </p:nvGraphicFramePr>
        <p:xfrm>
          <a:off x="640080" y="1508760"/>
          <a:ext cx="713232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119" name="Google Shape;119;p5"/>
          <p:cNvSpPr/>
          <p:nvPr/>
        </p:nvSpPr>
        <p:spPr>
          <a:xfrm>
            <a:off x="8138160" y="1508760"/>
            <a:ext cx="384048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65A82"/>
              </a:buClr>
              <a:buSzPts val="1700"/>
              <a:buFont typeface="Georgia"/>
              <a:buNone/>
            </a:pPr>
            <a:r>
              <a:rPr lang="en-US" sz="1700" b="1">
                <a:solidFill>
                  <a:srgbClr val="065A82"/>
                </a:solidFill>
                <a:latin typeface="Georgia"/>
                <a:ea typeface="Georgia"/>
                <a:cs typeface="Georgia"/>
                <a:sym typeface="Georgia"/>
              </a:rPr>
              <a:t>Statistiques descriptives</a:t>
            </a:r>
            <a:endParaRPr sz="1700">
              <a:solidFill>
                <a:schemeClr val="dk1"/>
              </a:solidFill>
              <a:latin typeface="Calibri"/>
              <a:ea typeface="Calibri"/>
              <a:cs typeface="Calibri"/>
              <a:sym typeface="Calibri"/>
            </a:endParaRPr>
          </a:p>
        </p:txBody>
      </p:sp>
      <p:sp>
        <p:nvSpPr>
          <p:cNvPr id="120" name="Google Shape;120;p5"/>
          <p:cNvSpPr/>
          <p:nvPr/>
        </p:nvSpPr>
        <p:spPr>
          <a:xfrm>
            <a:off x="8138160" y="2011680"/>
            <a:ext cx="201168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Moyenne</a:t>
            </a:r>
            <a:endParaRPr sz="1200">
              <a:solidFill>
                <a:schemeClr val="dk1"/>
              </a:solidFill>
              <a:latin typeface="Calibri"/>
              <a:ea typeface="Calibri"/>
              <a:cs typeface="Calibri"/>
              <a:sym typeface="Calibri"/>
            </a:endParaRPr>
          </a:p>
        </p:txBody>
      </p:sp>
      <p:sp>
        <p:nvSpPr>
          <p:cNvPr id="121" name="Google Shape;121;p5"/>
          <p:cNvSpPr/>
          <p:nvPr/>
        </p:nvSpPr>
        <p:spPr>
          <a:xfrm>
            <a:off x="10149840" y="2011680"/>
            <a:ext cx="1828800" cy="41148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E293B"/>
              </a:buClr>
              <a:buSzPts val="1300"/>
              <a:buFont typeface="Calibri"/>
              <a:buNone/>
            </a:pPr>
            <a:r>
              <a:rPr lang="en-US" sz="1300" b="1">
                <a:solidFill>
                  <a:srgbClr val="1E293B"/>
                </a:solidFill>
                <a:latin typeface="Calibri"/>
                <a:ea typeface="Calibri"/>
                <a:cs typeface="Calibri"/>
                <a:sym typeface="Calibri"/>
              </a:rPr>
              <a:t>52,95 ans</a:t>
            </a:r>
            <a:endParaRPr sz="1300">
              <a:solidFill>
                <a:schemeClr val="dk1"/>
              </a:solidFill>
              <a:latin typeface="Calibri"/>
              <a:ea typeface="Calibri"/>
              <a:cs typeface="Calibri"/>
              <a:sym typeface="Calibri"/>
            </a:endParaRPr>
          </a:p>
        </p:txBody>
      </p:sp>
      <p:cxnSp>
        <p:nvCxnSpPr>
          <p:cNvPr id="122" name="Google Shape;122;p5"/>
          <p:cNvCxnSpPr/>
          <p:nvPr/>
        </p:nvCxnSpPr>
        <p:spPr>
          <a:xfrm>
            <a:off x="8138160" y="2450592"/>
            <a:ext cx="3840480" cy="0"/>
          </a:xfrm>
          <a:prstGeom prst="straightConnector1">
            <a:avLst/>
          </a:prstGeom>
          <a:noFill/>
          <a:ln w="9525" cap="flat" cmpd="sng">
            <a:solidFill>
              <a:srgbClr val="E2E8F0"/>
            </a:solidFill>
            <a:prstDash val="solid"/>
            <a:round/>
            <a:headEnd type="none" w="sm" len="sm"/>
            <a:tailEnd type="none" w="sm" len="sm"/>
          </a:ln>
        </p:spPr>
      </p:cxnSp>
      <p:sp>
        <p:nvSpPr>
          <p:cNvPr id="123" name="Google Shape;123;p5"/>
          <p:cNvSpPr/>
          <p:nvPr/>
        </p:nvSpPr>
        <p:spPr>
          <a:xfrm>
            <a:off x="8138160" y="2514600"/>
            <a:ext cx="201168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Médiane</a:t>
            </a:r>
            <a:endParaRPr sz="1200">
              <a:solidFill>
                <a:schemeClr val="dk1"/>
              </a:solidFill>
              <a:latin typeface="Calibri"/>
              <a:ea typeface="Calibri"/>
              <a:cs typeface="Calibri"/>
              <a:sym typeface="Calibri"/>
            </a:endParaRPr>
          </a:p>
        </p:txBody>
      </p:sp>
      <p:sp>
        <p:nvSpPr>
          <p:cNvPr id="124" name="Google Shape;124;p5"/>
          <p:cNvSpPr/>
          <p:nvPr/>
        </p:nvSpPr>
        <p:spPr>
          <a:xfrm>
            <a:off x="10149840" y="2514600"/>
            <a:ext cx="1828800" cy="41148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E293B"/>
              </a:buClr>
              <a:buSzPts val="1300"/>
              <a:buFont typeface="Calibri"/>
              <a:buNone/>
            </a:pPr>
            <a:r>
              <a:rPr lang="en-US" sz="1300" b="1">
                <a:solidFill>
                  <a:srgbClr val="1E293B"/>
                </a:solidFill>
                <a:latin typeface="Calibri"/>
                <a:ea typeface="Calibri"/>
                <a:cs typeface="Calibri"/>
                <a:sym typeface="Calibri"/>
              </a:rPr>
              <a:t>53,55 ans</a:t>
            </a:r>
            <a:endParaRPr sz="1300">
              <a:solidFill>
                <a:schemeClr val="dk1"/>
              </a:solidFill>
              <a:latin typeface="Calibri"/>
              <a:ea typeface="Calibri"/>
              <a:cs typeface="Calibri"/>
              <a:sym typeface="Calibri"/>
            </a:endParaRPr>
          </a:p>
        </p:txBody>
      </p:sp>
      <p:cxnSp>
        <p:nvCxnSpPr>
          <p:cNvPr id="125" name="Google Shape;125;p5"/>
          <p:cNvCxnSpPr/>
          <p:nvPr/>
        </p:nvCxnSpPr>
        <p:spPr>
          <a:xfrm>
            <a:off x="8138160" y="2953512"/>
            <a:ext cx="3840480" cy="0"/>
          </a:xfrm>
          <a:prstGeom prst="straightConnector1">
            <a:avLst/>
          </a:prstGeom>
          <a:noFill/>
          <a:ln w="9525" cap="flat" cmpd="sng">
            <a:solidFill>
              <a:srgbClr val="E2E8F0"/>
            </a:solidFill>
            <a:prstDash val="solid"/>
            <a:round/>
            <a:headEnd type="none" w="sm" len="sm"/>
            <a:tailEnd type="none" w="sm" len="sm"/>
          </a:ln>
        </p:spPr>
      </p:cxnSp>
      <p:sp>
        <p:nvSpPr>
          <p:cNvPr id="126" name="Google Shape;126;p5"/>
          <p:cNvSpPr/>
          <p:nvPr/>
        </p:nvSpPr>
        <p:spPr>
          <a:xfrm>
            <a:off x="8138160" y="3017520"/>
            <a:ext cx="201168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Écart-type</a:t>
            </a:r>
            <a:endParaRPr sz="1200">
              <a:solidFill>
                <a:schemeClr val="dk1"/>
              </a:solidFill>
              <a:latin typeface="Calibri"/>
              <a:ea typeface="Calibri"/>
              <a:cs typeface="Calibri"/>
              <a:sym typeface="Calibri"/>
            </a:endParaRPr>
          </a:p>
        </p:txBody>
      </p:sp>
      <p:sp>
        <p:nvSpPr>
          <p:cNvPr id="127" name="Google Shape;127;p5"/>
          <p:cNvSpPr/>
          <p:nvPr/>
        </p:nvSpPr>
        <p:spPr>
          <a:xfrm>
            <a:off x="10149840" y="3017520"/>
            <a:ext cx="1828800" cy="41148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E293B"/>
              </a:buClr>
              <a:buSzPts val="1300"/>
              <a:buFont typeface="Calibri"/>
              <a:buNone/>
            </a:pPr>
            <a:r>
              <a:rPr lang="en-US" sz="1300" b="1">
                <a:solidFill>
                  <a:srgbClr val="1E293B"/>
                </a:solidFill>
                <a:latin typeface="Calibri"/>
                <a:ea typeface="Calibri"/>
                <a:cs typeface="Calibri"/>
                <a:sym typeface="Calibri"/>
              </a:rPr>
              <a:t>21,24 ans</a:t>
            </a:r>
            <a:endParaRPr sz="1300">
              <a:solidFill>
                <a:schemeClr val="dk1"/>
              </a:solidFill>
              <a:latin typeface="Calibri"/>
              <a:ea typeface="Calibri"/>
              <a:cs typeface="Calibri"/>
              <a:sym typeface="Calibri"/>
            </a:endParaRPr>
          </a:p>
        </p:txBody>
      </p:sp>
      <p:cxnSp>
        <p:nvCxnSpPr>
          <p:cNvPr id="128" name="Google Shape;128;p5"/>
          <p:cNvCxnSpPr/>
          <p:nvPr/>
        </p:nvCxnSpPr>
        <p:spPr>
          <a:xfrm>
            <a:off x="8138160" y="3456432"/>
            <a:ext cx="3840480" cy="0"/>
          </a:xfrm>
          <a:prstGeom prst="straightConnector1">
            <a:avLst/>
          </a:prstGeom>
          <a:noFill/>
          <a:ln w="9525" cap="flat" cmpd="sng">
            <a:solidFill>
              <a:srgbClr val="E2E8F0"/>
            </a:solidFill>
            <a:prstDash val="solid"/>
            <a:round/>
            <a:headEnd type="none" w="sm" len="sm"/>
            <a:tailEnd type="none" w="sm" len="sm"/>
          </a:ln>
        </p:spPr>
      </p:cxnSp>
      <p:sp>
        <p:nvSpPr>
          <p:cNvPr id="129" name="Google Shape;129;p5"/>
          <p:cNvSpPr/>
          <p:nvPr/>
        </p:nvSpPr>
        <p:spPr>
          <a:xfrm>
            <a:off x="8138160" y="3520440"/>
            <a:ext cx="201168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Min – Max</a:t>
            </a:r>
            <a:endParaRPr sz="1200">
              <a:solidFill>
                <a:schemeClr val="dk1"/>
              </a:solidFill>
              <a:latin typeface="Calibri"/>
              <a:ea typeface="Calibri"/>
              <a:cs typeface="Calibri"/>
              <a:sym typeface="Calibri"/>
            </a:endParaRPr>
          </a:p>
        </p:txBody>
      </p:sp>
      <p:sp>
        <p:nvSpPr>
          <p:cNvPr id="130" name="Google Shape;130;p5"/>
          <p:cNvSpPr/>
          <p:nvPr/>
        </p:nvSpPr>
        <p:spPr>
          <a:xfrm>
            <a:off x="10149840" y="3520440"/>
            <a:ext cx="1828800" cy="41148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E293B"/>
              </a:buClr>
              <a:buSzPts val="1300"/>
              <a:buFont typeface="Calibri"/>
              <a:buNone/>
            </a:pPr>
            <a:r>
              <a:rPr lang="en-US" sz="1300" b="1">
                <a:solidFill>
                  <a:srgbClr val="1E293B"/>
                </a:solidFill>
                <a:latin typeface="Calibri"/>
                <a:ea typeface="Calibri"/>
                <a:cs typeface="Calibri"/>
                <a:sym typeface="Calibri"/>
              </a:rPr>
              <a:t>18 – 90</a:t>
            </a:r>
            <a:endParaRPr sz="1300">
              <a:solidFill>
                <a:schemeClr val="dk1"/>
              </a:solidFill>
              <a:latin typeface="Calibri"/>
              <a:ea typeface="Calibri"/>
              <a:cs typeface="Calibri"/>
              <a:sym typeface="Calibri"/>
            </a:endParaRPr>
          </a:p>
        </p:txBody>
      </p:sp>
      <p:cxnSp>
        <p:nvCxnSpPr>
          <p:cNvPr id="131" name="Google Shape;131;p5"/>
          <p:cNvCxnSpPr/>
          <p:nvPr/>
        </p:nvCxnSpPr>
        <p:spPr>
          <a:xfrm>
            <a:off x="8138160" y="3959352"/>
            <a:ext cx="3840480" cy="0"/>
          </a:xfrm>
          <a:prstGeom prst="straightConnector1">
            <a:avLst/>
          </a:prstGeom>
          <a:noFill/>
          <a:ln w="9525" cap="flat" cmpd="sng">
            <a:solidFill>
              <a:srgbClr val="E2E8F0"/>
            </a:solidFill>
            <a:prstDash val="solid"/>
            <a:round/>
            <a:headEnd type="none" w="sm" len="sm"/>
            <a:tailEnd type="none" w="sm" len="sm"/>
          </a:ln>
        </p:spPr>
      </p:cxnSp>
      <p:sp>
        <p:nvSpPr>
          <p:cNvPr id="132" name="Google Shape;132;p5"/>
          <p:cNvSpPr/>
          <p:nvPr/>
        </p:nvSpPr>
        <p:spPr>
          <a:xfrm>
            <a:off x="8138160" y="4023360"/>
            <a:ext cx="201168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Q1 – Q3</a:t>
            </a:r>
            <a:endParaRPr sz="1200">
              <a:solidFill>
                <a:schemeClr val="dk1"/>
              </a:solidFill>
              <a:latin typeface="Calibri"/>
              <a:ea typeface="Calibri"/>
              <a:cs typeface="Calibri"/>
              <a:sym typeface="Calibri"/>
            </a:endParaRPr>
          </a:p>
        </p:txBody>
      </p:sp>
      <p:sp>
        <p:nvSpPr>
          <p:cNvPr id="133" name="Google Shape;133;p5"/>
          <p:cNvSpPr/>
          <p:nvPr/>
        </p:nvSpPr>
        <p:spPr>
          <a:xfrm>
            <a:off x="10149840" y="4023360"/>
            <a:ext cx="1828800" cy="41148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E293B"/>
              </a:buClr>
              <a:buSzPts val="1300"/>
              <a:buFont typeface="Calibri"/>
              <a:buNone/>
            </a:pPr>
            <a:r>
              <a:rPr lang="en-US" sz="1300" b="1">
                <a:solidFill>
                  <a:srgbClr val="1E293B"/>
                </a:solidFill>
                <a:latin typeface="Calibri"/>
                <a:ea typeface="Calibri"/>
                <a:cs typeface="Calibri"/>
                <a:sym typeface="Calibri"/>
              </a:rPr>
              <a:t>34,0 – 72,2</a:t>
            </a:r>
            <a:endParaRPr sz="1300">
              <a:solidFill>
                <a:schemeClr val="dk1"/>
              </a:solidFill>
              <a:latin typeface="Calibri"/>
              <a:ea typeface="Calibri"/>
              <a:cs typeface="Calibri"/>
              <a:sym typeface="Calibri"/>
            </a:endParaRPr>
          </a:p>
        </p:txBody>
      </p:sp>
      <p:cxnSp>
        <p:nvCxnSpPr>
          <p:cNvPr id="134" name="Google Shape;134;p5"/>
          <p:cNvCxnSpPr/>
          <p:nvPr/>
        </p:nvCxnSpPr>
        <p:spPr>
          <a:xfrm>
            <a:off x="8138160" y="4462272"/>
            <a:ext cx="3840480" cy="0"/>
          </a:xfrm>
          <a:prstGeom prst="straightConnector1">
            <a:avLst/>
          </a:prstGeom>
          <a:noFill/>
          <a:ln w="9525" cap="flat" cmpd="sng">
            <a:solidFill>
              <a:srgbClr val="E2E8F0"/>
            </a:solidFill>
            <a:prstDash val="solid"/>
            <a:round/>
            <a:headEnd type="none" w="sm" len="sm"/>
            <a:tailEnd type="none" w="sm" len="sm"/>
          </a:ln>
        </p:spPr>
      </p:cxnSp>
      <p:sp>
        <p:nvSpPr>
          <p:cNvPr id="135" name="Google Shape;135;p5"/>
          <p:cNvSpPr/>
          <p:nvPr/>
        </p:nvSpPr>
        <p:spPr>
          <a:xfrm>
            <a:off x="8138160" y="4526280"/>
            <a:ext cx="201168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200"/>
              <a:buFont typeface="Calibri"/>
              <a:buNone/>
            </a:pPr>
            <a:r>
              <a:rPr lang="en-US" sz="1200">
                <a:solidFill>
                  <a:srgbClr val="64748B"/>
                </a:solidFill>
                <a:latin typeface="Calibri"/>
                <a:ea typeface="Calibri"/>
                <a:cs typeface="Calibri"/>
                <a:sym typeface="Calibri"/>
              </a:rPr>
              <a:t>Asymétrie</a:t>
            </a:r>
            <a:endParaRPr sz="1200">
              <a:solidFill>
                <a:schemeClr val="dk1"/>
              </a:solidFill>
              <a:latin typeface="Calibri"/>
              <a:ea typeface="Calibri"/>
              <a:cs typeface="Calibri"/>
              <a:sym typeface="Calibri"/>
            </a:endParaRPr>
          </a:p>
        </p:txBody>
      </p:sp>
      <p:sp>
        <p:nvSpPr>
          <p:cNvPr id="136" name="Google Shape;136;p5"/>
          <p:cNvSpPr/>
          <p:nvPr/>
        </p:nvSpPr>
        <p:spPr>
          <a:xfrm>
            <a:off x="10149840" y="4526280"/>
            <a:ext cx="1828800" cy="41148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E293B"/>
              </a:buClr>
              <a:buSzPts val="1300"/>
              <a:buFont typeface="Calibri"/>
              <a:buNone/>
            </a:pPr>
            <a:r>
              <a:rPr lang="en-US" sz="1300" b="1">
                <a:solidFill>
                  <a:srgbClr val="1E293B"/>
                </a:solidFill>
                <a:latin typeface="Calibri"/>
                <a:ea typeface="Calibri"/>
                <a:cs typeface="Calibri"/>
                <a:sym typeface="Calibri"/>
              </a:rPr>
              <a:t>0,003</a:t>
            </a:r>
            <a:endParaRPr sz="1300">
              <a:solidFill>
                <a:schemeClr val="dk1"/>
              </a:solidFill>
              <a:latin typeface="Calibri"/>
              <a:ea typeface="Calibri"/>
              <a:cs typeface="Calibri"/>
              <a:sym typeface="Calibri"/>
            </a:endParaRPr>
          </a:p>
        </p:txBody>
      </p:sp>
      <p:cxnSp>
        <p:nvCxnSpPr>
          <p:cNvPr id="137" name="Google Shape;137;p5"/>
          <p:cNvCxnSpPr/>
          <p:nvPr/>
        </p:nvCxnSpPr>
        <p:spPr>
          <a:xfrm>
            <a:off x="8138160" y="4965192"/>
            <a:ext cx="3840480" cy="0"/>
          </a:xfrm>
          <a:prstGeom prst="straightConnector1">
            <a:avLst/>
          </a:prstGeom>
          <a:noFill/>
          <a:ln w="9525" cap="flat" cmpd="sng">
            <a:solidFill>
              <a:srgbClr val="E2E8F0"/>
            </a:solidFill>
            <a:prstDash val="solid"/>
            <a:round/>
            <a:headEnd type="none" w="sm" len="sm"/>
            <a:tailEnd type="none" w="sm" len="sm"/>
          </a:ln>
        </p:spPr>
      </p:cxnSp>
      <p:sp>
        <p:nvSpPr>
          <p:cNvPr id="138" name="Google Shape;138;p5"/>
          <p:cNvSpPr/>
          <p:nvPr/>
        </p:nvSpPr>
        <p:spPr>
          <a:xfrm>
            <a:off x="640080" y="5760720"/>
            <a:ext cx="11247120" cy="640080"/>
          </a:xfrm>
          <a:prstGeom prst="rect">
            <a:avLst/>
          </a:prstGeom>
          <a:solidFill>
            <a:srgbClr val="F4F7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5"/>
          <p:cNvSpPr/>
          <p:nvPr/>
        </p:nvSpPr>
        <p:spPr>
          <a:xfrm>
            <a:off x="868680" y="5806440"/>
            <a:ext cx="109728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2B705"/>
              </a:buClr>
              <a:buSzPts val="1200"/>
              <a:buFont typeface="Calibri"/>
              <a:buNone/>
            </a:pPr>
            <a:r>
              <a:rPr lang="en-US" sz="1200" b="1" i="1">
                <a:solidFill>
                  <a:srgbClr val="F2B705"/>
                </a:solidFill>
                <a:latin typeface="Calibri"/>
                <a:ea typeface="Calibri"/>
                <a:cs typeface="Calibri"/>
                <a:sym typeface="Calibri"/>
              </a:rPr>
              <a:t>Lecture   </a:t>
            </a:r>
            <a:r>
              <a:rPr lang="en-US" sz="1200" i="1">
                <a:solidFill>
                  <a:srgbClr val="1E293B"/>
                </a:solidFill>
                <a:latin typeface="Calibri"/>
                <a:ea typeface="Calibri"/>
                <a:cs typeface="Calibri"/>
                <a:sym typeface="Calibri"/>
              </a:rPr>
              <a:t>Distribution quasi-uniforme sur 18–90 ans · asymétrie ≈ 0 · normalité plausible (Shapiro non rejetée sur échantillon)</a:t>
            </a:r>
            <a:endParaRPr sz="12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4"/>
        <p:cNvGrpSpPr/>
        <p:nvPr/>
      </p:nvGrpSpPr>
      <p:grpSpPr>
        <a:xfrm>
          <a:off x="0" y="0"/>
          <a:ext cx="0" cy="0"/>
          <a:chOff x="0" y="0"/>
          <a:chExt cx="0" cy="0"/>
        </a:xfrm>
      </p:grpSpPr>
      <p:sp>
        <p:nvSpPr>
          <p:cNvPr id="145" name="Google Shape;145;p6"/>
          <p:cNvSpPr/>
          <p:nvPr/>
        </p:nvSpPr>
        <p:spPr>
          <a:xfrm>
            <a:off x="457200" y="228600"/>
            <a:ext cx="91440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PARTIE II · EDA</a:t>
            </a:r>
            <a:endParaRPr sz="1100">
              <a:solidFill>
                <a:schemeClr val="dk1"/>
              </a:solidFill>
              <a:latin typeface="Calibri"/>
              <a:ea typeface="Calibri"/>
              <a:cs typeface="Calibri"/>
              <a:sym typeface="Calibri"/>
            </a:endParaRPr>
          </a:p>
        </p:txBody>
      </p:sp>
      <p:sp>
        <p:nvSpPr>
          <p:cNvPr id="146" name="Google Shape;146;p6"/>
          <p:cNvSpPr/>
          <p:nvPr/>
        </p:nvSpPr>
        <p:spPr>
          <a:xfrm>
            <a:off x="10972800" y="228600"/>
            <a:ext cx="914400" cy="32004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6 / 16</a:t>
            </a:r>
            <a:endParaRPr sz="1000">
              <a:solidFill>
                <a:schemeClr val="dk1"/>
              </a:solidFill>
              <a:latin typeface="Calibri"/>
              <a:ea typeface="Calibri"/>
              <a:cs typeface="Calibri"/>
              <a:sym typeface="Calibri"/>
            </a:endParaRPr>
          </a:p>
        </p:txBody>
      </p:sp>
      <p:sp>
        <p:nvSpPr>
          <p:cNvPr id="147" name="Google Shape;147;p6"/>
          <p:cNvSpPr/>
          <p:nvPr/>
        </p:nvSpPr>
        <p:spPr>
          <a:xfrm>
            <a:off x="457200" y="502920"/>
            <a:ext cx="1124712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3000"/>
              <a:buFont typeface="Georgia"/>
              <a:buNone/>
            </a:pPr>
            <a:r>
              <a:rPr lang="en-US" sz="3000" b="1">
                <a:solidFill>
                  <a:srgbClr val="21295C"/>
                </a:solidFill>
                <a:latin typeface="Georgia"/>
                <a:ea typeface="Georgia"/>
                <a:cs typeface="Georgia"/>
                <a:sym typeface="Georgia"/>
              </a:rPr>
              <a:t>Distribution de l'âge chronologique (n = 400)</a:t>
            </a:r>
            <a:endParaRPr sz="3000">
              <a:solidFill>
                <a:schemeClr val="dk1"/>
              </a:solidFill>
              <a:latin typeface="Calibri"/>
              <a:ea typeface="Calibri"/>
              <a:cs typeface="Calibri"/>
              <a:sym typeface="Calibri"/>
            </a:endParaRPr>
          </a:p>
        </p:txBody>
      </p:sp>
      <p:sp>
        <p:nvSpPr>
          <p:cNvPr id="148" name="Google Shape;148;p6"/>
          <p:cNvSpPr/>
          <p:nvPr/>
        </p:nvSpPr>
        <p:spPr>
          <a:xfrm>
            <a:off x="457200" y="6537960"/>
            <a:ext cx="1124712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Prédiction âge biologique · Méthylation ADN · Master 1 UCA 2025-2026</a:t>
            </a:r>
            <a:endParaRPr sz="900">
              <a:solidFill>
                <a:schemeClr val="dk1"/>
              </a:solidFill>
              <a:latin typeface="Calibri"/>
              <a:ea typeface="Calibri"/>
              <a:cs typeface="Calibri"/>
              <a:sym typeface="Calibri"/>
            </a:endParaRPr>
          </a:p>
        </p:txBody>
      </p:sp>
      <p:sp>
        <p:nvSpPr>
          <p:cNvPr id="149" name="Google Shape;149;p6"/>
          <p:cNvSpPr/>
          <p:nvPr/>
        </p:nvSpPr>
        <p:spPr>
          <a:xfrm>
            <a:off x="640080" y="5760720"/>
            <a:ext cx="11247120" cy="640080"/>
          </a:xfrm>
          <a:prstGeom prst="rect">
            <a:avLst/>
          </a:prstGeom>
          <a:solidFill>
            <a:srgbClr val="F4F7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6"/>
          <p:cNvSpPr/>
          <p:nvPr/>
        </p:nvSpPr>
        <p:spPr>
          <a:xfrm>
            <a:off x="868680" y="5806440"/>
            <a:ext cx="109728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2B705"/>
              </a:buClr>
              <a:buSzPts val="1200"/>
              <a:buFont typeface="Calibri"/>
              <a:buNone/>
            </a:pPr>
            <a:r>
              <a:rPr lang="en-US" sz="1200" b="1" i="1">
                <a:solidFill>
                  <a:srgbClr val="F2B705"/>
                </a:solidFill>
                <a:latin typeface="Calibri"/>
                <a:ea typeface="Calibri"/>
                <a:cs typeface="Calibri"/>
                <a:sym typeface="Calibri"/>
              </a:rPr>
              <a:t>Lecture   </a:t>
            </a:r>
            <a:r>
              <a:rPr lang="en-US" sz="1200" i="1">
                <a:solidFill>
                  <a:srgbClr val="1E293B"/>
                </a:solidFill>
                <a:latin typeface="Calibri"/>
                <a:ea typeface="Calibri"/>
                <a:cs typeface="Calibri"/>
                <a:sym typeface="Calibri"/>
              </a:rPr>
              <a:t>Distribution quasi-uniforme sur 18–90 ans · asymétrie ≈ 0 · normalité plausible (Shapiro non rejetée sur échantillon)</a:t>
            </a:r>
            <a:endParaRPr sz="1200">
              <a:solidFill>
                <a:schemeClr val="dk1"/>
              </a:solidFill>
              <a:latin typeface="Calibri"/>
              <a:ea typeface="Calibri"/>
              <a:cs typeface="Calibri"/>
              <a:sym typeface="Calibri"/>
            </a:endParaRPr>
          </a:p>
        </p:txBody>
      </p:sp>
      <p:pic>
        <p:nvPicPr>
          <p:cNvPr id="151" name="Google Shape;151;p6" title="output.png"/>
          <p:cNvPicPr preferRelativeResize="0"/>
          <p:nvPr/>
        </p:nvPicPr>
        <p:blipFill>
          <a:blip r:embed="rId3">
            <a:alphaModFix/>
          </a:blip>
          <a:stretch>
            <a:fillRect/>
          </a:stretch>
        </p:blipFill>
        <p:spPr>
          <a:xfrm>
            <a:off x="457200" y="1386850"/>
            <a:ext cx="11384277" cy="4142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6"/>
        <p:cNvGrpSpPr/>
        <p:nvPr/>
      </p:nvGrpSpPr>
      <p:grpSpPr>
        <a:xfrm>
          <a:off x="0" y="0"/>
          <a:ext cx="0" cy="0"/>
          <a:chOff x="0" y="0"/>
          <a:chExt cx="0" cy="0"/>
        </a:xfrm>
      </p:grpSpPr>
      <p:sp>
        <p:nvSpPr>
          <p:cNvPr id="157" name="Google Shape;157;g3d90502f107_2_50"/>
          <p:cNvSpPr/>
          <p:nvPr/>
        </p:nvSpPr>
        <p:spPr>
          <a:xfrm>
            <a:off x="457200" y="228600"/>
            <a:ext cx="91440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PARTIE II · EDA</a:t>
            </a:r>
            <a:endParaRPr sz="1100">
              <a:solidFill>
                <a:schemeClr val="dk1"/>
              </a:solidFill>
              <a:latin typeface="Calibri"/>
              <a:ea typeface="Calibri"/>
              <a:cs typeface="Calibri"/>
              <a:sym typeface="Calibri"/>
            </a:endParaRPr>
          </a:p>
        </p:txBody>
      </p:sp>
      <p:sp>
        <p:nvSpPr>
          <p:cNvPr id="158" name="Google Shape;158;g3d90502f107_2_50"/>
          <p:cNvSpPr/>
          <p:nvPr/>
        </p:nvSpPr>
        <p:spPr>
          <a:xfrm>
            <a:off x="10972800" y="228600"/>
            <a:ext cx="914400" cy="3201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7/ 16</a:t>
            </a:r>
            <a:endParaRPr sz="1000">
              <a:solidFill>
                <a:schemeClr val="dk1"/>
              </a:solidFill>
              <a:latin typeface="Calibri"/>
              <a:ea typeface="Calibri"/>
              <a:cs typeface="Calibri"/>
              <a:sym typeface="Calibri"/>
            </a:endParaRPr>
          </a:p>
        </p:txBody>
      </p:sp>
      <p:sp>
        <p:nvSpPr>
          <p:cNvPr id="159" name="Google Shape;159;g3d90502f107_2_50"/>
          <p:cNvSpPr/>
          <p:nvPr/>
        </p:nvSpPr>
        <p:spPr>
          <a:xfrm>
            <a:off x="457200" y="502920"/>
            <a:ext cx="11247000" cy="731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3000"/>
              <a:buFont typeface="Georgia"/>
              <a:buNone/>
            </a:pPr>
            <a:r>
              <a:rPr lang="en-US" sz="3000" b="1">
                <a:solidFill>
                  <a:srgbClr val="21295C"/>
                </a:solidFill>
                <a:latin typeface="Georgia"/>
                <a:ea typeface="Georgia"/>
                <a:cs typeface="Georgia"/>
                <a:sym typeface="Georgia"/>
              </a:rPr>
              <a:t>Distribution de l'âge chronologique (n = 400)</a:t>
            </a:r>
            <a:endParaRPr sz="3000">
              <a:solidFill>
                <a:schemeClr val="dk1"/>
              </a:solidFill>
              <a:latin typeface="Calibri"/>
              <a:ea typeface="Calibri"/>
              <a:cs typeface="Calibri"/>
              <a:sym typeface="Calibri"/>
            </a:endParaRPr>
          </a:p>
        </p:txBody>
      </p:sp>
      <p:sp>
        <p:nvSpPr>
          <p:cNvPr id="160" name="Google Shape;160;g3d90502f107_2_50"/>
          <p:cNvSpPr/>
          <p:nvPr/>
        </p:nvSpPr>
        <p:spPr>
          <a:xfrm>
            <a:off x="457200" y="6537960"/>
            <a:ext cx="112470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Prédiction âge biologique · Méthylation ADN · Master 1 UCA 2025-2026</a:t>
            </a:r>
            <a:endParaRPr sz="900">
              <a:solidFill>
                <a:schemeClr val="dk1"/>
              </a:solidFill>
              <a:latin typeface="Calibri"/>
              <a:ea typeface="Calibri"/>
              <a:cs typeface="Calibri"/>
              <a:sym typeface="Calibri"/>
            </a:endParaRPr>
          </a:p>
        </p:txBody>
      </p:sp>
      <p:sp>
        <p:nvSpPr>
          <p:cNvPr id="161" name="Google Shape;161;g3d90502f107_2_50"/>
          <p:cNvSpPr/>
          <p:nvPr/>
        </p:nvSpPr>
        <p:spPr>
          <a:xfrm>
            <a:off x="640080" y="5760720"/>
            <a:ext cx="11247000" cy="640200"/>
          </a:xfrm>
          <a:prstGeom prst="rect">
            <a:avLst/>
          </a:prstGeom>
          <a:solidFill>
            <a:srgbClr val="F4F7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g3d90502f107_2_50"/>
          <p:cNvSpPr/>
          <p:nvPr/>
        </p:nvSpPr>
        <p:spPr>
          <a:xfrm>
            <a:off x="868680" y="5806440"/>
            <a:ext cx="1097280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2B705"/>
              </a:buClr>
              <a:buSzPts val="1200"/>
              <a:buFont typeface="Calibri"/>
              <a:buNone/>
            </a:pPr>
            <a:r>
              <a:rPr lang="en-US" sz="1200" b="1" i="1">
                <a:solidFill>
                  <a:srgbClr val="F2B705"/>
                </a:solidFill>
                <a:latin typeface="Calibri"/>
                <a:ea typeface="Calibri"/>
                <a:cs typeface="Calibri"/>
                <a:sym typeface="Calibri"/>
              </a:rPr>
              <a:t>Lecture   </a:t>
            </a:r>
            <a:r>
              <a:rPr lang="en-US" sz="1200" i="1">
                <a:solidFill>
                  <a:srgbClr val="1E293B"/>
                </a:solidFill>
                <a:latin typeface="Calibri"/>
                <a:ea typeface="Calibri"/>
                <a:cs typeface="Calibri"/>
                <a:sym typeface="Calibri"/>
              </a:rPr>
              <a:t>Distribution quasi-uniforme sur 18–90 ans · asymétrie ≈ 0 · normalité plausible (Shapiro non rejetée sur échantillon)</a:t>
            </a:r>
            <a:endParaRPr sz="1200">
              <a:solidFill>
                <a:schemeClr val="dk1"/>
              </a:solidFill>
              <a:latin typeface="Calibri"/>
              <a:ea typeface="Calibri"/>
              <a:cs typeface="Calibri"/>
              <a:sym typeface="Calibri"/>
            </a:endParaRPr>
          </a:p>
        </p:txBody>
      </p:sp>
      <p:pic>
        <p:nvPicPr>
          <p:cNvPr id="163" name="Google Shape;163;g3d90502f107_2_50" title="000010.png"/>
          <p:cNvPicPr preferRelativeResize="0"/>
          <p:nvPr/>
        </p:nvPicPr>
        <p:blipFill>
          <a:blip r:embed="rId3">
            <a:alphaModFix/>
          </a:blip>
          <a:stretch>
            <a:fillRect/>
          </a:stretch>
        </p:blipFill>
        <p:spPr>
          <a:xfrm>
            <a:off x="868675" y="1348775"/>
            <a:ext cx="10062075" cy="4411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8"/>
        <p:cNvGrpSpPr/>
        <p:nvPr/>
      </p:nvGrpSpPr>
      <p:grpSpPr>
        <a:xfrm>
          <a:off x="0" y="0"/>
          <a:ext cx="0" cy="0"/>
          <a:chOff x="0" y="0"/>
          <a:chExt cx="0" cy="0"/>
        </a:xfrm>
      </p:grpSpPr>
      <p:sp>
        <p:nvSpPr>
          <p:cNvPr id="169" name="Google Shape;169;g3d90502f107_0_0"/>
          <p:cNvSpPr/>
          <p:nvPr/>
        </p:nvSpPr>
        <p:spPr>
          <a:xfrm>
            <a:off x="457200" y="228600"/>
            <a:ext cx="91440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PARTIE II · EDA</a:t>
            </a:r>
            <a:endParaRPr sz="1100">
              <a:solidFill>
                <a:schemeClr val="dk1"/>
              </a:solidFill>
              <a:latin typeface="Calibri"/>
              <a:ea typeface="Calibri"/>
              <a:cs typeface="Calibri"/>
              <a:sym typeface="Calibri"/>
            </a:endParaRPr>
          </a:p>
        </p:txBody>
      </p:sp>
      <p:sp>
        <p:nvSpPr>
          <p:cNvPr id="170" name="Google Shape;170;g3d90502f107_0_0"/>
          <p:cNvSpPr/>
          <p:nvPr/>
        </p:nvSpPr>
        <p:spPr>
          <a:xfrm>
            <a:off x="10972800" y="228600"/>
            <a:ext cx="914400" cy="3201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8/ 16</a:t>
            </a:r>
            <a:endParaRPr sz="1000">
              <a:solidFill>
                <a:schemeClr val="dk1"/>
              </a:solidFill>
              <a:latin typeface="Calibri"/>
              <a:ea typeface="Calibri"/>
              <a:cs typeface="Calibri"/>
              <a:sym typeface="Calibri"/>
            </a:endParaRPr>
          </a:p>
        </p:txBody>
      </p:sp>
      <p:sp>
        <p:nvSpPr>
          <p:cNvPr id="171" name="Google Shape;171;g3d90502f107_0_0"/>
          <p:cNvSpPr/>
          <p:nvPr/>
        </p:nvSpPr>
        <p:spPr>
          <a:xfrm>
            <a:off x="457200" y="502920"/>
            <a:ext cx="11247000" cy="731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3000"/>
              <a:buFont typeface="Georgia"/>
              <a:buNone/>
            </a:pPr>
            <a:r>
              <a:rPr lang="en-US" sz="3000" b="1">
                <a:solidFill>
                  <a:srgbClr val="21295C"/>
                </a:solidFill>
                <a:latin typeface="Georgia"/>
                <a:ea typeface="Georgia"/>
                <a:cs typeface="Georgia"/>
                <a:sym typeface="Georgia"/>
              </a:rPr>
              <a:t>Valeurs manquantes &amp; corrélations CpG – âge</a:t>
            </a:r>
            <a:endParaRPr sz="3000">
              <a:solidFill>
                <a:schemeClr val="dk1"/>
              </a:solidFill>
              <a:latin typeface="Calibri"/>
              <a:ea typeface="Calibri"/>
              <a:cs typeface="Calibri"/>
              <a:sym typeface="Calibri"/>
            </a:endParaRPr>
          </a:p>
        </p:txBody>
      </p:sp>
      <p:sp>
        <p:nvSpPr>
          <p:cNvPr id="172" name="Google Shape;172;g3d90502f107_0_0"/>
          <p:cNvSpPr/>
          <p:nvPr/>
        </p:nvSpPr>
        <p:spPr>
          <a:xfrm>
            <a:off x="457200" y="6537960"/>
            <a:ext cx="112470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Prédiction âge biologique · Méthylation ADN · Master UCA 2025-2026</a:t>
            </a:r>
            <a:endParaRPr sz="900">
              <a:solidFill>
                <a:schemeClr val="dk1"/>
              </a:solidFill>
              <a:latin typeface="Calibri"/>
              <a:ea typeface="Calibri"/>
              <a:cs typeface="Calibri"/>
              <a:sym typeface="Calibri"/>
            </a:endParaRPr>
          </a:p>
        </p:txBody>
      </p:sp>
      <p:sp>
        <p:nvSpPr>
          <p:cNvPr id="173" name="Google Shape;173;g3d90502f107_0_0"/>
          <p:cNvSpPr/>
          <p:nvPr/>
        </p:nvSpPr>
        <p:spPr>
          <a:xfrm>
            <a:off x="640080" y="1417320"/>
            <a:ext cx="5486400" cy="4846200"/>
          </a:xfrm>
          <a:prstGeom prst="rect">
            <a:avLst/>
          </a:prstGeom>
          <a:solidFill>
            <a:srgbClr val="F4F7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g3d90502f107_0_0"/>
          <p:cNvSpPr/>
          <p:nvPr/>
        </p:nvSpPr>
        <p:spPr>
          <a:xfrm>
            <a:off x="822960" y="1554480"/>
            <a:ext cx="5212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65A82"/>
              </a:buClr>
              <a:buSzPts val="1500"/>
              <a:buFont typeface="Georgia"/>
              <a:buNone/>
            </a:pPr>
            <a:r>
              <a:rPr lang="en-US" sz="1500" b="1">
                <a:solidFill>
                  <a:srgbClr val="065A82"/>
                </a:solidFill>
                <a:latin typeface="Georgia"/>
                <a:ea typeface="Georgia"/>
                <a:cs typeface="Georgia"/>
                <a:sym typeface="Georgia"/>
              </a:rPr>
              <a:t>1 · Données manquantes (matrice brute 50k × 400)</a:t>
            </a:r>
            <a:endParaRPr sz="1500">
              <a:solidFill>
                <a:schemeClr val="dk1"/>
              </a:solidFill>
              <a:latin typeface="Calibri"/>
              <a:ea typeface="Calibri"/>
              <a:cs typeface="Calibri"/>
              <a:sym typeface="Calibri"/>
            </a:endParaRPr>
          </a:p>
        </p:txBody>
      </p:sp>
      <p:sp>
        <p:nvSpPr>
          <p:cNvPr id="175" name="Google Shape;175;g3d90502f107_0_0"/>
          <p:cNvSpPr/>
          <p:nvPr/>
        </p:nvSpPr>
        <p:spPr>
          <a:xfrm>
            <a:off x="822960" y="2103120"/>
            <a:ext cx="1828800" cy="64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07A5F"/>
              </a:buClr>
              <a:buSzPts val="2200"/>
              <a:buFont typeface="Georgia"/>
              <a:buNone/>
            </a:pPr>
            <a:r>
              <a:rPr lang="en-US" sz="2200" b="1">
                <a:solidFill>
                  <a:srgbClr val="E07A5F"/>
                </a:solidFill>
                <a:latin typeface="Georgia"/>
                <a:ea typeface="Georgia"/>
                <a:cs typeface="Georgia"/>
                <a:sym typeface="Georgia"/>
              </a:rPr>
              <a:t>10,66 %</a:t>
            </a:r>
            <a:endParaRPr sz="2200">
              <a:solidFill>
                <a:schemeClr val="dk1"/>
              </a:solidFill>
              <a:latin typeface="Calibri"/>
              <a:ea typeface="Calibri"/>
              <a:cs typeface="Calibri"/>
              <a:sym typeface="Calibri"/>
            </a:endParaRPr>
          </a:p>
        </p:txBody>
      </p:sp>
      <p:sp>
        <p:nvSpPr>
          <p:cNvPr id="176" name="Google Shape;176;g3d90502f107_0_0"/>
          <p:cNvSpPr/>
          <p:nvPr/>
        </p:nvSpPr>
        <p:spPr>
          <a:xfrm>
            <a:off x="2743200" y="2103120"/>
            <a:ext cx="3291900" cy="64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200"/>
              <a:buFont typeface="Calibri"/>
              <a:buNone/>
            </a:pPr>
            <a:r>
              <a:rPr lang="en-US" sz="1200">
                <a:solidFill>
                  <a:srgbClr val="1E293B"/>
                </a:solidFill>
                <a:latin typeface="Calibri"/>
                <a:ea typeface="Calibri"/>
                <a:cs typeface="Calibri"/>
                <a:sym typeface="Calibri"/>
              </a:rPr>
              <a:t>de NA sur l'ensemble de la matrice</a:t>
            </a:r>
            <a:endParaRPr sz="1200">
              <a:solidFill>
                <a:schemeClr val="dk1"/>
              </a:solidFill>
              <a:latin typeface="Calibri"/>
              <a:ea typeface="Calibri"/>
              <a:cs typeface="Calibri"/>
              <a:sym typeface="Calibri"/>
            </a:endParaRPr>
          </a:p>
        </p:txBody>
      </p:sp>
      <p:sp>
        <p:nvSpPr>
          <p:cNvPr id="177" name="Google Shape;177;g3d90502f107_0_0"/>
          <p:cNvSpPr/>
          <p:nvPr/>
        </p:nvSpPr>
        <p:spPr>
          <a:xfrm>
            <a:off x="822960" y="2880360"/>
            <a:ext cx="1828800" cy="64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07A5F"/>
              </a:buClr>
              <a:buSzPts val="2200"/>
              <a:buFont typeface="Georgia"/>
              <a:buNone/>
            </a:pPr>
            <a:r>
              <a:rPr lang="en-US" sz="2200" b="1">
                <a:solidFill>
                  <a:srgbClr val="E07A5F"/>
                </a:solidFill>
                <a:latin typeface="Georgia"/>
                <a:ea typeface="Georgia"/>
                <a:cs typeface="Georgia"/>
                <a:sym typeface="Georgia"/>
              </a:rPr>
              <a:t>2,13 M</a:t>
            </a:r>
            <a:endParaRPr sz="2200">
              <a:solidFill>
                <a:schemeClr val="dk1"/>
              </a:solidFill>
              <a:latin typeface="Calibri"/>
              <a:ea typeface="Calibri"/>
              <a:cs typeface="Calibri"/>
              <a:sym typeface="Calibri"/>
            </a:endParaRPr>
          </a:p>
        </p:txBody>
      </p:sp>
      <p:sp>
        <p:nvSpPr>
          <p:cNvPr id="178" name="Google Shape;178;g3d90502f107_0_0"/>
          <p:cNvSpPr/>
          <p:nvPr/>
        </p:nvSpPr>
        <p:spPr>
          <a:xfrm>
            <a:off x="2743200" y="2880360"/>
            <a:ext cx="3291900" cy="64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200"/>
              <a:buFont typeface="Calibri"/>
              <a:buNone/>
            </a:pPr>
            <a:r>
              <a:rPr lang="en-US" sz="1200">
                <a:solidFill>
                  <a:srgbClr val="1E293B"/>
                </a:solidFill>
                <a:latin typeface="Calibri"/>
                <a:ea typeface="Calibri"/>
                <a:cs typeface="Calibri"/>
                <a:sym typeface="Calibri"/>
              </a:rPr>
              <a:t>valeurs manquantes au total</a:t>
            </a:r>
            <a:endParaRPr sz="1200">
              <a:solidFill>
                <a:schemeClr val="dk1"/>
              </a:solidFill>
              <a:latin typeface="Calibri"/>
              <a:ea typeface="Calibri"/>
              <a:cs typeface="Calibri"/>
              <a:sym typeface="Calibri"/>
            </a:endParaRPr>
          </a:p>
        </p:txBody>
      </p:sp>
      <p:sp>
        <p:nvSpPr>
          <p:cNvPr id="179" name="Google Shape;179;g3d90502f107_0_0"/>
          <p:cNvSpPr/>
          <p:nvPr/>
        </p:nvSpPr>
        <p:spPr>
          <a:xfrm>
            <a:off x="822960" y="3657600"/>
            <a:ext cx="1828800" cy="64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07A5F"/>
              </a:buClr>
              <a:buSzPts val="2200"/>
              <a:buFont typeface="Georgia"/>
              <a:buNone/>
            </a:pPr>
            <a:r>
              <a:rPr lang="en-US" sz="2200" b="1">
                <a:solidFill>
                  <a:srgbClr val="E07A5F"/>
                </a:solidFill>
                <a:latin typeface="Georgia"/>
                <a:ea typeface="Georgia"/>
                <a:cs typeface="Georgia"/>
                <a:sym typeface="Georgia"/>
              </a:rPr>
              <a:t>176</a:t>
            </a:r>
            <a:endParaRPr sz="2200">
              <a:solidFill>
                <a:schemeClr val="dk1"/>
              </a:solidFill>
              <a:latin typeface="Calibri"/>
              <a:ea typeface="Calibri"/>
              <a:cs typeface="Calibri"/>
              <a:sym typeface="Calibri"/>
            </a:endParaRPr>
          </a:p>
        </p:txBody>
      </p:sp>
      <p:sp>
        <p:nvSpPr>
          <p:cNvPr id="180" name="Google Shape;180;g3d90502f107_0_0"/>
          <p:cNvSpPr/>
          <p:nvPr/>
        </p:nvSpPr>
        <p:spPr>
          <a:xfrm>
            <a:off x="2743200" y="3657600"/>
            <a:ext cx="3291900" cy="64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200"/>
              <a:buFont typeface="Calibri"/>
              <a:buNone/>
            </a:pPr>
            <a:r>
              <a:rPr lang="en-US" sz="1200">
                <a:solidFill>
                  <a:srgbClr val="1E293B"/>
                </a:solidFill>
                <a:latin typeface="Calibri"/>
                <a:ea typeface="Calibri"/>
                <a:cs typeface="Calibri"/>
                <a:sym typeface="Calibri"/>
              </a:rPr>
              <a:t>sujets ont &gt; 10 % de NA</a:t>
            </a:r>
            <a:endParaRPr sz="1200">
              <a:solidFill>
                <a:schemeClr val="dk1"/>
              </a:solidFill>
              <a:latin typeface="Calibri"/>
              <a:ea typeface="Calibri"/>
              <a:cs typeface="Calibri"/>
              <a:sym typeface="Calibri"/>
            </a:endParaRPr>
          </a:p>
        </p:txBody>
      </p:sp>
      <p:sp>
        <p:nvSpPr>
          <p:cNvPr id="181" name="Google Shape;181;g3d90502f107_0_0"/>
          <p:cNvSpPr/>
          <p:nvPr/>
        </p:nvSpPr>
        <p:spPr>
          <a:xfrm>
            <a:off x="822960" y="4434840"/>
            <a:ext cx="1828800" cy="64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07A5F"/>
              </a:buClr>
              <a:buSzPts val="2200"/>
              <a:buFont typeface="Georgia"/>
              <a:buNone/>
            </a:pPr>
            <a:r>
              <a:rPr lang="en-US" sz="2200" b="1">
                <a:solidFill>
                  <a:srgbClr val="E07A5F"/>
                </a:solidFill>
                <a:latin typeface="Georgia"/>
                <a:ea typeface="Georgia"/>
                <a:cs typeface="Georgia"/>
                <a:sym typeface="Georgia"/>
              </a:rPr>
              <a:t>3</a:t>
            </a:r>
            <a:endParaRPr sz="2200">
              <a:solidFill>
                <a:schemeClr val="dk1"/>
              </a:solidFill>
              <a:latin typeface="Calibri"/>
              <a:ea typeface="Calibri"/>
              <a:cs typeface="Calibri"/>
              <a:sym typeface="Calibri"/>
            </a:endParaRPr>
          </a:p>
        </p:txBody>
      </p:sp>
      <p:sp>
        <p:nvSpPr>
          <p:cNvPr id="182" name="Google Shape;182;g3d90502f107_0_0"/>
          <p:cNvSpPr/>
          <p:nvPr/>
        </p:nvSpPr>
        <p:spPr>
          <a:xfrm>
            <a:off x="2743200" y="4434840"/>
            <a:ext cx="3291900" cy="64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200"/>
              <a:buFont typeface="Calibri"/>
              <a:buNone/>
            </a:pPr>
            <a:r>
              <a:rPr lang="en-US" sz="1200">
                <a:solidFill>
                  <a:srgbClr val="1E293B"/>
                </a:solidFill>
                <a:latin typeface="Calibri"/>
                <a:ea typeface="Calibri"/>
                <a:cs typeface="Calibri"/>
                <a:sym typeface="Calibri"/>
              </a:rPr>
              <a:t>sujets très dégradés (&gt; 50 % NA)</a:t>
            </a:r>
            <a:endParaRPr sz="1200">
              <a:solidFill>
                <a:schemeClr val="dk1"/>
              </a:solidFill>
              <a:latin typeface="Calibri"/>
              <a:ea typeface="Calibri"/>
              <a:cs typeface="Calibri"/>
              <a:sym typeface="Calibri"/>
            </a:endParaRPr>
          </a:p>
        </p:txBody>
      </p:sp>
      <p:sp>
        <p:nvSpPr>
          <p:cNvPr id="183" name="Google Shape;183;g3d90502f107_0_0"/>
          <p:cNvSpPr/>
          <p:nvPr/>
        </p:nvSpPr>
        <p:spPr>
          <a:xfrm>
            <a:off x="822960" y="5212080"/>
            <a:ext cx="1828800" cy="64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07A5F"/>
              </a:buClr>
              <a:buSzPts val="2200"/>
              <a:buFont typeface="Georgia"/>
              <a:buNone/>
            </a:pPr>
            <a:r>
              <a:rPr lang="en-US" sz="2200" b="1">
                <a:solidFill>
                  <a:srgbClr val="E07A5F"/>
                </a:solidFill>
                <a:latin typeface="Georgia"/>
                <a:ea typeface="Georgia"/>
                <a:cs typeface="Georgia"/>
                <a:sym typeface="Georgia"/>
              </a:rPr>
              <a:t>6 942</a:t>
            </a:r>
            <a:endParaRPr sz="2200">
              <a:solidFill>
                <a:schemeClr val="dk1"/>
              </a:solidFill>
              <a:latin typeface="Calibri"/>
              <a:ea typeface="Calibri"/>
              <a:cs typeface="Calibri"/>
              <a:sym typeface="Calibri"/>
            </a:endParaRPr>
          </a:p>
        </p:txBody>
      </p:sp>
      <p:sp>
        <p:nvSpPr>
          <p:cNvPr id="184" name="Google Shape;184;g3d90502f107_0_0"/>
          <p:cNvSpPr/>
          <p:nvPr/>
        </p:nvSpPr>
        <p:spPr>
          <a:xfrm>
            <a:off x="2743200" y="5212080"/>
            <a:ext cx="3291900" cy="64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200"/>
              <a:buFont typeface="Calibri"/>
              <a:buNone/>
            </a:pPr>
            <a:r>
              <a:rPr lang="en-US" sz="1200">
                <a:solidFill>
                  <a:srgbClr val="1E293B"/>
                </a:solidFill>
                <a:latin typeface="Calibri"/>
                <a:ea typeface="Calibri"/>
                <a:cs typeface="Calibri"/>
                <a:sym typeface="Calibri"/>
              </a:rPr>
              <a:t>CpG à supprimer (&gt; 20 % NA)</a:t>
            </a:r>
            <a:endParaRPr sz="1200">
              <a:solidFill>
                <a:schemeClr val="dk1"/>
              </a:solidFill>
              <a:latin typeface="Calibri"/>
              <a:ea typeface="Calibri"/>
              <a:cs typeface="Calibri"/>
              <a:sym typeface="Calibri"/>
            </a:endParaRPr>
          </a:p>
        </p:txBody>
      </p:sp>
      <p:sp>
        <p:nvSpPr>
          <p:cNvPr id="185" name="Google Shape;185;g3d90502f107_0_0"/>
          <p:cNvSpPr/>
          <p:nvPr/>
        </p:nvSpPr>
        <p:spPr>
          <a:xfrm>
            <a:off x="6309360" y="1417320"/>
            <a:ext cx="5577900" cy="4846200"/>
          </a:xfrm>
          <a:prstGeom prst="rect">
            <a:avLst/>
          </a:prstGeom>
          <a:solidFill>
            <a:srgbClr val="F4F7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g3d90502f107_0_0"/>
          <p:cNvSpPr/>
          <p:nvPr/>
        </p:nvSpPr>
        <p:spPr>
          <a:xfrm>
            <a:off x="6492240" y="1554480"/>
            <a:ext cx="53034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65A82"/>
              </a:buClr>
              <a:buSzPts val="1500"/>
              <a:buFont typeface="Georgia"/>
              <a:buNone/>
            </a:pPr>
            <a:r>
              <a:rPr lang="en-US" sz="1500" b="1">
                <a:solidFill>
                  <a:srgbClr val="065A82"/>
                </a:solidFill>
                <a:latin typeface="Georgia"/>
                <a:ea typeface="Georgia"/>
                <a:cs typeface="Georgia"/>
                <a:sym typeface="Georgia"/>
              </a:rPr>
              <a:t>2 · Corrélation CpG – âge (Pearson)</a:t>
            </a:r>
            <a:endParaRPr sz="1500">
              <a:solidFill>
                <a:schemeClr val="dk1"/>
              </a:solidFill>
              <a:latin typeface="Calibri"/>
              <a:ea typeface="Calibri"/>
              <a:cs typeface="Calibri"/>
              <a:sym typeface="Calibri"/>
            </a:endParaRPr>
          </a:p>
        </p:txBody>
      </p:sp>
      <p:pic>
        <p:nvPicPr>
          <p:cNvPr id="187" name="Google Shape;187;g3d90502f107_0_0"/>
          <p:cNvPicPr preferRelativeResize="0"/>
          <p:nvPr/>
        </p:nvPicPr>
        <p:blipFill rotWithShape="1">
          <a:blip r:embed="rId3">
            <a:alphaModFix/>
          </a:blip>
          <a:srcRect/>
          <a:stretch/>
        </p:blipFill>
        <p:spPr>
          <a:xfrm>
            <a:off x="6400800" y="2103120"/>
            <a:ext cx="5394900" cy="2743200"/>
          </a:xfrm>
          <a:prstGeom prst="rect">
            <a:avLst/>
          </a:prstGeom>
          <a:noFill/>
          <a:ln>
            <a:noFill/>
          </a:ln>
        </p:spPr>
      </p:pic>
      <p:sp>
        <p:nvSpPr>
          <p:cNvPr id="188" name="Google Shape;188;g3d90502f107_0_0"/>
          <p:cNvSpPr/>
          <p:nvPr/>
        </p:nvSpPr>
        <p:spPr>
          <a:xfrm>
            <a:off x="6492240" y="4937760"/>
            <a:ext cx="5303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200"/>
              <a:buFont typeface="Calibri"/>
              <a:buNone/>
            </a:pPr>
            <a:r>
              <a:rPr lang="en-US" sz="1200" b="1" i="1">
                <a:solidFill>
                  <a:srgbClr val="21295C"/>
                </a:solidFill>
                <a:latin typeface="Calibri"/>
                <a:ea typeface="Calibri"/>
                <a:cs typeface="Calibri"/>
                <a:sym typeface="Calibri"/>
              </a:rPr>
              <a:t>➜ Un petit nombre de CpG portent l'essentiel du signal.</a:t>
            </a:r>
            <a:endParaRPr sz="1200">
              <a:solidFill>
                <a:schemeClr val="dk1"/>
              </a:solidFill>
              <a:latin typeface="Calibri"/>
              <a:ea typeface="Calibri"/>
              <a:cs typeface="Calibri"/>
              <a:sym typeface="Calibri"/>
            </a:endParaRPr>
          </a:p>
        </p:txBody>
      </p:sp>
      <p:sp>
        <p:nvSpPr>
          <p:cNvPr id="189" name="Google Shape;189;g3d90502f107_0_0"/>
          <p:cNvSpPr/>
          <p:nvPr/>
        </p:nvSpPr>
        <p:spPr>
          <a:xfrm>
            <a:off x="6492240" y="5394960"/>
            <a:ext cx="5303400" cy="868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en-US" sz="1100">
                <a:solidFill>
                  <a:srgbClr val="1E293B"/>
                </a:solidFill>
                <a:latin typeface="Calibri"/>
                <a:ea typeface="Calibri"/>
                <a:cs typeface="Calibri"/>
                <a:sym typeface="Calibri"/>
              </a:rPr>
              <a:t>Les CpG les plus corrélés à l'âge constituent les candidats naturels pour une horloge épigénétique parcimonieuse (type Horvath, Hannum).</a:t>
            </a:r>
            <a:endParaRPr sz="11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4"/>
        <p:cNvGrpSpPr/>
        <p:nvPr/>
      </p:nvGrpSpPr>
      <p:grpSpPr>
        <a:xfrm>
          <a:off x="0" y="0"/>
          <a:ext cx="0" cy="0"/>
          <a:chOff x="0" y="0"/>
          <a:chExt cx="0" cy="0"/>
        </a:xfrm>
      </p:grpSpPr>
      <p:sp>
        <p:nvSpPr>
          <p:cNvPr id="195" name="Google Shape;195;p7"/>
          <p:cNvSpPr/>
          <p:nvPr/>
        </p:nvSpPr>
        <p:spPr>
          <a:xfrm>
            <a:off x="457200" y="228600"/>
            <a:ext cx="91440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PARTIE II · EDA</a:t>
            </a:r>
            <a:endParaRPr sz="1100">
              <a:solidFill>
                <a:schemeClr val="dk1"/>
              </a:solidFill>
              <a:latin typeface="Calibri"/>
              <a:ea typeface="Calibri"/>
              <a:cs typeface="Calibri"/>
              <a:sym typeface="Calibri"/>
            </a:endParaRPr>
          </a:p>
        </p:txBody>
      </p:sp>
      <p:sp>
        <p:nvSpPr>
          <p:cNvPr id="196" name="Google Shape;196;p7"/>
          <p:cNvSpPr/>
          <p:nvPr/>
        </p:nvSpPr>
        <p:spPr>
          <a:xfrm>
            <a:off x="10972800" y="228600"/>
            <a:ext cx="914400" cy="32004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9 / 16</a:t>
            </a:r>
            <a:endParaRPr sz="1000">
              <a:solidFill>
                <a:schemeClr val="dk1"/>
              </a:solidFill>
              <a:latin typeface="Calibri"/>
              <a:ea typeface="Calibri"/>
              <a:cs typeface="Calibri"/>
              <a:sym typeface="Calibri"/>
            </a:endParaRPr>
          </a:p>
        </p:txBody>
      </p:sp>
      <p:sp>
        <p:nvSpPr>
          <p:cNvPr id="197" name="Google Shape;197;p7"/>
          <p:cNvSpPr/>
          <p:nvPr/>
        </p:nvSpPr>
        <p:spPr>
          <a:xfrm>
            <a:off x="457200" y="502920"/>
            <a:ext cx="1124712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3000"/>
              <a:buFont typeface="Georgia"/>
              <a:buNone/>
            </a:pPr>
            <a:r>
              <a:rPr lang="en-US" sz="3000" b="1">
                <a:solidFill>
                  <a:srgbClr val="21295C"/>
                </a:solidFill>
                <a:latin typeface="Georgia"/>
                <a:ea typeface="Georgia"/>
                <a:cs typeface="Georgia"/>
                <a:sym typeface="Georgia"/>
              </a:rPr>
              <a:t>Valeurs manquantes &amp; corrélations CpG – âge</a:t>
            </a:r>
            <a:endParaRPr sz="3000">
              <a:solidFill>
                <a:schemeClr val="dk1"/>
              </a:solidFill>
              <a:latin typeface="Calibri"/>
              <a:ea typeface="Calibri"/>
              <a:cs typeface="Calibri"/>
              <a:sym typeface="Calibri"/>
            </a:endParaRPr>
          </a:p>
        </p:txBody>
      </p:sp>
      <p:sp>
        <p:nvSpPr>
          <p:cNvPr id="198" name="Google Shape;198;p7"/>
          <p:cNvSpPr/>
          <p:nvPr/>
        </p:nvSpPr>
        <p:spPr>
          <a:xfrm>
            <a:off x="457200" y="6537960"/>
            <a:ext cx="1124712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Prédiction âge biologique · Méthylation ADN · Master 1 UCA 2025-2026</a:t>
            </a:r>
            <a:endParaRPr sz="900">
              <a:solidFill>
                <a:schemeClr val="dk1"/>
              </a:solidFill>
              <a:latin typeface="Calibri"/>
              <a:ea typeface="Calibri"/>
              <a:cs typeface="Calibri"/>
              <a:sym typeface="Calibri"/>
            </a:endParaRPr>
          </a:p>
        </p:txBody>
      </p:sp>
      <p:pic>
        <p:nvPicPr>
          <p:cNvPr id="199" name="Google Shape;199;p7" title="outputq2.png"/>
          <p:cNvPicPr preferRelativeResize="0"/>
          <p:nvPr/>
        </p:nvPicPr>
        <p:blipFill>
          <a:blip r:embed="rId3">
            <a:alphaModFix/>
          </a:blip>
          <a:stretch>
            <a:fillRect/>
          </a:stretch>
        </p:blipFill>
        <p:spPr>
          <a:xfrm>
            <a:off x="152400" y="1234450"/>
            <a:ext cx="11887200" cy="5105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4"/>
        <p:cNvGrpSpPr/>
        <p:nvPr/>
      </p:nvGrpSpPr>
      <p:grpSpPr>
        <a:xfrm>
          <a:off x="0" y="0"/>
          <a:ext cx="0" cy="0"/>
          <a:chOff x="0" y="0"/>
          <a:chExt cx="0" cy="0"/>
        </a:xfrm>
      </p:grpSpPr>
      <p:sp>
        <p:nvSpPr>
          <p:cNvPr id="205" name="Google Shape;205;p8"/>
          <p:cNvSpPr/>
          <p:nvPr/>
        </p:nvSpPr>
        <p:spPr>
          <a:xfrm>
            <a:off x="457200" y="228600"/>
            <a:ext cx="91440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PARTIE II · EDA</a:t>
            </a:r>
            <a:endParaRPr sz="1100">
              <a:solidFill>
                <a:schemeClr val="dk1"/>
              </a:solidFill>
              <a:latin typeface="Calibri"/>
              <a:ea typeface="Calibri"/>
              <a:cs typeface="Calibri"/>
              <a:sym typeface="Calibri"/>
            </a:endParaRPr>
          </a:p>
        </p:txBody>
      </p:sp>
      <p:sp>
        <p:nvSpPr>
          <p:cNvPr id="206" name="Google Shape;206;p8"/>
          <p:cNvSpPr/>
          <p:nvPr/>
        </p:nvSpPr>
        <p:spPr>
          <a:xfrm>
            <a:off x="10972800" y="228600"/>
            <a:ext cx="914400" cy="32004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10/ 16</a:t>
            </a:r>
            <a:endParaRPr sz="1000">
              <a:solidFill>
                <a:schemeClr val="dk1"/>
              </a:solidFill>
              <a:latin typeface="Calibri"/>
              <a:ea typeface="Calibri"/>
              <a:cs typeface="Calibri"/>
              <a:sym typeface="Calibri"/>
            </a:endParaRPr>
          </a:p>
        </p:txBody>
      </p:sp>
      <p:sp>
        <p:nvSpPr>
          <p:cNvPr id="207" name="Google Shape;207;p8"/>
          <p:cNvSpPr/>
          <p:nvPr/>
        </p:nvSpPr>
        <p:spPr>
          <a:xfrm>
            <a:off x="457200" y="502920"/>
            <a:ext cx="1124712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3000"/>
              <a:buFont typeface="Georgia"/>
              <a:buNone/>
            </a:pPr>
            <a:r>
              <a:rPr lang="en-US" sz="3000" b="1">
                <a:solidFill>
                  <a:srgbClr val="21295C"/>
                </a:solidFill>
                <a:latin typeface="Georgia"/>
                <a:ea typeface="Georgia"/>
                <a:cs typeface="Georgia"/>
                <a:sym typeface="Georgia"/>
              </a:rPr>
              <a:t>                                    ACP exploratoire </a:t>
            </a:r>
            <a:endParaRPr sz="3000">
              <a:solidFill>
                <a:schemeClr val="dk1"/>
              </a:solidFill>
              <a:latin typeface="Calibri"/>
              <a:ea typeface="Calibri"/>
              <a:cs typeface="Calibri"/>
              <a:sym typeface="Calibri"/>
            </a:endParaRPr>
          </a:p>
        </p:txBody>
      </p:sp>
      <p:sp>
        <p:nvSpPr>
          <p:cNvPr id="208" name="Google Shape;208;p8"/>
          <p:cNvSpPr/>
          <p:nvPr/>
        </p:nvSpPr>
        <p:spPr>
          <a:xfrm>
            <a:off x="457200" y="6537960"/>
            <a:ext cx="1124712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Prédiction âge biologique · Méthylation ADN · Master UCA 2025-2026</a:t>
            </a:r>
            <a:endParaRPr sz="900">
              <a:solidFill>
                <a:schemeClr val="dk1"/>
              </a:solidFill>
              <a:latin typeface="Calibri"/>
              <a:ea typeface="Calibri"/>
              <a:cs typeface="Calibri"/>
              <a:sym typeface="Calibri"/>
            </a:endParaRPr>
          </a:p>
        </p:txBody>
      </p:sp>
      <p:pic>
        <p:nvPicPr>
          <p:cNvPr id="209" name="Google Shape;209;p8" title="output3.png"/>
          <p:cNvPicPr preferRelativeResize="0"/>
          <p:nvPr/>
        </p:nvPicPr>
        <p:blipFill>
          <a:blip r:embed="rId3">
            <a:alphaModFix/>
          </a:blip>
          <a:stretch>
            <a:fillRect/>
          </a:stretch>
        </p:blipFill>
        <p:spPr>
          <a:xfrm>
            <a:off x="611750" y="1386850"/>
            <a:ext cx="11092577" cy="49290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4"/>
        <p:cNvGrpSpPr/>
        <p:nvPr/>
      </p:nvGrpSpPr>
      <p:grpSpPr>
        <a:xfrm>
          <a:off x="0" y="0"/>
          <a:ext cx="0" cy="0"/>
          <a:chOff x="0" y="0"/>
          <a:chExt cx="0" cy="0"/>
        </a:xfrm>
      </p:grpSpPr>
      <p:sp>
        <p:nvSpPr>
          <p:cNvPr id="215" name="Google Shape;215;g3d90502f107_0_25"/>
          <p:cNvSpPr/>
          <p:nvPr/>
        </p:nvSpPr>
        <p:spPr>
          <a:xfrm>
            <a:off x="457200" y="228600"/>
            <a:ext cx="91440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PARTIE II · EDA</a:t>
            </a:r>
            <a:endParaRPr sz="1100">
              <a:solidFill>
                <a:schemeClr val="dk1"/>
              </a:solidFill>
              <a:latin typeface="Calibri"/>
              <a:ea typeface="Calibri"/>
              <a:cs typeface="Calibri"/>
              <a:sym typeface="Calibri"/>
            </a:endParaRPr>
          </a:p>
        </p:txBody>
      </p:sp>
      <p:sp>
        <p:nvSpPr>
          <p:cNvPr id="216" name="Google Shape;216;g3d90502f107_0_25"/>
          <p:cNvSpPr/>
          <p:nvPr/>
        </p:nvSpPr>
        <p:spPr>
          <a:xfrm>
            <a:off x="10972800" y="228600"/>
            <a:ext cx="914400" cy="3201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11/ 16</a:t>
            </a:r>
            <a:endParaRPr sz="1000">
              <a:solidFill>
                <a:schemeClr val="dk1"/>
              </a:solidFill>
              <a:latin typeface="Calibri"/>
              <a:ea typeface="Calibri"/>
              <a:cs typeface="Calibri"/>
              <a:sym typeface="Calibri"/>
            </a:endParaRPr>
          </a:p>
        </p:txBody>
      </p:sp>
      <p:sp>
        <p:nvSpPr>
          <p:cNvPr id="217" name="Google Shape;217;g3d90502f107_0_25"/>
          <p:cNvSpPr/>
          <p:nvPr/>
        </p:nvSpPr>
        <p:spPr>
          <a:xfrm>
            <a:off x="457200" y="502920"/>
            <a:ext cx="11247000" cy="731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3000"/>
              <a:buFont typeface="Georgia"/>
              <a:buNone/>
            </a:pPr>
            <a:r>
              <a:rPr lang="en-US" sz="3000" b="1">
                <a:solidFill>
                  <a:srgbClr val="21295C"/>
                </a:solidFill>
                <a:latin typeface="Georgia"/>
                <a:ea typeface="Georgia"/>
                <a:cs typeface="Georgia"/>
                <a:sym typeface="Georgia"/>
              </a:rPr>
              <a:t>Correlation des CpG</a:t>
            </a:r>
            <a:endParaRPr sz="3000">
              <a:solidFill>
                <a:schemeClr val="dk1"/>
              </a:solidFill>
              <a:latin typeface="Calibri"/>
              <a:ea typeface="Calibri"/>
              <a:cs typeface="Calibri"/>
              <a:sym typeface="Calibri"/>
            </a:endParaRPr>
          </a:p>
        </p:txBody>
      </p:sp>
      <p:sp>
        <p:nvSpPr>
          <p:cNvPr id="218" name="Google Shape;218;g3d90502f107_0_25"/>
          <p:cNvSpPr/>
          <p:nvPr/>
        </p:nvSpPr>
        <p:spPr>
          <a:xfrm>
            <a:off x="457200" y="6537960"/>
            <a:ext cx="112470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Prédiction âge biologique · Méthylation ADN · Master UCA 2025-2026</a:t>
            </a:r>
            <a:endParaRPr sz="900">
              <a:solidFill>
                <a:schemeClr val="dk1"/>
              </a:solidFill>
              <a:latin typeface="Calibri"/>
              <a:ea typeface="Calibri"/>
              <a:cs typeface="Calibri"/>
              <a:sym typeface="Calibri"/>
            </a:endParaRPr>
          </a:p>
        </p:txBody>
      </p:sp>
      <p:pic>
        <p:nvPicPr>
          <p:cNvPr id="219" name="Google Shape;219;g3d90502f107_0_25" title="Capture d’écran 2026-04-24 025145.png"/>
          <p:cNvPicPr preferRelativeResize="0"/>
          <p:nvPr/>
        </p:nvPicPr>
        <p:blipFill>
          <a:blip r:embed="rId3">
            <a:alphaModFix/>
          </a:blip>
          <a:stretch>
            <a:fillRect/>
          </a:stretch>
        </p:blipFill>
        <p:spPr>
          <a:xfrm>
            <a:off x="248975" y="1472572"/>
            <a:ext cx="5842174" cy="4918575"/>
          </a:xfrm>
          <a:prstGeom prst="rect">
            <a:avLst/>
          </a:prstGeom>
          <a:noFill/>
          <a:ln>
            <a:noFill/>
          </a:ln>
        </p:spPr>
      </p:pic>
      <p:pic>
        <p:nvPicPr>
          <p:cNvPr id="220" name="Google Shape;220;g3d90502f107_0_25" title="Capture d’écran 2026-04-24 025215.png"/>
          <p:cNvPicPr preferRelativeResize="0"/>
          <p:nvPr/>
        </p:nvPicPr>
        <p:blipFill>
          <a:blip r:embed="rId4">
            <a:alphaModFix/>
          </a:blip>
          <a:stretch>
            <a:fillRect/>
          </a:stretch>
        </p:blipFill>
        <p:spPr>
          <a:xfrm>
            <a:off x="6045025" y="1472575"/>
            <a:ext cx="5842175" cy="4918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5"/>
        <p:cNvGrpSpPr/>
        <p:nvPr/>
      </p:nvGrpSpPr>
      <p:grpSpPr>
        <a:xfrm>
          <a:off x="0" y="0"/>
          <a:ext cx="0" cy="0"/>
          <a:chOff x="0" y="0"/>
          <a:chExt cx="0" cy="0"/>
        </a:xfrm>
      </p:grpSpPr>
      <p:sp>
        <p:nvSpPr>
          <p:cNvPr id="226" name="Google Shape;226;p9"/>
          <p:cNvSpPr/>
          <p:nvPr/>
        </p:nvSpPr>
        <p:spPr>
          <a:xfrm>
            <a:off x="457200" y="228600"/>
            <a:ext cx="91440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PARTIE III · PRÉTRAITEMENT</a:t>
            </a:r>
            <a:endParaRPr sz="1100">
              <a:solidFill>
                <a:schemeClr val="dk1"/>
              </a:solidFill>
              <a:latin typeface="Calibri"/>
              <a:ea typeface="Calibri"/>
              <a:cs typeface="Calibri"/>
              <a:sym typeface="Calibri"/>
            </a:endParaRPr>
          </a:p>
        </p:txBody>
      </p:sp>
      <p:sp>
        <p:nvSpPr>
          <p:cNvPr id="227" name="Google Shape;227;p9"/>
          <p:cNvSpPr/>
          <p:nvPr/>
        </p:nvSpPr>
        <p:spPr>
          <a:xfrm>
            <a:off x="10972800" y="228600"/>
            <a:ext cx="914400" cy="32004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8 / 16</a:t>
            </a:r>
            <a:endParaRPr sz="1000">
              <a:solidFill>
                <a:schemeClr val="dk1"/>
              </a:solidFill>
              <a:latin typeface="Calibri"/>
              <a:ea typeface="Calibri"/>
              <a:cs typeface="Calibri"/>
              <a:sym typeface="Calibri"/>
            </a:endParaRPr>
          </a:p>
        </p:txBody>
      </p:sp>
      <p:sp>
        <p:nvSpPr>
          <p:cNvPr id="228" name="Google Shape;228;p9"/>
          <p:cNvSpPr/>
          <p:nvPr/>
        </p:nvSpPr>
        <p:spPr>
          <a:xfrm>
            <a:off x="457200" y="502920"/>
            <a:ext cx="1124712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3000"/>
              <a:buFont typeface="Georgia"/>
              <a:buNone/>
            </a:pPr>
            <a:r>
              <a:rPr lang="en-US" sz="3000" b="1">
                <a:solidFill>
                  <a:srgbClr val="21295C"/>
                </a:solidFill>
                <a:latin typeface="Georgia"/>
                <a:ea typeface="Georgia"/>
                <a:cs typeface="Georgia"/>
                <a:sym typeface="Georgia"/>
              </a:rPr>
              <a:t>Gestion des NA : pipeline en 5 étapes</a:t>
            </a:r>
            <a:endParaRPr sz="3000">
              <a:solidFill>
                <a:schemeClr val="dk1"/>
              </a:solidFill>
              <a:latin typeface="Calibri"/>
              <a:ea typeface="Calibri"/>
              <a:cs typeface="Calibri"/>
              <a:sym typeface="Calibri"/>
            </a:endParaRPr>
          </a:p>
        </p:txBody>
      </p:sp>
      <p:sp>
        <p:nvSpPr>
          <p:cNvPr id="229" name="Google Shape;229;p9"/>
          <p:cNvSpPr/>
          <p:nvPr/>
        </p:nvSpPr>
        <p:spPr>
          <a:xfrm>
            <a:off x="457200" y="6537960"/>
            <a:ext cx="1124712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Prédiction âge biologique · Méthylation ADN · Master 1 UCA 2025-2026</a:t>
            </a:r>
            <a:endParaRPr sz="900">
              <a:solidFill>
                <a:schemeClr val="dk1"/>
              </a:solidFill>
              <a:latin typeface="Calibri"/>
              <a:ea typeface="Calibri"/>
              <a:cs typeface="Calibri"/>
              <a:sym typeface="Calibri"/>
            </a:endParaRPr>
          </a:p>
        </p:txBody>
      </p:sp>
      <p:sp>
        <p:nvSpPr>
          <p:cNvPr id="230" name="Google Shape;230;p9"/>
          <p:cNvSpPr/>
          <p:nvPr/>
        </p:nvSpPr>
        <p:spPr>
          <a:xfrm>
            <a:off x="640080" y="1325880"/>
            <a:ext cx="109728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200"/>
              <a:buFont typeface="Calibri"/>
              <a:buNone/>
            </a:pPr>
            <a:endParaRPr sz="1200">
              <a:solidFill>
                <a:schemeClr val="dk1"/>
              </a:solidFill>
              <a:latin typeface="Calibri"/>
              <a:ea typeface="Calibri"/>
              <a:cs typeface="Calibri"/>
              <a:sym typeface="Calibri"/>
            </a:endParaRPr>
          </a:p>
        </p:txBody>
      </p:sp>
      <p:sp>
        <p:nvSpPr>
          <p:cNvPr id="231" name="Google Shape;231;p9"/>
          <p:cNvSpPr/>
          <p:nvPr/>
        </p:nvSpPr>
        <p:spPr>
          <a:xfrm>
            <a:off x="434340" y="1828800"/>
            <a:ext cx="2148840" cy="3017520"/>
          </a:xfrm>
          <a:prstGeom prst="rect">
            <a:avLst/>
          </a:prstGeom>
          <a:solidFill>
            <a:srgbClr val="FFFFFF"/>
          </a:solidFill>
          <a:ln w="12700" cap="flat" cmpd="sng">
            <a:solidFill>
              <a:srgbClr val="E2E8F0"/>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9"/>
          <p:cNvSpPr/>
          <p:nvPr/>
        </p:nvSpPr>
        <p:spPr>
          <a:xfrm>
            <a:off x="434340" y="1828800"/>
            <a:ext cx="2148840" cy="457200"/>
          </a:xfrm>
          <a:prstGeom prst="rect">
            <a:avLst/>
          </a:prstGeom>
          <a:solidFill>
            <a:srgbClr val="065A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9"/>
          <p:cNvSpPr/>
          <p:nvPr/>
        </p:nvSpPr>
        <p:spPr>
          <a:xfrm>
            <a:off x="434340" y="1828800"/>
            <a:ext cx="214884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ÉTAPE 0</a:t>
            </a:r>
            <a:endParaRPr sz="1100">
              <a:solidFill>
                <a:schemeClr val="dk1"/>
              </a:solidFill>
              <a:latin typeface="Calibri"/>
              <a:ea typeface="Calibri"/>
              <a:cs typeface="Calibri"/>
              <a:sym typeface="Calibri"/>
            </a:endParaRPr>
          </a:p>
        </p:txBody>
      </p:sp>
      <p:sp>
        <p:nvSpPr>
          <p:cNvPr id="234" name="Google Shape;234;p9"/>
          <p:cNvSpPr/>
          <p:nvPr/>
        </p:nvSpPr>
        <p:spPr>
          <a:xfrm>
            <a:off x="571500" y="2468880"/>
            <a:ext cx="1874520"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1295C"/>
              </a:buClr>
              <a:buSzPts val="1400"/>
              <a:buFont typeface="Georgia"/>
              <a:buNone/>
            </a:pPr>
            <a:r>
              <a:rPr lang="en-US" sz="1400" b="1">
                <a:solidFill>
                  <a:srgbClr val="21295C"/>
                </a:solidFill>
                <a:latin typeface="Georgia"/>
                <a:ea typeface="Georgia"/>
                <a:cs typeface="Georgia"/>
                <a:sym typeface="Georgia"/>
              </a:rPr>
              <a:t>Valeurs hors [0,1]</a:t>
            </a:r>
            <a:endParaRPr sz="1400">
              <a:solidFill>
                <a:schemeClr val="dk1"/>
              </a:solidFill>
              <a:latin typeface="Calibri"/>
              <a:ea typeface="Calibri"/>
              <a:cs typeface="Calibri"/>
              <a:sym typeface="Calibri"/>
            </a:endParaRPr>
          </a:p>
        </p:txBody>
      </p:sp>
      <p:sp>
        <p:nvSpPr>
          <p:cNvPr id="235" name="Google Shape;235;p9"/>
          <p:cNvSpPr/>
          <p:nvPr/>
        </p:nvSpPr>
        <p:spPr>
          <a:xfrm>
            <a:off x="571500" y="3246120"/>
            <a:ext cx="18745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100"/>
              <a:buFont typeface="Calibri"/>
              <a:buNone/>
            </a:pPr>
            <a:r>
              <a:rPr lang="en-US" sz="1100" i="1">
                <a:solidFill>
                  <a:srgbClr val="64748B"/>
                </a:solidFill>
                <a:latin typeface="Calibri"/>
                <a:ea typeface="Calibri"/>
                <a:cs typeface="Calibri"/>
                <a:sym typeface="Calibri"/>
              </a:rPr>
              <a:t>Remplacées par NA</a:t>
            </a:r>
            <a:endParaRPr sz="1100">
              <a:solidFill>
                <a:schemeClr val="dk1"/>
              </a:solidFill>
              <a:latin typeface="Calibri"/>
              <a:ea typeface="Calibri"/>
              <a:cs typeface="Calibri"/>
              <a:sym typeface="Calibri"/>
            </a:endParaRPr>
          </a:p>
        </p:txBody>
      </p:sp>
      <p:sp>
        <p:nvSpPr>
          <p:cNvPr id="236" name="Google Shape;236;p9"/>
          <p:cNvSpPr/>
          <p:nvPr/>
        </p:nvSpPr>
        <p:spPr>
          <a:xfrm>
            <a:off x="617220" y="3886200"/>
            <a:ext cx="1783080" cy="777240"/>
          </a:xfrm>
          <a:prstGeom prst="rect">
            <a:avLst/>
          </a:prstGeom>
          <a:solidFill>
            <a:srgbClr val="F4F7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9"/>
          <p:cNvSpPr/>
          <p:nvPr/>
        </p:nvSpPr>
        <p:spPr>
          <a:xfrm>
            <a:off x="617220" y="3886200"/>
            <a:ext cx="1783080" cy="7772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07A5F"/>
              </a:buClr>
              <a:buSzPts val="1300"/>
              <a:buFont typeface="Georgia"/>
              <a:buNone/>
            </a:pPr>
            <a:r>
              <a:rPr lang="en-US" sz="1300" b="1">
                <a:solidFill>
                  <a:srgbClr val="E07A5F"/>
                </a:solidFill>
                <a:latin typeface="Georgia"/>
                <a:ea typeface="Georgia"/>
                <a:cs typeface="Georgia"/>
                <a:sym typeface="Georgia"/>
              </a:rPr>
              <a:t>0 corrigée</a:t>
            </a:r>
            <a:endParaRPr sz="1300">
              <a:solidFill>
                <a:schemeClr val="dk1"/>
              </a:solidFill>
              <a:latin typeface="Calibri"/>
              <a:ea typeface="Calibri"/>
              <a:cs typeface="Calibri"/>
              <a:sym typeface="Calibri"/>
            </a:endParaRPr>
          </a:p>
        </p:txBody>
      </p:sp>
      <p:sp>
        <p:nvSpPr>
          <p:cNvPr id="238" name="Google Shape;238;p9"/>
          <p:cNvSpPr/>
          <p:nvPr/>
        </p:nvSpPr>
        <p:spPr>
          <a:xfrm>
            <a:off x="2583180" y="3200400"/>
            <a:ext cx="13716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65A82"/>
              </a:buClr>
              <a:buSzPts val="1200"/>
              <a:buFont typeface="Calibri"/>
              <a:buNone/>
            </a:pPr>
            <a:r>
              <a:rPr lang="en-US" sz="1200" b="1">
                <a:solidFill>
                  <a:srgbClr val="065A82"/>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
        <p:nvSpPr>
          <p:cNvPr id="239" name="Google Shape;239;p9"/>
          <p:cNvSpPr/>
          <p:nvPr/>
        </p:nvSpPr>
        <p:spPr>
          <a:xfrm>
            <a:off x="2720340" y="1828800"/>
            <a:ext cx="2148840" cy="3017520"/>
          </a:xfrm>
          <a:prstGeom prst="rect">
            <a:avLst/>
          </a:prstGeom>
          <a:solidFill>
            <a:srgbClr val="FFFFFF"/>
          </a:solidFill>
          <a:ln w="12700" cap="flat" cmpd="sng">
            <a:solidFill>
              <a:srgbClr val="E2E8F0"/>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9"/>
          <p:cNvSpPr/>
          <p:nvPr/>
        </p:nvSpPr>
        <p:spPr>
          <a:xfrm>
            <a:off x="2720340" y="1828800"/>
            <a:ext cx="2148840" cy="457200"/>
          </a:xfrm>
          <a:prstGeom prst="rect">
            <a:avLst/>
          </a:prstGeom>
          <a:solidFill>
            <a:srgbClr val="065A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9"/>
          <p:cNvSpPr/>
          <p:nvPr/>
        </p:nvSpPr>
        <p:spPr>
          <a:xfrm>
            <a:off x="2720340" y="1828800"/>
            <a:ext cx="214884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ÉTAPE 1</a:t>
            </a:r>
            <a:endParaRPr sz="1100">
              <a:solidFill>
                <a:schemeClr val="dk1"/>
              </a:solidFill>
              <a:latin typeface="Calibri"/>
              <a:ea typeface="Calibri"/>
              <a:cs typeface="Calibri"/>
              <a:sym typeface="Calibri"/>
            </a:endParaRPr>
          </a:p>
        </p:txBody>
      </p:sp>
      <p:sp>
        <p:nvSpPr>
          <p:cNvPr id="242" name="Google Shape;242;p9"/>
          <p:cNvSpPr/>
          <p:nvPr/>
        </p:nvSpPr>
        <p:spPr>
          <a:xfrm>
            <a:off x="2857500" y="2468880"/>
            <a:ext cx="1874520"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1295C"/>
              </a:buClr>
              <a:buSzPts val="1400"/>
              <a:buFont typeface="Georgia"/>
              <a:buNone/>
            </a:pPr>
            <a:r>
              <a:rPr lang="en-US" sz="1400" b="1">
                <a:solidFill>
                  <a:srgbClr val="21295C"/>
                </a:solidFill>
                <a:latin typeface="Georgia"/>
                <a:ea typeface="Georgia"/>
                <a:cs typeface="Georgia"/>
                <a:sym typeface="Georgia"/>
              </a:rPr>
              <a:t>Sujets &gt; 50 % NA</a:t>
            </a:r>
            <a:endParaRPr sz="1400">
              <a:solidFill>
                <a:schemeClr val="dk1"/>
              </a:solidFill>
              <a:latin typeface="Calibri"/>
              <a:ea typeface="Calibri"/>
              <a:cs typeface="Calibri"/>
              <a:sym typeface="Calibri"/>
            </a:endParaRPr>
          </a:p>
        </p:txBody>
      </p:sp>
      <p:sp>
        <p:nvSpPr>
          <p:cNvPr id="243" name="Google Shape;243;p9"/>
          <p:cNvSpPr/>
          <p:nvPr/>
        </p:nvSpPr>
        <p:spPr>
          <a:xfrm>
            <a:off x="2857500" y="3246120"/>
            <a:ext cx="18745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100"/>
              <a:buFont typeface="Calibri"/>
              <a:buNone/>
            </a:pPr>
            <a:r>
              <a:rPr lang="en-US" sz="1100" i="1">
                <a:solidFill>
                  <a:srgbClr val="64748B"/>
                </a:solidFill>
                <a:latin typeface="Calibri"/>
                <a:ea typeface="Calibri"/>
                <a:cs typeface="Calibri"/>
                <a:sym typeface="Calibri"/>
              </a:rPr>
              <a:t>Supprimés (n = 3)</a:t>
            </a:r>
            <a:endParaRPr sz="1100">
              <a:solidFill>
                <a:schemeClr val="dk1"/>
              </a:solidFill>
              <a:latin typeface="Calibri"/>
              <a:ea typeface="Calibri"/>
              <a:cs typeface="Calibri"/>
              <a:sym typeface="Calibri"/>
            </a:endParaRPr>
          </a:p>
        </p:txBody>
      </p:sp>
      <p:sp>
        <p:nvSpPr>
          <p:cNvPr id="244" name="Google Shape;244;p9"/>
          <p:cNvSpPr/>
          <p:nvPr/>
        </p:nvSpPr>
        <p:spPr>
          <a:xfrm>
            <a:off x="2903220" y="3886200"/>
            <a:ext cx="1783080" cy="777240"/>
          </a:xfrm>
          <a:prstGeom prst="rect">
            <a:avLst/>
          </a:prstGeom>
          <a:solidFill>
            <a:srgbClr val="F4F7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9"/>
          <p:cNvSpPr/>
          <p:nvPr/>
        </p:nvSpPr>
        <p:spPr>
          <a:xfrm>
            <a:off x="2903220" y="3886200"/>
            <a:ext cx="1783080" cy="7772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07A5F"/>
              </a:buClr>
              <a:buSzPts val="1300"/>
              <a:buFont typeface="Georgia"/>
              <a:buNone/>
            </a:pPr>
            <a:r>
              <a:rPr lang="en-US" sz="1300" b="1">
                <a:solidFill>
                  <a:srgbClr val="E07A5F"/>
                </a:solidFill>
                <a:latin typeface="Georgia"/>
                <a:ea typeface="Georgia"/>
                <a:cs typeface="Georgia"/>
                <a:sym typeface="Georgia"/>
              </a:rPr>
              <a:t>400 → 397</a:t>
            </a:r>
            <a:endParaRPr sz="1300">
              <a:solidFill>
                <a:schemeClr val="dk1"/>
              </a:solidFill>
              <a:latin typeface="Calibri"/>
              <a:ea typeface="Calibri"/>
              <a:cs typeface="Calibri"/>
              <a:sym typeface="Calibri"/>
            </a:endParaRPr>
          </a:p>
        </p:txBody>
      </p:sp>
      <p:sp>
        <p:nvSpPr>
          <p:cNvPr id="246" name="Google Shape;246;p9"/>
          <p:cNvSpPr/>
          <p:nvPr/>
        </p:nvSpPr>
        <p:spPr>
          <a:xfrm>
            <a:off x="4869180" y="3200400"/>
            <a:ext cx="13716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65A82"/>
              </a:buClr>
              <a:buSzPts val="1200"/>
              <a:buFont typeface="Calibri"/>
              <a:buNone/>
            </a:pPr>
            <a:r>
              <a:rPr lang="en-US" sz="1200" b="1">
                <a:solidFill>
                  <a:srgbClr val="065A82"/>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
        <p:nvSpPr>
          <p:cNvPr id="247" name="Google Shape;247;p9"/>
          <p:cNvSpPr/>
          <p:nvPr/>
        </p:nvSpPr>
        <p:spPr>
          <a:xfrm>
            <a:off x="5006340" y="1828800"/>
            <a:ext cx="2148840" cy="3017520"/>
          </a:xfrm>
          <a:prstGeom prst="rect">
            <a:avLst/>
          </a:prstGeom>
          <a:solidFill>
            <a:srgbClr val="FFFFFF"/>
          </a:solidFill>
          <a:ln w="12700" cap="flat" cmpd="sng">
            <a:solidFill>
              <a:srgbClr val="E2E8F0"/>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9"/>
          <p:cNvSpPr/>
          <p:nvPr/>
        </p:nvSpPr>
        <p:spPr>
          <a:xfrm>
            <a:off x="5006340" y="1828800"/>
            <a:ext cx="2148840" cy="457200"/>
          </a:xfrm>
          <a:prstGeom prst="rect">
            <a:avLst/>
          </a:prstGeom>
          <a:solidFill>
            <a:srgbClr val="065A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9"/>
          <p:cNvSpPr/>
          <p:nvPr/>
        </p:nvSpPr>
        <p:spPr>
          <a:xfrm>
            <a:off x="5006340" y="1828800"/>
            <a:ext cx="214884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ÉTAPE 2</a:t>
            </a:r>
            <a:endParaRPr sz="1100">
              <a:solidFill>
                <a:schemeClr val="dk1"/>
              </a:solidFill>
              <a:latin typeface="Calibri"/>
              <a:ea typeface="Calibri"/>
              <a:cs typeface="Calibri"/>
              <a:sym typeface="Calibri"/>
            </a:endParaRPr>
          </a:p>
        </p:txBody>
      </p:sp>
      <p:sp>
        <p:nvSpPr>
          <p:cNvPr id="250" name="Google Shape;250;p9"/>
          <p:cNvSpPr/>
          <p:nvPr/>
        </p:nvSpPr>
        <p:spPr>
          <a:xfrm>
            <a:off x="5143500" y="2468880"/>
            <a:ext cx="1874520"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1295C"/>
              </a:buClr>
              <a:buSzPts val="1400"/>
              <a:buFont typeface="Georgia"/>
              <a:buNone/>
            </a:pPr>
            <a:r>
              <a:rPr lang="en-US" sz="1400" b="1">
                <a:solidFill>
                  <a:srgbClr val="21295C"/>
                </a:solidFill>
                <a:latin typeface="Georgia"/>
                <a:ea typeface="Georgia"/>
                <a:cs typeface="Georgia"/>
                <a:sym typeface="Georgia"/>
              </a:rPr>
              <a:t>CpG &gt; 20 % NA</a:t>
            </a:r>
            <a:endParaRPr sz="1400">
              <a:solidFill>
                <a:schemeClr val="dk1"/>
              </a:solidFill>
              <a:latin typeface="Calibri"/>
              <a:ea typeface="Calibri"/>
              <a:cs typeface="Calibri"/>
              <a:sym typeface="Calibri"/>
            </a:endParaRPr>
          </a:p>
        </p:txBody>
      </p:sp>
      <p:sp>
        <p:nvSpPr>
          <p:cNvPr id="251" name="Google Shape;251;p9"/>
          <p:cNvSpPr/>
          <p:nvPr/>
        </p:nvSpPr>
        <p:spPr>
          <a:xfrm>
            <a:off x="5143500" y="3246120"/>
            <a:ext cx="18745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100"/>
              <a:buFont typeface="Calibri"/>
              <a:buNone/>
            </a:pPr>
            <a:r>
              <a:rPr lang="en-US" sz="1100" i="1">
                <a:solidFill>
                  <a:srgbClr val="64748B"/>
                </a:solidFill>
                <a:latin typeface="Calibri"/>
                <a:ea typeface="Calibri"/>
                <a:cs typeface="Calibri"/>
                <a:sym typeface="Calibri"/>
              </a:rPr>
              <a:t>Supprimés</a:t>
            </a:r>
            <a:endParaRPr sz="1100">
              <a:solidFill>
                <a:schemeClr val="dk1"/>
              </a:solidFill>
              <a:latin typeface="Calibri"/>
              <a:ea typeface="Calibri"/>
              <a:cs typeface="Calibri"/>
              <a:sym typeface="Calibri"/>
            </a:endParaRPr>
          </a:p>
        </p:txBody>
      </p:sp>
      <p:sp>
        <p:nvSpPr>
          <p:cNvPr id="252" name="Google Shape;252;p9"/>
          <p:cNvSpPr/>
          <p:nvPr/>
        </p:nvSpPr>
        <p:spPr>
          <a:xfrm>
            <a:off x="5189220" y="3886200"/>
            <a:ext cx="1783080" cy="777240"/>
          </a:xfrm>
          <a:prstGeom prst="rect">
            <a:avLst/>
          </a:prstGeom>
          <a:solidFill>
            <a:srgbClr val="F4F7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9"/>
          <p:cNvSpPr/>
          <p:nvPr/>
        </p:nvSpPr>
        <p:spPr>
          <a:xfrm>
            <a:off x="5189220" y="3886200"/>
            <a:ext cx="1783080" cy="7772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07A5F"/>
              </a:buClr>
              <a:buSzPts val="1300"/>
              <a:buFont typeface="Georgia"/>
              <a:buNone/>
            </a:pPr>
            <a:r>
              <a:rPr lang="en-US" sz="1300" b="1">
                <a:solidFill>
                  <a:srgbClr val="E07A5F"/>
                </a:solidFill>
                <a:latin typeface="Georgia"/>
                <a:ea typeface="Georgia"/>
                <a:cs typeface="Georgia"/>
                <a:sym typeface="Georgia"/>
              </a:rPr>
              <a:t>50 000 → 43 110</a:t>
            </a:r>
            <a:endParaRPr sz="1300">
              <a:solidFill>
                <a:schemeClr val="dk1"/>
              </a:solidFill>
              <a:latin typeface="Calibri"/>
              <a:ea typeface="Calibri"/>
              <a:cs typeface="Calibri"/>
              <a:sym typeface="Calibri"/>
            </a:endParaRPr>
          </a:p>
        </p:txBody>
      </p:sp>
      <p:sp>
        <p:nvSpPr>
          <p:cNvPr id="254" name="Google Shape;254;p9"/>
          <p:cNvSpPr/>
          <p:nvPr/>
        </p:nvSpPr>
        <p:spPr>
          <a:xfrm>
            <a:off x="7155180" y="3200400"/>
            <a:ext cx="13716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65A82"/>
              </a:buClr>
              <a:buSzPts val="1200"/>
              <a:buFont typeface="Calibri"/>
              <a:buNone/>
            </a:pPr>
            <a:r>
              <a:rPr lang="en-US" sz="1200" b="1">
                <a:solidFill>
                  <a:srgbClr val="065A82"/>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
        <p:nvSpPr>
          <p:cNvPr id="255" name="Google Shape;255;p9"/>
          <p:cNvSpPr/>
          <p:nvPr/>
        </p:nvSpPr>
        <p:spPr>
          <a:xfrm>
            <a:off x="7292340" y="1828800"/>
            <a:ext cx="2148840" cy="3017520"/>
          </a:xfrm>
          <a:prstGeom prst="rect">
            <a:avLst/>
          </a:prstGeom>
          <a:solidFill>
            <a:srgbClr val="FFFFFF"/>
          </a:solidFill>
          <a:ln w="12700" cap="flat" cmpd="sng">
            <a:solidFill>
              <a:srgbClr val="E2E8F0"/>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9"/>
          <p:cNvSpPr/>
          <p:nvPr/>
        </p:nvSpPr>
        <p:spPr>
          <a:xfrm>
            <a:off x="7292340" y="1828800"/>
            <a:ext cx="2148840" cy="457200"/>
          </a:xfrm>
          <a:prstGeom prst="rect">
            <a:avLst/>
          </a:prstGeom>
          <a:solidFill>
            <a:srgbClr val="065A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9"/>
          <p:cNvSpPr/>
          <p:nvPr/>
        </p:nvSpPr>
        <p:spPr>
          <a:xfrm>
            <a:off x="7292340" y="1828800"/>
            <a:ext cx="214884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ÉTAPE 3</a:t>
            </a:r>
            <a:endParaRPr sz="1100">
              <a:solidFill>
                <a:schemeClr val="dk1"/>
              </a:solidFill>
              <a:latin typeface="Calibri"/>
              <a:ea typeface="Calibri"/>
              <a:cs typeface="Calibri"/>
              <a:sym typeface="Calibri"/>
            </a:endParaRPr>
          </a:p>
        </p:txBody>
      </p:sp>
      <p:sp>
        <p:nvSpPr>
          <p:cNvPr id="258" name="Google Shape;258;p9"/>
          <p:cNvSpPr/>
          <p:nvPr/>
        </p:nvSpPr>
        <p:spPr>
          <a:xfrm>
            <a:off x="7429500" y="2468880"/>
            <a:ext cx="1874520"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1295C"/>
              </a:buClr>
              <a:buSzPts val="1400"/>
              <a:buFont typeface="Georgia"/>
              <a:buNone/>
            </a:pPr>
            <a:r>
              <a:rPr lang="en-US" sz="1400" b="1">
                <a:solidFill>
                  <a:srgbClr val="21295C"/>
                </a:solidFill>
                <a:latin typeface="Georgia"/>
                <a:ea typeface="Georgia"/>
                <a:cs typeface="Georgia"/>
                <a:sym typeface="Georgia"/>
              </a:rPr>
              <a:t>Variance basse</a:t>
            </a:r>
            <a:endParaRPr sz="1400">
              <a:solidFill>
                <a:schemeClr val="dk1"/>
              </a:solidFill>
              <a:latin typeface="Calibri"/>
              <a:ea typeface="Calibri"/>
              <a:cs typeface="Calibri"/>
              <a:sym typeface="Calibri"/>
            </a:endParaRPr>
          </a:p>
        </p:txBody>
      </p:sp>
      <p:sp>
        <p:nvSpPr>
          <p:cNvPr id="259" name="Google Shape;259;p9"/>
          <p:cNvSpPr/>
          <p:nvPr/>
        </p:nvSpPr>
        <p:spPr>
          <a:xfrm>
            <a:off x="7429500" y="3246120"/>
            <a:ext cx="18745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100"/>
              <a:buFont typeface="Calibri"/>
              <a:buNone/>
            </a:pPr>
            <a:r>
              <a:rPr lang="en-US" sz="1100" i="1">
                <a:solidFill>
                  <a:srgbClr val="64748B"/>
                </a:solidFill>
                <a:latin typeface="Calibri"/>
                <a:ea typeface="Calibri"/>
                <a:cs typeface="Calibri"/>
                <a:sym typeface="Calibri"/>
              </a:rPr>
              <a:t>Seuil 10ᵉ perc.</a:t>
            </a:r>
            <a:endParaRPr sz="1100">
              <a:solidFill>
                <a:schemeClr val="dk1"/>
              </a:solidFill>
              <a:latin typeface="Calibri"/>
              <a:ea typeface="Calibri"/>
              <a:cs typeface="Calibri"/>
              <a:sym typeface="Calibri"/>
            </a:endParaRPr>
          </a:p>
        </p:txBody>
      </p:sp>
      <p:sp>
        <p:nvSpPr>
          <p:cNvPr id="260" name="Google Shape;260;p9"/>
          <p:cNvSpPr/>
          <p:nvPr/>
        </p:nvSpPr>
        <p:spPr>
          <a:xfrm>
            <a:off x="7475220" y="3886200"/>
            <a:ext cx="1783080" cy="777240"/>
          </a:xfrm>
          <a:prstGeom prst="rect">
            <a:avLst/>
          </a:prstGeom>
          <a:solidFill>
            <a:srgbClr val="F4F7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9"/>
          <p:cNvSpPr/>
          <p:nvPr/>
        </p:nvSpPr>
        <p:spPr>
          <a:xfrm>
            <a:off x="7475220" y="3886200"/>
            <a:ext cx="1783080" cy="7772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07A5F"/>
              </a:buClr>
              <a:buSzPts val="1300"/>
              <a:buFont typeface="Georgia"/>
              <a:buNone/>
            </a:pPr>
            <a:r>
              <a:rPr lang="en-US" sz="1300" b="1">
                <a:solidFill>
                  <a:srgbClr val="E07A5F"/>
                </a:solidFill>
                <a:latin typeface="Georgia"/>
                <a:ea typeface="Georgia"/>
                <a:cs typeface="Georgia"/>
                <a:sym typeface="Georgia"/>
              </a:rPr>
              <a:t>43 110 → 34 919</a:t>
            </a:r>
            <a:endParaRPr sz="1300">
              <a:solidFill>
                <a:schemeClr val="dk1"/>
              </a:solidFill>
              <a:latin typeface="Calibri"/>
              <a:ea typeface="Calibri"/>
              <a:cs typeface="Calibri"/>
              <a:sym typeface="Calibri"/>
            </a:endParaRPr>
          </a:p>
        </p:txBody>
      </p:sp>
      <p:sp>
        <p:nvSpPr>
          <p:cNvPr id="262" name="Google Shape;262;p9"/>
          <p:cNvSpPr/>
          <p:nvPr/>
        </p:nvSpPr>
        <p:spPr>
          <a:xfrm>
            <a:off x="9441180" y="3200400"/>
            <a:ext cx="13716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65A82"/>
              </a:buClr>
              <a:buSzPts val="1200"/>
              <a:buFont typeface="Calibri"/>
              <a:buNone/>
            </a:pPr>
            <a:r>
              <a:rPr lang="en-US" sz="1200" b="1">
                <a:solidFill>
                  <a:srgbClr val="065A82"/>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
        <p:nvSpPr>
          <p:cNvPr id="263" name="Google Shape;263;p9"/>
          <p:cNvSpPr/>
          <p:nvPr/>
        </p:nvSpPr>
        <p:spPr>
          <a:xfrm>
            <a:off x="9578340" y="1828800"/>
            <a:ext cx="2148840" cy="3017520"/>
          </a:xfrm>
          <a:prstGeom prst="rect">
            <a:avLst/>
          </a:prstGeom>
          <a:solidFill>
            <a:srgbClr val="FFFFFF"/>
          </a:solidFill>
          <a:ln w="12700" cap="flat" cmpd="sng">
            <a:solidFill>
              <a:srgbClr val="E2E8F0"/>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9"/>
          <p:cNvSpPr/>
          <p:nvPr/>
        </p:nvSpPr>
        <p:spPr>
          <a:xfrm>
            <a:off x="9578340" y="1828800"/>
            <a:ext cx="2148840" cy="457200"/>
          </a:xfrm>
          <a:prstGeom prst="rect">
            <a:avLst/>
          </a:prstGeom>
          <a:solidFill>
            <a:srgbClr val="065A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9"/>
          <p:cNvSpPr/>
          <p:nvPr/>
        </p:nvSpPr>
        <p:spPr>
          <a:xfrm>
            <a:off x="9578340" y="1828800"/>
            <a:ext cx="214884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ÉTAPE 4</a:t>
            </a:r>
            <a:endParaRPr sz="1100">
              <a:solidFill>
                <a:schemeClr val="dk1"/>
              </a:solidFill>
              <a:latin typeface="Calibri"/>
              <a:ea typeface="Calibri"/>
              <a:cs typeface="Calibri"/>
              <a:sym typeface="Calibri"/>
            </a:endParaRPr>
          </a:p>
        </p:txBody>
      </p:sp>
      <p:sp>
        <p:nvSpPr>
          <p:cNvPr id="266" name="Google Shape;266;p9"/>
          <p:cNvSpPr/>
          <p:nvPr/>
        </p:nvSpPr>
        <p:spPr>
          <a:xfrm>
            <a:off x="9715500" y="2468880"/>
            <a:ext cx="1874520"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1295C"/>
              </a:buClr>
              <a:buSzPts val="1400"/>
              <a:buFont typeface="Georgia"/>
              <a:buNone/>
            </a:pPr>
            <a:r>
              <a:rPr lang="en-US" sz="1400" b="1">
                <a:solidFill>
                  <a:srgbClr val="21295C"/>
                </a:solidFill>
                <a:latin typeface="Georgia"/>
                <a:ea typeface="Georgia"/>
                <a:cs typeface="Georgia"/>
                <a:sym typeface="Georgia"/>
              </a:rPr>
              <a:t>Imputation</a:t>
            </a:r>
            <a:endParaRPr sz="1400">
              <a:solidFill>
                <a:schemeClr val="dk1"/>
              </a:solidFill>
              <a:latin typeface="Calibri"/>
              <a:ea typeface="Calibri"/>
              <a:cs typeface="Calibri"/>
              <a:sym typeface="Calibri"/>
            </a:endParaRPr>
          </a:p>
        </p:txBody>
      </p:sp>
      <p:sp>
        <p:nvSpPr>
          <p:cNvPr id="267" name="Google Shape;267;p9"/>
          <p:cNvSpPr/>
          <p:nvPr/>
        </p:nvSpPr>
        <p:spPr>
          <a:xfrm>
            <a:off x="9715500" y="3246120"/>
            <a:ext cx="18745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100"/>
              <a:buFont typeface="Calibri"/>
              <a:buNone/>
            </a:pPr>
            <a:r>
              <a:rPr lang="en-US" sz="1100" i="1">
                <a:solidFill>
                  <a:srgbClr val="64748B"/>
                </a:solidFill>
                <a:latin typeface="Calibri"/>
                <a:ea typeface="Calibri"/>
                <a:cs typeface="Calibri"/>
                <a:sym typeface="Calibri"/>
              </a:rPr>
              <a:t>Médiane par CpG</a:t>
            </a:r>
            <a:endParaRPr sz="1100">
              <a:solidFill>
                <a:schemeClr val="dk1"/>
              </a:solidFill>
              <a:latin typeface="Calibri"/>
              <a:ea typeface="Calibri"/>
              <a:cs typeface="Calibri"/>
              <a:sym typeface="Calibri"/>
            </a:endParaRPr>
          </a:p>
        </p:txBody>
      </p:sp>
      <p:sp>
        <p:nvSpPr>
          <p:cNvPr id="268" name="Google Shape;268;p9"/>
          <p:cNvSpPr/>
          <p:nvPr/>
        </p:nvSpPr>
        <p:spPr>
          <a:xfrm>
            <a:off x="9761220" y="3886200"/>
            <a:ext cx="1783080" cy="777240"/>
          </a:xfrm>
          <a:prstGeom prst="rect">
            <a:avLst/>
          </a:prstGeom>
          <a:solidFill>
            <a:srgbClr val="F4F7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9"/>
          <p:cNvSpPr/>
          <p:nvPr/>
        </p:nvSpPr>
        <p:spPr>
          <a:xfrm>
            <a:off x="9761220" y="3886200"/>
            <a:ext cx="1783080" cy="7772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07A5F"/>
              </a:buClr>
              <a:buSzPts val="1300"/>
              <a:buFont typeface="Georgia"/>
              <a:buNone/>
            </a:pPr>
            <a:r>
              <a:rPr lang="en-US" sz="1300" b="1">
                <a:solidFill>
                  <a:srgbClr val="E07A5F"/>
                </a:solidFill>
                <a:latin typeface="Georgia"/>
                <a:ea typeface="Georgia"/>
                <a:cs typeface="Georgia"/>
                <a:sym typeface="Georgia"/>
              </a:rPr>
              <a:t>0 NA</a:t>
            </a:r>
            <a:endParaRPr sz="1300">
              <a:solidFill>
                <a:schemeClr val="dk1"/>
              </a:solidFill>
              <a:latin typeface="Calibri"/>
              <a:ea typeface="Calibri"/>
              <a:cs typeface="Calibri"/>
              <a:sym typeface="Calibri"/>
            </a:endParaRPr>
          </a:p>
        </p:txBody>
      </p:sp>
      <p:sp>
        <p:nvSpPr>
          <p:cNvPr id="270" name="Google Shape;270;p9"/>
          <p:cNvSpPr/>
          <p:nvPr/>
        </p:nvSpPr>
        <p:spPr>
          <a:xfrm>
            <a:off x="640080" y="5212080"/>
            <a:ext cx="11247120" cy="1097280"/>
          </a:xfrm>
          <a:prstGeom prst="rect">
            <a:avLst/>
          </a:prstGeom>
          <a:solidFill>
            <a:srgbClr val="2129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9"/>
          <p:cNvSpPr/>
          <p:nvPr/>
        </p:nvSpPr>
        <p:spPr>
          <a:xfrm>
            <a:off x="914400" y="5349240"/>
            <a:ext cx="27432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2B705"/>
              </a:buClr>
              <a:buSzPts val="1100"/>
              <a:buFont typeface="Calibri"/>
              <a:buNone/>
            </a:pPr>
            <a:r>
              <a:rPr lang="en-US" sz="1100" b="1">
                <a:solidFill>
                  <a:srgbClr val="F2B705"/>
                </a:solidFill>
                <a:latin typeface="Calibri"/>
                <a:ea typeface="Calibri"/>
                <a:cs typeface="Calibri"/>
                <a:sym typeface="Calibri"/>
              </a:rPr>
              <a:t>MATRICE FINALE</a:t>
            </a:r>
            <a:endParaRPr sz="1100">
              <a:solidFill>
                <a:schemeClr val="dk1"/>
              </a:solidFill>
              <a:latin typeface="Calibri"/>
              <a:ea typeface="Calibri"/>
              <a:cs typeface="Calibri"/>
              <a:sym typeface="Calibri"/>
            </a:endParaRPr>
          </a:p>
        </p:txBody>
      </p:sp>
      <p:sp>
        <p:nvSpPr>
          <p:cNvPr id="272" name="Google Shape;272;p9"/>
          <p:cNvSpPr/>
          <p:nvPr/>
        </p:nvSpPr>
        <p:spPr>
          <a:xfrm>
            <a:off x="914400" y="5715000"/>
            <a:ext cx="109728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500"/>
              <a:buFont typeface="Calibri"/>
              <a:buNone/>
            </a:pPr>
            <a:r>
              <a:rPr lang="en-US" sz="1500" b="1">
                <a:solidFill>
                  <a:srgbClr val="FFFFFF"/>
                </a:solidFill>
                <a:latin typeface="Calibri"/>
                <a:ea typeface="Calibri"/>
                <a:cs typeface="Calibri"/>
                <a:sym typeface="Calibri"/>
              </a:rPr>
              <a:t>397 sujets × 34 920 features (34 919 CpG + 1 variable sexe) — 0 NA, prêt pour split</a:t>
            </a:r>
            <a:endParaRPr sz="15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7"/>
        <p:cNvGrpSpPr/>
        <p:nvPr/>
      </p:nvGrpSpPr>
      <p:grpSpPr>
        <a:xfrm>
          <a:off x="0" y="0"/>
          <a:ext cx="0" cy="0"/>
          <a:chOff x="0" y="0"/>
          <a:chExt cx="0" cy="0"/>
        </a:xfrm>
      </p:grpSpPr>
      <p:sp>
        <p:nvSpPr>
          <p:cNvPr id="278" name="Google Shape;278;p10"/>
          <p:cNvSpPr/>
          <p:nvPr/>
        </p:nvSpPr>
        <p:spPr>
          <a:xfrm>
            <a:off x="457200" y="228600"/>
            <a:ext cx="91440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PARTIE IV · SPLIT</a:t>
            </a:r>
            <a:endParaRPr sz="1100">
              <a:solidFill>
                <a:schemeClr val="dk1"/>
              </a:solidFill>
              <a:latin typeface="Calibri"/>
              <a:ea typeface="Calibri"/>
              <a:cs typeface="Calibri"/>
              <a:sym typeface="Calibri"/>
            </a:endParaRPr>
          </a:p>
        </p:txBody>
      </p:sp>
      <p:sp>
        <p:nvSpPr>
          <p:cNvPr id="279" name="Google Shape;279;p10"/>
          <p:cNvSpPr/>
          <p:nvPr/>
        </p:nvSpPr>
        <p:spPr>
          <a:xfrm>
            <a:off x="10972800" y="228600"/>
            <a:ext cx="914400" cy="32004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9 / 16</a:t>
            </a:r>
            <a:endParaRPr sz="1000">
              <a:solidFill>
                <a:schemeClr val="dk1"/>
              </a:solidFill>
              <a:latin typeface="Calibri"/>
              <a:ea typeface="Calibri"/>
              <a:cs typeface="Calibri"/>
              <a:sym typeface="Calibri"/>
            </a:endParaRPr>
          </a:p>
        </p:txBody>
      </p:sp>
      <p:sp>
        <p:nvSpPr>
          <p:cNvPr id="280" name="Google Shape;280;p10"/>
          <p:cNvSpPr/>
          <p:nvPr/>
        </p:nvSpPr>
        <p:spPr>
          <a:xfrm>
            <a:off x="457200" y="502920"/>
            <a:ext cx="1124712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3000"/>
              <a:buFont typeface="Georgia"/>
              <a:buNone/>
            </a:pPr>
            <a:r>
              <a:rPr lang="en-US" sz="3000" b="1">
                <a:solidFill>
                  <a:srgbClr val="21295C"/>
                </a:solidFill>
                <a:latin typeface="Georgia"/>
                <a:ea typeface="Georgia"/>
                <a:cs typeface="Georgia"/>
                <a:sym typeface="Georgia"/>
              </a:rPr>
              <a:t>Séparation des données : Train / Validation / Test</a:t>
            </a:r>
            <a:endParaRPr sz="3000">
              <a:solidFill>
                <a:schemeClr val="dk1"/>
              </a:solidFill>
              <a:latin typeface="Calibri"/>
              <a:ea typeface="Calibri"/>
              <a:cs typeface="Calibri"/>
              <a:sym typeface="Calibri"/>
            </a:endParaRPr>
          </a:p>
        </p:txBody>
      </p:sp>
      <p:sp>
        <p:nvSpPr>
          <p:cNvPr id="281" name="Google Shape;281;p10"/>
          <p:cNvSpPr/>
          <p:nvPr/>
        </p:nvSpPr>
        <p:spPr>
          <a:xfrm>
            <a:off x="457200" y="6537960"/>
            <a:ext cx="1124712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Prédiction âge biologique · Méthylation ADN · Master 1 UCA 2025-2026</a:t>
            </a:r>
            <a:endParaRPr sz="900">
              <a:solidFill>
                <a:schemeClr val="dk1"/>
              </a:solidFill>
              <a:latin typeface="Calibri"/>
              <a:ea typeface="Calibri"/>
              <a:cs typeface="Calibri"/>
              <a:sym typeface="Calibri"/>
            </a:endParaRPr>
          </a:p>
        </p:txBody>
      </p:sp>
      <p:sp>
        <p:nvSpPr>
          <p:cNvPr id="282" name="Google Shape;282;p10"/>
          <p:cNvSpPr/>
          <p:nvPr/>
        </p:nvSpPr>
        <p:spPr>
          <a:xfrm>
            <a:off x="609605" y="1440183"/>
            <a:ext cx="10972800" cy="36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65A82"/>
              </a:buClr>
              <a:buSzPts val="1600"/>
              <a:buFont typeface="Georgia"/>
              <a:buNone/>
            </a:pPr>
            <a:r>
              <a:rPr lang="en-US" sz="2300" b="1">
                <a:solidFill>
                  <a:srgbClr val="065A82"/>
                </a:solidFill>
                <a:latin typeface="Georgia"/>
                <a:ea typeface="Georgia"/>
                <a:cs typeface="Georgia"/>
                <a:sym typeface="Georgia"/>
              </a:rPr>
              <a:t>Répartition 60 / 20 / 20</a:t>
            </a:r>
            <a:endParaRPr sz="2300">
              <a:solidFill>
                <a:schemeClr val="dk1"/>
              </a:solidFill>
              <a:latin typeface="Calibri"/>
              <a:ea typeface="Calibri"/>
              <a:cs typeface="Calibri"/>
              <a:sym typeface="Calibri"/>
            </a:endParaRPr>
          </a:p>
        </p:txBody>
      </p:sp>
      <p:sp>
        <p:nvSpPr>
          <p:cNvPr id="283" name="Google Shape;283;p10"/>
          <p:cNvSpPr/>
          <p:nvPr/>
        </p:nvSpPr>
        <p:spPr>
          <a:xfrm>
            <a:off x="640075" y="2465525"/>
            <a:ext cx="5501400" cy="2745000"/>
          </a:xfrm>
          <a:prstGeom prst="rect">
            <a:avLst/>
          </a:prstGeom>
          <a:solidFill>
            <a:srgbClr val="065A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0"/>
          <p:cNvSpPr/>
          <p:nvPr/>
        </p:nvSpPr>
        <p:spPr>
          <a:xfrm>
            <a:off x="746975" y="2758138"/>
            <a:ext cx="6336300" cy="2233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libri"/>
              <a:buNone/>
            </a:pPr>
            <a:r>
              <a:rPr lang="en-US" sz="4100" b="1">
                <a:solidFill>
                  <a:srgbClr val="FFFFFF"/>
                </a:solidFill>
                <a:latin typeface="Calibri"/>
                <a:ea typeface="Calibri"/>
                <a:cs typeface="Calibri"/>
                <a:sym typeface="Calibri"/>
              </a:rPr>
              <a:t>TRAIN</a:t>
            </a:r>
            <a:endParaRPr sz="410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200"/>
              <a:buFont typeface="Calibri"/>
              <a:buNone/>
            </a:pPr>
            <a:r>
              <a:rPr lang="en-US" sz="1800">
                <a:solidFill>
                  <a:srgbClr val="FFFFFF"/>
                </a:solidFill>
                <a:latin typeface="Calibri"/>
                <a:ea typeface="Calibri"/>
                <a:cs typeface="Calibri"/>
                <a:sym typeface="Calibri"/>
              </a:rPr>
              <a:t>237 sujets (60 %)</a:t>
            </a:r>
            <a:endParaRPr sz="2200">
              <a:solidFill>
                <a:schemeClr val="dk1"/>
              </a:solidFill>
              <a:latin typeface="Calibri"/>
              <a:ea typeface="Calibri"/>
              <a:cs typeface="Calibri"/>
              <a:sym typeface="Calibri"/>
            </a:endParaRPr>
          </a:p>
        </p:txBody>
      </p:sp>
      <p:sp>
        <p:nvSpPr>
          <p:cNvPr id="285" name="Google Shape;285;p10"/>
          <p:cNvSpPr/>
          <p:nvPr/>
        </p:nvSpPr>
        <p:spPr>
          <a:xfrm>
            <a:off x="6141475" y="2465575"/>
            <a:ext cx="3479400" cy="2745000"/>
          </a:xfrm>
          <a:prstGeom prst="rect">
            <a:avLst/>
          </a:prstGeom>
          <a:solidFill>
            <a:srgbClr val="1C72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0"/>
          <p:cNvSpPr/>
          <p:nvPr/>
        </p:nvSpPr>
        <p:spPr>
          <a:xfrm>
            <a:off x="6291417" y="2502225"/>
            <a:ext cx="3179400" cy="2745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libri"/>
              <a:buNone/>
            </a:pPr>
            <a:r>
              <a:rPr lang="en-US" sz="4100" b="1">
                <a:solidFill>
                  <a:srgbClr val="FFFFFF"/>
                </a:solidFill>
                <a:latin typeface="Calibri"/>
                <a:ea typeface="Calibri"/>
                <a:cs typeface="Calibri"/>
                <a:sym typeface="Calibri"/>
              </a:rPr>
              <a:t>VALATION</a:t>
            </a:r>
            <a:endParaRPr sz="410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200"/>
              <a:buFont typeface="Calibri"/>
              <a:buNone/>
            </a:pPr>
            <a:r>
              <a:rPr lang="en-US" sz="1800">
                <a:solidFill>
                  <a:srgbClr val="FFFFFF"/>
                </a:solidFill>
                <a:latin typeface="Calibri"/>
                <a:ea typeface="Calibri"/>
                <a:cs typeface="Calibri"/>
                <a:sym typeface="Calibri"/>
              </a:rPr>
              <a:t>80 (20 %)</a:t>
            </a:r>
            <a:endParaRPr sz="2200">
              <a:solidFill>
                <a:schemeClr val="dk1"/>
              </a:solidFill>
              <a:latin typeface="Calibri"/>
              <a:ea typeface="Calibri"/>
              <a:cs typeface="Calibri"/>
              <a:sym typeface="Calibri"/>
            </a:endParaRPr>
          </a:p>
        </p:txBody>
      </p:sp>
      <p:sp>
        <p:nvSpPr>
          <p:cNvPr id="287" name="Google Shape;287;p10"/>
          <p:cNvSpPr/>
          <p:nvPr/>
        </p:nvSpPr>
        <p:spPr>
          <a:xfrm>
            <a:off x="9620775" y="2465587"/>
            <a:ext cx="2266500" cy="2745000"/>
          </a:xfrm>
          <a:prstGeom prst="rect">
            <a:avLst/>
          </a:prstGeom>
          <a:solidFill>
            <a:srgbClr val="E07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0"/>
          <p:cNvSpPr/>
          <p:nvPr/>
        </p:nvSpPr>
        <p:spPr>
          <a:xfrm>
            <a:off x="9620778" y="3509030"/>
            <a:ext cx="2266500" cy="731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libri"/>
              <a:buNone/>
            </a:pPr>
            <a:r>
              <a:rPr lang="en-US" sz="4100" b="1">
                <a:solidFill>
                  <a:srgbClr val="FFFFFF"/>
                </a:solidFill>
                <a:latin typeface="Calibri"/>
                <a:ea typeface="Calibri"/>
                <a:cs typeface="Calibri"/>
                <a:sym typeface="Calibri"/>
              </a:rPr>
              <a:t>TEST</a:t>
            </a:r>
            <a:endParaRPr sz="410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200"/>
              <a:buFont typeface="Calibri"/>
              <a:buNone/>
            </a:pPr>
            <a:r>
              <a:rPr lang="en-US" sz="1800">
                <a:solidFill>
                  <a:srgbClr val="FFFFFF"/>
                </a:solidFill>
                <a:latin typeface="Calibri"/>
                <a:ea typeface="Calibri"/>
                <a:cs typeface="Calibri"/>
                <a:sym typeface="Calibri"/>
              </a:rPr>
              <a:t>80 (20 %</a:t>
            </a:r>
            <a:r>
              <a:rPr lang="en-US" sz="2100">
                <a:solidFill>
                  <a:srgbClr val="FFFFFF"/>
                </a:solidFill>
                <a:latin typeface="Calibri"/>
                <a:ea typeface="Calibri"/>
                <a:cs typeface="Calibri"/>
                <a:sym typeface="Calibri"/>
              </a:rPr>
              <a:t>)</a:t>
            </a:r>
            <a:endParaRPr sz="25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3"/>
        <p:cNvGrpSpPr/>
        <p:nvPr/>
      </p:nvGrpSpPr>
      <p:grpSpPr>
        <a:xfrm>
          <a:off x="0" y="0"/>
          <a:ext cx="0" cy="0"/>
          <a:chOff x="0" y="0"/>
          <a:chExt cx="0" cy="0"/>
        </a:xfrm>
      </p:grpSpPr>
      <p:sp>
        <p:nvSpPr>
          <p:cNvPr id="294" name="Google Shape;294;p11"/>
          <p:cNvSpPr/>
          <p:nvPr/>
        </p:nvSpPr>
        <p:spPr>
          <a:xfrm>
            <a:off x="457200" y="228600"/>
            <a:ext cx="91440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PARTIE V · MODÉLISATION</a:t>
            </a:r>
            <a:endParaRPr sz="1100">
              <a:solidFill>
                <a:schemeClr val="dk1"/>
              </a:solidFill>
              <a:latin typeface="Calibri"/>
              <a:ea typeface="Calibri"/>
              <a:cs typeface="Calibri"/>
              <a:sym typeface="Calibri"/>
            </a:endParaRPr>
          </a:p>
        </p:txBody>
      </p:sp>
      <p:sp>
        <p:nvSpPr>
          <p:cNvPr id="295" name="Google Shape;295;p11"/>
          <p:cNvSpPr/>
          <p:nvPr/>
        </p:nvSpPr>
        <p:spPr>
          <a:xfrm>
            <a:off x="10972800" y="228600"/>
            <a:ext cx="914400" cy="32004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10 / 16</a:t>
            </a:r>
            <a:endParaRPr sz="1000">
              <a:solidFill>
                <a:schemeClr val="dk1"/>
              </a:solidFill>
              <a:latin typeface="Calibri"/>
              <a:ea typeface="Calibri"/>
              <a:cs typeface="Calibri"/>
              <a:sym typeface="Calibri"/>
            </a:endParaRPr>
          </a:p>
        </p:txBody>
      </p:sp>
      <p:sp>
        <p:nvSpPr>
          <p:cNvPr id="296" name="Google Shape;296;p11"/>
          <p:cNvSpPr/>
          <p:nvPr/>
        </p:nvSpPr>
        <p:spPr>
          <a:xfrm>
            <a:off x="457200" y="502920"/>
            <a:ext cx="1124712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3000"/>
              <a:buFont typeface="Georgia"/>
              <a:buNone/>
            </a:pPr>
            <a:r>
              <a:rPr lang="en-US" sz="3000" b="1">
                <a:solidFill>
                  <a:srgbClr val="21295C"/>
                </a:solidFill>
                <a:latin typeface="Georgia"/>
                <a:ea typeface="Georgia"/>
                <a:cs typeface="Georgia"/>
                <a:sym typeface="Georgia"/>
              </a:rPr>
              <a:t>9 modèles, 3 familles d'approches</a:t>
            </a:r>
            <a:endParaRPr sz="3000">
              <a:solidFill>
                <a:schemeClr val="dk1"/>
              </a:solidFill>
              <a:latin typeface="Calibri"/>
              <a:ea typeface="Calibri"/>
              <a:cs typeface="Calibri"/>
              <a:sym typeface="Calibri"/>
            </a:endParaRPr>
          </a:p>
        </p:txBody>
      </p:sp>
      <p:sp>
        <p:nvSpPr>
          <p:cNvPr id="297" name="Google Shape;297;p11"/>
          <p:cNvSpPr/>
          <p:nvPr/>
        </p:nvSpPr>
        <p:spPr>
          <a:xfrm>
            <a:off x="640080" y="1463040"/>
            <a:ext cx="3657600" cy="822960"/>
          </a:xfrm>
          <a:prstGeom prst="rect">
            <a:avLst/>
          </a:prstGeom>
          <a:solidFill>
            <a:srgbClr val="065A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1"/>
          <p:cNvSpPr/>
          <p:nvPr/>
        </p:nvSpPr>
        <p:spPr>
          <a:xfrm>
            <a:off x="777240" y="1554480"/>
            <a:ext cx="338328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Georgia"/>
              <a:buNone/>
            </a:pPr>
            <a:r>
              <a:rPr lang="en-US" sz="1400" b="1">
                <a:solidFill>
                  <a:srgbClr val="FFFFFF"/>
                </a:solidFill>
                <a:latin typeface="Georgia"/>
                <a:ea typeface="Georgia"/>
                <a:cs typeface="Georgia"/>
                <a:sym typeface="Georgia"/>
              </a:rPr>
              <a:t>Linéaires régularisés</a:t>
            </a:r>
            <a:endParaRPr sz="1400">
              <a:solidFill>
                <a:schemeClr val="dk1"/>
              </a:solidFill>
              <a:latin typeface="Calibri"/>
              <a:ea typeface="Calibri"/>
              <a:cs typeface="Calibri"/>
              <a:sym typeface="Calibri"/>
            </a:endParaRPr>
          </a:p>
        </p:txBody>
      </p:sp>
      <p:sp>
        <p:nvSpPr>
          <p:cNvPr id="299" name="Google Shape;299;p11"/>
          <p:cNvSpPr/>
          <p:nvPr/>
        </p:nvSpPr>
        <p:spPr>
          <a:xfrm>
            <a:off x="777240" y="1920240"/>
            <a:ext cx="338328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ADCFC"/>
              </a:buClr>
              <a:buSzPts val="1000"/>
              <a:buFont typeface="Calibri"/>
              <a:buNone/>
            </a:pPr>
            <a:r>
              <a:rPr lang="en-US" sz="1000" i="1">
                <a:solidFill>
                  <a:srgbClr val="CADCFC"/>
                </a:solidFill>
                <a:latin typeface="Calibri"/>
                <a:ea typeface="Calibri"/>
                <a:cs typeface="Calibri"/>
                <a:sym typeface="Calibri"/>
              </a:rPr>
              <a:t>Adaptés à p ≫ n, interprétables</a:t>
            </a:r>
            <a:endParaRPr sz="1000">
              <a:solidFill>
                <a:schemeClr val="dk1"/>
              </a:solidFill>
              <a:latin typeface="Calibri"/>
              <a:ea typeface="Calibri"/>
              <a:cs typeface="Calibri"/>
              <a:sym typeface="Calibri"/>
            </a:endParaRPr>
          </a:p>
        </p:txBody>
      </p:sp>
      <p:sp>
        <p:nvSpPr>
          <p:cNvPr id="300" name="Google Shape;300;p11"/>
          <p:cNvSpPr/>
          <p:nvPr/>
        </p:nvSpPr>
        <p:spPr>
          <a:xfrm>
            <a:off x="640080" y="2286000"/>
            <a:ext cx="3657600" cy="4846320"/>
          </a:xfrm>
          <a:prstGeom prst="rect">
            <a:avLst/>
          </a:prstGeom>
          <a:solidFill>
            <a:srgbClr val="F4F7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1"/>
          <p:cNvSpPr/>
          <p:nvPr/>
        </p:nvSpPr>
        <p:spPr>
          <a:xfrm>
            <a:off x="868675" y="2468871"/>
            <a:ext cx="3200400" cy="822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65A82"/>
              </a:buClr>
              <a:buSzPts val="1500"/>
              <a:buFont typeface="Georgia"/>
              <a:buNone/>
            </a:pPr>
            <a:r>
              <a:rPr lang="en-US" sz="3000" b="1">
                <a:solidFill>
                  <a:srgbClr val="065A82"/>
                </a:solidFill>
                <a:latin typeface="Georgia"/>
                <a:ea typeface="Georgia"/>
                <a:cs typeface="Georgia"/>
                <a:sym typeface="Georgia"/>
              </a:rPr>
              <a:t>Ridge</a:t>
            </a:r>
            <a:endParaRPr sz="3200">
              <a:solidFill>
                <a:schemeClr val="dk1"/>
              </a:solidFill>
              <a:latin typeface="Calibri"/>
              <a:ea typeface="Calibri"/>
              <a:cs typeface="Calibri"/>
              <a:sym typeface="Calibri"/>
            </a:endParaRPr>
          </a:p>
        </p:txBody>
      </p:sp>
      <p:cxnSp>
        <p:nvCxnSpPr>
          <p:cNvPr id="302" name="Google Shape;302;p11"/>
          <p:cNvCxnSpPr/>
          <p:nvPr/>
        </p:nvCxnSpPr>
        <p:spPr>
          <a:xfrm>
            <a:off x="914400" y="3867912"/>
            <a:ext cx="3108960" cy="0"/>
          </a:xfrm>
          <a:prstGeom prst="straightConnector1">
            <a:avLst/>
          </a:prstGeom>
          <a:noFill/>
          <a:ln w="9525" cap="flat" cmpd="sng">
            <a:solidFill>
              <a:srgbClr val="E2E8F0"/>
            </a:solidFill>
            <a:prstDash val="solid"/>
            <a:round/>
            <a:headEnd type="none" w="sm" len="sm"/>
            <a:tailEnd type="none" w="sm" len="sm"/>
          </a:ln>
        </p:spPr>
      </p:cxnSp>
      <p:sp>
        <p:nvSpPr>
          <p:cNvPr id="303" name="Google Shape;303;p11"/>
          <p:cNvSpPr/>
          <p:nvPr/>
        </p:nvSpPr>
        <p:spPr>
          <a:xfrm>
            <a:off x="868680" y="3977640"/>
            <a:ext cx="3200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65A82"/>
              </a:buClr>
              <a:buSzPts val="1500"/>
              <a:buFont typeface="Georgia"/>
              <a:buNone/>
            </a:pPr>
            <a:r>
              <a:rPr lang="en-US" sz="3000" b="1">
                <a:solidFill>
                  <a:srgbClr val="065A82"/>
                </a:solidFill>
                <a:latin typeface="Georgia"/>
                <a:ea typeface="Georgia"/>
                <a:cs typeface="Georgia"/>
                <a:sym typeface="Georgia"/>
              </a:rPr>
              <a:t>LASSO</a:t>
            </a:r>
            <a:endParaRPr sz="3000">
              <a:solidFill>
                <a:schemeClr val="dk1"/>
              </a:solidFill>
              <a:latin typeface="Calibri"/>
              <a:ea typeface="Calibri"/>
              <a:cs typeface="Calibri"/>
              <a:sym typeface="Calibri"/>
            </a:endParaRPr>
          </a:p>
        </p:txBody>
      </p:sp>
      <p:sp>
        <p:nvSpPr>
          <p:cNvPr id="304" name="Google Shape;304;p11"/>
          <p:cNvSpPr/>
          <p:nvPr/>
        </p:nvSpPr>
        <p:spPr>
          <a:xfrm>
            <a:off x="868680" y="4434840"/>
            <a:ext cx="32004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en-US" sz="1100" i="1">
                <a:solidFill>
                  <a:srgbClr val="1E293B"/>
                </a:solidFill>
                <a:latin typeface="Calibri"/>
                <a:ea typeface="Calibri"/>
                <a:cs typeface="Calibri"/>
                <a:sym typeface="Calibri"/>
              </a:rPr>
              <a:t>ℓ₁ · sélection de CpG</a:t>
            </a:r>
            <a:endParaRPr sz="1100">
              <a:solidFill>
                <a:schemeClr val="dk1"/>
              </a:solidFill>
              <a:latin typeface="Calibri"/>
              <a:ea typeface="Calibri"/>
              <a:cs typeface="Calibri"/>
              <a:sym typeface="Calibri"/>
            </a:endParaRPr>
          </a:p>
        </p:txBody>
      </p:sp>
      <p:cxnSp>
        <p:nvCxnSpPr>
          <p:cNvPr id="305" name="Google Shape;305;p11"/>
          <p:cNvCxnSpPr/>
          <p:nvPr/>
        </p:nvCxnSpPr>
        <p:spPr>
          <a:xfrm>
            <a:off x="914400" y="5376672"/>
            <a:ext cx="3108960" cy="0"/>
          </a:xfrm>
          <a:prstGeom prst="straightConnector1">
            <a:avLst/>
          </a:prstGeom>
          <a:noFill/>
          <a:ln w="9525" cap="flat" cmpd="sng">
            <a:solidFill>
              <a:srgbClr val="E2E8F0"/>
            </a:solidFill>
            <a:prstDash val="solid"/>
            <a:round/>
            <a:headEnd type="none" w="sm" len="sm"/>
            <a:tailEnd type="none" w="sm" len="sm"/>
          </a:ln>
        </p:spPr>
      </p:cxnSp>
      <p:sp>
        <p:nvSpPr>
          <p:cNvPr id="306" name="Google Shape;306;p11"/>
          <p:cNvSpPr/>
          <p:nvPr/>
        </p:nvSpPr>
        <p:spPr>
          <a:xfrm>
            <a:off x="868680" y="5486400"/>
            <a:ext cx="3200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65A82"/>
              </a:buClr>
              <a:buSzPts val="1500"/>
              <a:buFont typeface="Georgia"/>
              <a:buNone/>
            </a:pPr>
            <a:r>
              <a:rPr lang="en-US" sz="3000" b="1">
                <a:solidFill>
                  <a:srgbClr val="065A82"/>
                </a:solidFill>
                <a:latin typeface="Georgia"/>
                <a:ea typeface="Georgia"/>
                <a:cs typeface="Georgia"/>
                <a:sym typeface="Georgia"/>
              </a:rPr>
              <a:t>ElasticNet</a:t>
            </a:r>
            <a:endParaRPr sz="3000">
              <a:solidFill>
                <a:schemeClr val="dk1"/>
              </a:solidFill>
              <a:latin typeface="Calibri"/>
              <a:ea typeface="Calibri"/>
              <a:cs typeface="Calibri"/>
              <a:sym typeface="Calibri"/>
            </a:endParaRPr>
          </a:p>
        </p:txBody>
      </p:sp>
      <p:sp>
        <p:nvSpPr>
          <p:cNvPr id="307" name="Google Shape;307;p11"/>
          <p:cNvSpPr/>
          <p:nvPr/>
        </p:nvSpPr>
        <p:spPr>
          <a:xfrm>
            <a:off x="868680" y="5943600"/>
            <a:ext cx="32004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en-US" sz="1100" i="1">
                <a:solidFill>
                  <a:srgbClr val="1E293B"/>
                </a:solidFill>
                <a:latin typeface="Calibri"/>
                <a:ea typeface="Calibri"/>
                <a:cs typeface="Calibri"/>
                <a:sym typeface="Calibri"/>
              </a:rPr>
              <a:t>ℓ₁ + ℓ₂ combinés</a:t>
            </a:r>
            <a:endParaRPr sz="1100">
              <a:solidFill>
                <a:schemeClr val="dk1"/>
              </a:solidFill>
              <a:latin typeface="Calibri"/>
              <a:ea typeface="Calibri"/>
              <a:cs typeface="Calibri"/>
              <a:sym typeface="Calibri"/>
            </a:endParaRPr>
          </a:p>
        </p:txBody>
      </p:sp>
      <p:sp>
        <p:nvSpPr>
          <p:cNvPr id="308" name="Google Shape;308;p11"/>
          <p:cNvSpPr/>
          <p:nvPr/>
        </p:nvSpPr>
        <p:spPr>
          <a:xfrm>
            <a:off x="4480560" y="1463040"/>
            <a:ext cx="3657600" cy="822960"/>
          </a:xfrm>
          <a:prstGeom prst="rect">
            <a:avLst/>
          </a:prstGeom>
          <a:solidFill>
            <a:srgbClr val="1C72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1"/>
          <p:cNvSpPr/>
          <p:nvPr/>
        </p:nvSpPr>
        <p:spPr>
          <a:xfrm>
            <a:off x="4617720" y="1554480"/>
            <a:ext cx="338328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Georgia"/>
              <a:buNone/>
            </a:pPr>
            <a:r>
              <a:rPr lang="en-US" sz="1400" b="1">
                <a:solidFill>
                  <a:srgbClr val="FFFFFF"/>
                </a:solidFill>
                <a:latin typeface="Georgia"/>
                <a:ea typeface="Georgia"/>
                <a:cs typeface="Georgia"/>
                <a:sym typeface="Georgia"/>
              </a:rPr>
              <a:t>Non-linéaires</a:t>
            </a:r>
            <a:endParaRPr sz="1400">
              <a:solidFill>
                <a:schemeClr val="dk1"/>
              </a:solidFill>
              <a:latin typeface="Calibri"/>
              <a:ea typeface="Calibri"/>
              <a:cs typeface="Calibri"/>
              <a:sym typeface="Calibri"/>
            </a:endParaRPr>
          </a:p>
        </p:txBody>
      </p:sp>
      <p:sp>
        <p:nvSpPr>
          <p:cNvPr id="310" name="Google Shape;310;p11"/>
          <p:cNvSpPr/>
          <p:nvPr/>
        </p:nvSpPr>
        <p:spPr>
          <a:xfrm>
            <a:off x="4617720" y="1920240"/>
            <a:ext cx="338328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ADCFC"/>
              </a:buClr>
              <a:buSzPts val="1000"/>
              <a:buFont typeface="Calibri"/>
              <a:buNone/>
            </a:pPr>
            <a:r>
              <a:rPr lang="en-US" sz="1000" i="1">
                <a:solidFill>
                  <a:srgbClr val="CADCFC"/>
                </a:solidFill>
                <a:latin typeface="Calibri"/>
                <a:ea typeface="Calibri"/>
                <a:cs typeface="Calibri"/>
                <a:sym typeface="Calibri"/>
              </a:rPr>
              <a:t>Capturent des interactions complexes</a:t>
            </a:r>
            <a:endParaRPr sz="1000">
              <a:solidFill>
                <a:schemeClr val="dk1"/>
              </a:solidFill>
              <a:latin typeface="Calibri"/>
              <a:ea typeface="Calibri"/>
              <a:cs typeface="Calibri"/>
              <a:sym typeface="Calibri"/>
            </a:endParaRPr>
          </a:p>
        </p:txBody>
      </p:sp>
      <p:sp>
        <p:nvSpPr>
          <p:cNvPr id="311" name="Google Shape;311;p11"/>
          <p:cNvSpPr/>
          <p:nvPr/>
        </p:nvSpPr>
        <p:spPr>
          <a:xfrm>
            <a:off x="4480560" y="2286000"/>
            <a:ext cx="3657600" cy="4846320"/>
          </a:xfrm>
          <a:prstGeom prst="rect">
            <a:avLst/>
          </a:prstGeom>
          <a:solidFill>
            <a:srgbClr val="F4F7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1"/>
          <p:cNvSpPr/>
          <p:nvPr/>
        </p:nvSpPr>
        <p:spPr>
          <a:xfrm>
            <a:off x="4709160" y="2468880"/>
            <a:ext cx="3200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500"/>
              <a:buFont typeface="Georgia"/>
              <a:buNone/>
            </a:pPr>
            <a:r>
              <a:rPr lang="en-US" sz="3000" b="1">
                <a:solidFill>
                  <a:srgbClr val="1C7293"/>
                </a:solidFill>
                <a:latin typeface="Georgia"/>
                <a:ea typeface="Georgia"/>
                <a:cs typeface="Georgia"/>
                <a:sym typeface="Georgia"/>
              </a:rPr>
              <a:t>SVM (RBF)</a:t>
            </a:r>
            <a:endParaRPr sz="3000">
              <a:solidFill>
                <a:schemeClr val="dk1"/>
              </a:solidFill>
              <a:latin typeface="Calibri"/>
              <a:ea typeface="Calibri"/>
              <a:cs typeface="Calibri"/>
              <a:sym typeface="Calibri"/>
            </a:endParaRPr>
          </a:p>
        </p:txBody>
      </p:sp>
      <p:sp>
        <p:nvSpPr>
          <p:cNvPr id="313" name="Google Shape;313;p11"/>
          <p:cNvSpPr/>
          <p:nvPr/>
        </p:nvSpPr>
        <p:spPr>
          <a:xfrm>
            <a:off x="4709160" y="2926080"/>
            <a:ext cx="32004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en-US" sz="1100" i="1">
                <a:solidFill>
                  <a:srgbClr val="1E293B"/>
                </a:solidFill>
                <a:latin typeface="Calibri"/>
                <a:ea typeface="Calibri"/>
                <a:cs typeface="Calibri"/>
                <a:sym typeface="Calibri"/>
              </a:rPr>
              <a:t>noyau gaussien</a:t>
            </a:r>
            <a:endParaRPr sz="1100">
              <a:solidFill>
                <a:schemeClr val="dk1"/>
              </a:solidFill>
              <a:latin typeface="Calibri"/>
              <a:ea typeface="Calibri"/>
              <a:cs typeface="Calibri"/>
              <a:sym typeface="Calibri"/>
            </a:endParaRPr>
          </a:p>
        </p:txBody>
      </p:sp>
      <p:cxnSp>
        <p:nvCxnSpPr>
          <p:cNvPr id="314" name="Google Shape;314;p11"/>
          <p:cNvCxnSpPr/>
          <p:nvPr/>
        </p:nvCxnSpPr>
        <p:spPr>
          <a:xfrm>
            <a:off x="4754880" y="3867912"/>
            <a:ext cx="3108960" cy="0"/>
          </a:xfrm>
          <a:prstGeom prst="straightConnector1">
            <a:avLst/>
          </a:prstGeom>
          <a:noFill/>
          <a:ln w="9525" cap="flat" cmpd="sng">
            <a:solidFill>
              <a:srgbClr val="E2E8F0"/>
            </a:solidFill>
            <a:prstDash val="solid"/>
            <a:round/>
            <a:headEnd type="none" w="sm" len="sm"/>
            <a:tailEnd type="none" w="sm" len="sm"/>
          </a:ln>
        </p:spPr>
      </p:cxnSp>
      <p:sp>
        <p:nvSpPr>
          <p:cNvPr id="315" name="Google Shape;315;p11"/>
          <p:cNvSpPr/>
          <p:nvPr/>
        </p:nvSpPr>
        <p:spPr>
          <a:xfrm>
            <a:off x="4709160" y="3977640"/>
            <a:ext cx="3200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500"/>
              <a:buFont typeface="Georgia"/>
              <a:buNone/>
            </a:pPr>
            <a:r>
              <a:rPr lang="en-US" sz="3000" b="1">
                <a:solidFill>
                  <a:srgbClr val="1C7293"/>
                </a:solidFill>
                <a:latin typeface="Georgia"/>
                <a:ea typeface="Georgia"/>
                <a:cs typeface="Georgia"/>
                <a:sym typeface="Georgia"/>
              </a:rPr>
              <a:t>Random Forest</a:t>
            </a:r>
            <a:endParaRPr sz="3000">
              <a:solidFill>
                <a:schemeClr val="dk1"/>
              </a:solidFill>
              <a:latin typeface="Calibri"/>
              <a:ea typeface="Calibri"/>
              <a:cs typeface="Calibri"/>
              <a:sym typeface="Calibri"/>
            </a:endParaRPr>
          </a:p>
        </p:txBody>
      </p:sp>
      <p:sp>
        <p:nvSpPr>
          <p:cNvPr id="316" name="Google Shape;316;p11"/>
          <p:cNvSpPr/>
          <p:nvPr/>
        </p:nvSpPr>
        <p:spPr>
          <a:xfrm>
            <a:off x="4709160" y="4434840"/>
            <a:ext cx="32004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en-US" sz="1100" i="1">
                <a:solidFill>
                  <a:srgbClr val="1E293B"/>
                </a:solidFill>
                <a:latin typeface="Calibri"/>
                <a:ea typeface="Calibri"/>
                <a:cs typeface="Calibri"/>
                <a:sym typeface="Calibri"/>
              </a:rPr>
              <a:t>300 arbres</a:t>
            </a:r>
            <a:endParaRPr sz="1100">
              <a:solidFill>
                <a:schemeClr val="dk1"/>
              </a:solidFill>
              <a:latin typeface="Calibri"/>
              <a:ea typeface="Calibri"/>
              <a:cs typeface="Calibri"/>
              <a:sym typeface="Calibri"/>
            </a:endParaRPr>
          </a:p>
        </p:txBody>
      </p:sp>
      <p:cxnSp>
        <p:nvCxnSpPr>
          <p:cNvPr id="317" name="Google Shape;317;p11"/>
          <p:cNvCxnSpPr/>
          <p:nvPr/>
        </p:nvCxnSpPr>
        <p:spPr>
          <a:xfrm>
            <a:off x="4754880" y="5376672"/>
            <a:ext cx="3108960" cy="0"/>
          </a:xfrm>
          <a:prstGeom prst="straightConnector1">
            <a:avLst/>
          </a:prstGeom>
          <a:noFill/>
          <a:ln w="9525" cap="flat" cmpd="sng">
            <a:solidFill>
              <a:srgbClr val="E2E8F0"/>
            </a:solidFill>
            <a:prstDash val="solid"/>
            <a:round/>
            <a:headEnd type="none" w="sm" len="sm"/>
            <a:tailEnd type="none" w="sm" len="sm"/>
          </a:ln>
        </p:spPr>
      </p:cxnSp>
      <p:sp>
        <p:nvSpPr>
          <p:cNvPr id="318" name="Google Shape;318;p11"/>
          <p:cNvSpPr/>
          <p:nvPr/>
        </p:nvSpPr>
        <p:spPr>
          <a:xfrm>
            <a:off x="4709160" y="5486400"/>
            <a:ext cx="3200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500"/>
              <a:buFont typeface="Georgia"/>
              <a:buNone/>
            </a:pPr>
            <a:r>
              <a:rPr lang="en-US" sz="3000" b="1">
                <a:solidFill>
                  <a:srgbClr val="1C7293"/>
                </a:solidFill>
                <a:latin typeface="Georgia"/>
                <a:ea typeface="Georgia"/>
                <a:cs typeface="Georgia"/>
                <a:sym typeface="Georgia"/>
              </a:rPr>
              <a:t>MLP</a:t>
            </a:r>
            <a:endParaRPr sz="3000">
              <a:solidFill>
                <a:schemeClr val="dk1"/>
              </a:solidFill>
              <a:latin typeface="Calibri"/>
              <a:ea typeface="Calibri"/>
              <a:cs typeface="Calibri"/>
              <a:sym typeface="Calibri"/>
            </a:endParaRPr>
          </a:p>
        </p:txBody>
      </p:sp>
      <p:sp>
        <p:nvSpPr>
          <p:cNvPr id="319" name="Google Shape;319;p11"/>
          <p:cNvSpPr/>
          <p:nvPr/>
        </p:nvSpPr>
        <p:spPr>
          <a:xfrm>
            <a:off x="4709160" y="5943600"/>
            <a:ext cx="32004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en-US" sz="1100" i="1">
                <a:solidFill>
                  <a:srgbClr val="1E293B"/>
                </a:solidFill>
                <a:latin typeface="Calibri"/>
                <a:ea typeface="Calibri"/>
                <a:cs typeface="Calibri"/>
                <a:sym typeface="Calibri"/>
              </a:rPr>
              <a:t>réseau de neurones (200,100)</a:t>
            </a:r>
            <a:endParaRPr sz="1100">
              <a:solidFill>
                <a:schemeClr val="dk1"/>
              </a:solidFill>
              <a:latin typeface="Calibri"/>
              <a:ea typeface="Calibri"/>
              <a:cs typeface="Calibri"/>
              <a:sym typeface="Calibri"/>
            </a:endParaRPr>
          </a:p>
        </p:txBody>
      </p:sp>
      <p:sp>
        <p:nvSpPr>
          <p:cNvPr id="320" name="Google Shape;320;p11"/>
          <p:cNvSpPr/>
          <p:nvPr/>
        </p:nvSpPr>
        <p:spPr>
          <a:xfrm>
            <a:off x="8321040" y="1463040"/>
            <a:ext cx="3657600" cy="822960"/>
          </a:xfrm>
          <a:prstGeom prst="rect">
            <a:avLst/>
          </a:prstGeom>
          <a:solidFill>
            <a:srgbClr val="E07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1"/>
          <p:cNvSpPr/>
          <p:nvPr/>
        </p:nvSpPr>
        <p:spPr>
          <a:xfrm>
            <a:off x="8458200" y="1554480"/>
            <a:ext cx="338328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400"/>
              <a:buFont typeface="Georgia"/>
              <a:buNone/>
            </a:pPr>
            <a:r>
              <a:rPr lang="en-US" sz="1400" b="1">
                <a:solidFill>
                  <a:srgbClr val="FFFFFF"/>
                </a:solidFill>
                <a:latin typeface="Georgia"/>
                <a:ea typeface="Georgia"/>
                <a:cs typeface="Georgia"/>
                <a:sym typeface="Georgia"/>
              </a:rPr>
              <a:t>Boosting &amp; ensembles</a:t>
            </a:r>
            <a:endParaRPr sz="1400">
              <a:solidFill>
                <a:schemeClr val="dk1"/>
              </a:solidFill>
              <a:latin typeface="Calibri"/>
              <a:ea typeface="Calibri"/>
              <a:cs typeface="Calibri"/>
              <a:sym typeface="Calibri"/>
            </a:endParaRPr>
          </a:p>
        </p:txBody>
      </p:sp>
      <p:sp>
        <p:nvSpPr>
          <p:cNvPr id="322" name="Google Shape;322;p11"/>
          <p:cNvSpPr/>
          <p:nvPr/>
        </p:nvSpPr>
        <p:spPr>
          <a:xfrm>
            <a:off x="8458200" y="1920240"/>
            <a:ext cx="338328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ADCFC"/>
              </a:buClr>
              <a:buSzPts val="1000"/>
              <a:buFont typeface="Calibri"/>
              <a:buNone/>
            </a:pPr>
            <a:r>
              <a:rPr lang="en-US" sz="1000" i="1">
                <a:solidFill>
                  <a:srgbClr val="CADCFC"/>
                </a:solidFill>
                <a:latin typeface="Calibri"/>
                <a:ea typeface="Calibri"/>
                <a:cs typeface="Calibri"/>
                <a:sym typeface="Calibri"/>
              </a:rPr>
              <a:t>État de l'art sur données tabulaires</a:t>
            </a:r>
            <a:endParaRPr sz="1000">
              <a:solidFill>
                <a:schemeClr val="dk1"/>
              </a:solidFill>
              <a:latin typeface="Calibri"/>
              <a:ea typeface="Calibri"/>
              <a:cs typeface="Calibri"/>
              <a:sym typeface="Calibri"/>
            </a:endParaRPr>
          </a:p>
        </p:txBody>
      </p:sp>
      <p:sp>
        <p:nvSpPr>
          <p:cNvPr id="323" name="Google Shape;323;p11"/>
          <p:cNvSpPr/>
          <p:nvPr/>
        </p:nvSpPr>
        <p:spPr>
          <a:xfrm>
            <a:off x="8321040" y="2286000"/>
            <a:ext cx="3657600" cy="4846320"/>
          </a:xfrm>
          <a:prstGeom prst="rect">
            <a:avLst/>
          </a:prstGeom>
          <a:solidFill>
            <a:srgbClr val="F4F7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1"/>
          <p:cNvSpPr/>
          <p:nvPr/>
        </p:nvSpPr>
        <p:spPr>
          <a:xfrm>
            <a:off x="8549640" y="2468880"/>
            <a:ext cx="3200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07A5F"/>
              </a:buClr>
              <a:buSzPts val="1500"/>
              <a:buFont typeface="Georgia"/>
              <a:buNone/>
            </a:pPr>
            <a:r>
              <a:rPr lang="en-US" sz="3000" b="1">
                <a:solidFill>
                  <a:srgbClr val="E07A5F"/>
                </a:solidFill>
                <a:latin typeface="Georgia"/>
                <a:ea typeface="Georgia"/>
                <a:cs typeface="Georgia"/>
                <a:sym typeface="Georgia"/>
              </a:rPr>
              <a:t>XGBoost</a:t>
            </a:r>
            <a:endParaRPr sz="3000">
              <a:solidFill>
                <a:schemeClr val="dk1"/>
              </a:solidFill>
              <a:latin typeface="Calibri"/>
              <a:ea typeface="Calibri"/>
              <a:cs typeface="Calibri"/>
              <a:sym typeface="Calibri"/>
            </a:endParaRPr>
          </a:p>
        </p:txBody>
      </p:sp>
      <p:sp>
        <p:nvSpPr>
          <p:cNvPr id="325" name="Google Shape;325;p11"/>
          <p:cNvSpPr/>
          <p:nvPr/>
        </p:nvSpPr>
        <p:spPr>
          <a:xfrm>
            <a:off x="8549640" y="2926080"/>
            <a:ext cx="32004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en-US" sz="1100" i="1">
                <a:solidFill>
                  <a:srgbClr val="1E293B"/>
                </a:solidFill>
                <a:latin typeface="Calibri"/>
                <a:ea typeface="Calibri"/>
                <a:cs typeface="Calibri"/>
                <a:sym typeface="Calibri"/>
              </a:rPr>
              <a:t>gradient boosting</a:t>
            </a:r>
            <a:endParaRPr sz="1100">
              <a:solidFill>
                <a:schemeClr val="dk1"/>
              </a:solidFill>
              <a:latin typeface="Calibri"/>
              <a:ea typeface="Calibri"/>
              <a:cs typeface="Calibri"/>
              <a:sym typeface="Calibri"/>
            </a:endParaRPr>
          </a:p>
        </p:txBody>
      </p:sp>
      <p:cxnSp>
        <p:nvCxnSpPr>
          <p:cNvPr id="326" name="Google Shape;326;p11"/>
          <p:cNvCxnSpPr/>
          <p:nvPr/>
        </p:nvCxnSpPr>
        <p:spPr>
          <a:xfrm>
            <a:off x="8595360" y="3867912"/>
            <a:ext cx="3108960" cy="0"/>
          </a:xfrm>
          <a:prstGeom prst="straightConnector1">
            <a:avLst/>
          </a:prstGeom>
          <a:noFill/>
          <a:ln w="9525" cap="flat" cmpd="sng">
            <a:solidFill>
              <a:srgbClr val="E2E8F0"/>
            </a:solidFill>
            <a:prstDash val="solid"/>
            <a:round/>
            <a:headEnd type="none" w="sm" len="sm"/>
            <a:tailEnd type="none" w="sm" len="sm"/>
          </a:ln>
        </p:spPr>
      </p:cxnSp>
      <p:sp>
        <p:nvSpPr>
          <p:cNvPr id="327" name="Google Shape;327;p11"/>
          <p:cNvSpPr/>
          <p:nvPr/>
        </p:nvSpPr>
        <p:spPr>
          <a:xfrm>
            <a:off x="8549640" y="3977640"/>
            <a:ext cx="3200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07A5F"/>
              </a:buClr>
              <a:buSzPts val="1500"/>
              <a:buFont typeface="Georgia"/>
              <a:buNone/>
            </a:pPr>
            <a:r>
              <a:rPr lang="en-US" sz="3000" b="1">
                <a:solidFill>
                  <a:srgbClr val="E07A5F"/>
                </a:solidFill>
                <a:latin typeface="Georgia"/>
                <a:ea typeface="Georgia"/>
                <a:cs typeface="Georgia"/>
                <a:sym typeface="Georgia"/>
              </a:rPr>
              <a:t>LightGBM</a:t>
            </a:r>
            <a:endParaRPr sz="3000">
              <a:solidFill>
                <a:schemeClr val="dk1"/>
              </a:solidFill>
              <a:latin typeface="Calibri"/>
              <a:ea typeface="Calibri"/>
              <a:cs typeface="Calibri"/>
              <a:sym typeface="Calibri"/>
            </a:endParaRPr>
          </a:p>
        </p:txBody>
      </p:sp>
      <p:sp>
        <p:nvSpPr>
          <p:cNvPr id="328" name="Google Shape;328;p11"/>
          <p:cNvSpPr/>
          <p:nvPr/>
        </p:nvSpPr>
        <p:spPr>
          <a:xfrm>
            <a:off x="8549640" y="4434840"/>
            <a:ext cx="32004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en-US" sz="1100" i="1">
                <a:solidFill>
                  <a:srgbClr val="1E293B"/>
                </a:solidFill>
                <a:latin typeface="Calibri"/>
                <a:ea typeface="Calibri"/>
                <a:cs typeface="Calibri"/>
                <a:sym typeface="Calibri"/>
              </a:rPr>
              <a:t>histogram-based</a:t>
            </a:r>
            <a:endParaRPr sz="1100">
              <a:solidFill>
                <a:schemeClr val="dk1"/>
              </a:solidFill>
              <a:latin typeface="Calibri"/>
              <a:ea typeface="Calibri"/>
              <a:cs typeface="Calibri"/>
              <a:sym typeface="Calibri"/>
            </a:endParaRPr>
          </a:p>
        </p:txBody>
      </p:sp>
      <p:cxnSp>
        <p:nvCxnSpPr>
          <p:cNvPr id="329" name="Google Shape;329;p11"/>
          <p:cNvCxnSpPr/>
          <p:nvPr/>
        </p:nvCxnSpPr>
        <p:spPr>
          <a:xfrm>
            <a:off x="8595360" y="5376672"/>
            <a:ext cx="3108960" cy="0"/>
          </a:xfrm>
          <a:prstGeom prst="straightConnector1">
            <a:avLst/>
          </a:prstGeom>
          <a:noFill/>
          <a:ln w="9525" cap="flat" cmpd="sng">
            <a:solidFill>
              <a:srgbClr val="E2E8F0"/>
            </a:solidFill>
            <a:prstDash val="solid"/>
            <a:round/>
            <a:headEnd type="none" w="sm" len="sm"/>
            <a:tailEnd type="none" w="sm" len="sm"/>
          </a:ln>
        </p:spPr>
      </p:cxnSp>
      <p:sp>
        <p:nvSpPr>
          <p:cNvPr id="330" name="Google Shape;330;p11"/>
          <p:cNvSpPr/>
          <p:nvPr/>
        </p:nvSpPr>
        <p:spPr>
          <a:xfrm>
            <a:off x="8549640" y="5486400"/>
            <a:ext cx="320040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07A5F"/>
              </a:buClr>
              <a:buSzPts val="1500"/>
              <a:buFont typeface="Georgia"/>
              <a:buNone/>
            </a:pPr>
            <a:r>
              <a:rPr lang="en-US" sz="3000" b="1">
                <a:solidFill>
                  <a:srgbClr val="E07A5F"/>
                </a:solidFill>
                <a:latin typeface="Georgia"/>
                <a:ea typeface="Georgia"/>
                <a:cs typeface="Georgia"/>
                <a:sym typeface="Georgia"/>
              </a:rPr>
              <a:t>Stacking</a:t>
            </a:r>
            <a:endParaRPr sz="3000">
              <a:solidFill>
                <a:schemeClr val="dk1"/>
              </a:solidFill>
              <a:latin typeface="Calibri"/>
              <a:ea typeface="Calibri"/>
              <a:cs typeface="Calibri"/>
              <a:sym typeface="Calibri"/>
            </a:endParaRPr>
          </a:p>
        </p:txBody>
      </p:sp>
      <p:sp>
        <p:nvSpPr>
          <p:cNvPr id="331" name="Google Shape;331;p11"/>
          <p:cNvSpPr/>
          <p:nvPr/>
        </p:nvSpPr>
        <p:spPr>
          <a:xfrm>
            <a:off x="8549640" y="5943600"/>
            <a:ext cx="32004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100"/>
              <a:buFont typeface="Calibri"/>
              <a:buNone/>
            </a:pPr>
            <a:r>
              <a:rPr lang="en-US" sz="1100" i="1">
                <a:solidFill>
                  <a:srgbClr val="1E293B"/>
                </a:solidFill>
                <a:latin typeface="Calibri"/>
                <a:ea typeface="Calibri"/>
                <a:cs typeface="Calibri"/>
                <a:sym typeface="Calibri"/>
              </a:rPr>
              <a:t>Ridge + RF + LGBM → Ridge</a:t>
            </a:r>
            <a:endParaRPr sz="1100">
              <a:solidFill>
                <a:schemeClr val="dk1"/>
              </a:solidFill>
              <a:latin typeface="Calibri"/>
              <a:ea typeface="Calibri"/>
              <a:cs typeface="Calibri"/>
              <a:sym typeface="Calibri"/>
            </a:endParaRPr>
          </a:p>
        </p:txBody>
      </p:sp>
      <p:sp>
        <p:nvSpPr>
          <p:cNvPr id="332" name="Google Shape;332;p11"/>
          <p:cNvSpPr/>
          <p:nvPr/>
        </p:nvSpPr>
        <p:spPr>
          <a:xfrm>
            <a:off x="640080" y="6263640"/>
            <a:ext cx="11247120" cy="411480"/>
          </a:xfrm>
          <a:prstGeom prst="rect">
            <a:avLst/>
          </a:prstGeom>
          <a:solidFill>
            <a:srgbClr val="2129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1"/>
          <p:cNvSpPr/>
          <p:nvPr/>
        </p:nvSpPr>
        <p:spPr>
          <a:xfrm>
            <a:off x="868680" y="6263640"/>
            <a:ext cx="109728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2B705"/>
              </a:buClr>
              <a:buSzPts val="1200"/>
              <a:buFont typeface="Calibri"/>
              <a:buNone/>
            </a:pPr>
            <a:r>
              <a:rPr lang="en-US" sz="1200" b="1">
                <a:solidFill>
                  <a:srgbClr val="F2B705"/>
                </a:solidFill>
                <a:latin typeface="Calibri"/>
                <a:ea typeface="Calibri"/>
                <a:cs typeface="Calibri"/>
                <a:sym typeface="Calibri"/>
              </a:rPr>
              <a:t>Métriques d'évaluation   </a:t>
            </a:r>
            <a:r>
              <a:rPr lang="en-US" sz="1200">
                <a:solidFill>
                  <a:srgbClr val="FFFFFF"/>
                </a:solidFill>
                <a:latin typeface="Calibri"/>
                <a:ea typeface="Calibri"/>
                <a:cs typeface="Calibri"/>
                <a:sym typeface="Calibri"/>
              </a:rPr>
              <a:t>MAE (cible principale)  ·  RMSE  ·  R²  ·  Taux |erreur| ≤ 10 ans</a:t>
            </a:r>
            <a:endParaRPr sz="12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8"/>
        <p:cNvGrpSpPr/>
        <p:nvPr/>
      </p:nvGrpSpPr>
      <p:grpSpPr>
        <a:xfrm>
          <a:off x="0" y="0"/>
          <a:ext cx="0" cy="0"/>
          <a:chOff x="0" y="0"/>
          <a:chExt cx="0" cy="0"/>
        </a:xfrm>
      </p:grpSpPr>
      <p:sp>
        <p:nvSpPr>
          <p:cNvPr id="339" name="Google Shape;339;p12"/>
          <p:cNvSpPr/>
          <p:nvPr/>
        </p:nvSpPr>
        <p:spPr>
          <a:xfrm>
            <a:off x="457200" y="228600"/>
            <a:ext cx="91440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PARTIE V · RÉSULTATS</a:t>
            </a:r>
            <a:endParaRPr sz="1100">
              <a:solidFill>
                <a:schemeClr val="dk1"/>
              </a:solidFill>
              <a:latin typeface="Calibri"/>
              <a:ea typeface="Calibri"/>
              <a:cs typeface="Calibri"/>
              <a:sym typeface="Calibri"/>
            </a:endParaRPr>
          </a:p>
        </p:txBody>
      </p:sp>
      <p:sp>
        <p:nvSpPr>
          <p:cNvPr id="340" name="Google Shape;340;p12"/>
          <p:cNvSpPr/>
          <p:nvPr/>
        </p:nvSpPr>
        <p:spPr>
          <a:xfrm>
            <a:off x="10972800" y="228600"/>
            <a:ext cx="914400" cy="32004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11 / 16</a:t>
            </a:r>
            <a:endParaRPr sz="1000">
              <a:solidFill>
                <a:schemeClr val="dk1"/>
              </a:solidFill>
              <a:latin typeface="Calibri"/>
              <a:ea typeface="Calibri"/>
              <a:cs typeface="Calibri"/>
              <a:sym typeface="Calibri"/>
            </a:endParaRPr>
          </a:p>
        </p:txBody>
      </p:sp>
      <p:sp>
        <p:nvSpPr>
          <p:cNvPr id="341" name="Google Shape;341;p12"/>
          <p:cNvSpPr/>
          <p:nvPr/>
        </p:nvSpPr>
        <p:spPr>
          <a:xfrm>
            <a:off x="457200" y="502920"/>
            <a:ext cx="1124712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3000"/>
              <a:buFont typeface="Georgia"/>
              <a:buNone/>
            </a:pPr>
            <a:r>
              <a:rPr lang="en-US" sz="3000" b="1">
                <a:solidFill>
                  <a:srgbClr val="21295C"/>
                </a:solidFill>
                <a:latin typeface="Georgia"/>
                <a:ea typeface="Georgia"/>
                <a:cs typeface="Georgia"/>
                <a:sym typeface="Georgia"/>
              </a:rPr>
              <a:t>Résultats sur le jeu de Test - 9 modèles</a:t>
            </a:r>
            <a:endParaRPr sz="3000">
              <a:solidFill>
                <a:schemeClr val="dk1"/>
              </a:solidFill>
              <a:latin typeface="Calibri"/>
              <a:ea typeface="Calibri"/>
              <a:cs typeface="Calibri"/>
              <a:sym typeface="Calibri"/>
            </a:endParaRPr>
          </a:p>
        </p:txBody>
      </p:sp>
      <p:sp>
        <p:nvSpPr>
          <p:cNvPr id="342" name="Google Shape;342;p12"/>
          <p:cNvSpPr/>
          <p:nvPr/>
        </p:nvSpPr>
        <p:spPr>
          <a:xfrm>
            <a:off x="457200" y="6537960"/>
            <a:ext cx="1124712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Prédiction âge biologique · Méthylation ADN · Master UCA 2025-2026</a:t>
            </a:r>
            <a:endParaRPr sz="900">
              <a:solidFill>
                <a:schemeClr val="dk1"/>
              </a:solidFill>
              <a:latin typeface="Calibri"/>
              <a:ea typeface="Calibri"/>
              <a:cs typeface="Calibri"/>
              <a:sym typeface="Calibri"/>
            </a:endParaRPr>
          </a:p>
        </p:txBody>
      </p:sp>
      <p:sp>
        <p:nvSpPr>
          <p:cNvPr id="343" name="Google Shape;343;p12"/>
          <p:cNvSpPr/>
          <p:nvPr/>
        </p:nvSpPr>
        <p:spPr>
          <a:xfrm>
            <a:off x="7863840" y="1417320"/>
            <a:ext cx="41148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65A82"/>
              </a:buClr>
              <a:buSzPts val="1700"/>
              <a:buFont typeface="Georgia"/>
              <a:buNone/>
            </a:pPr>
            <a:r>
              <a:rPr lang="en-US" sz="1700" b="1">
                <a:solidFill>
                  <a:srgbClr val="065A82"/>
                </a:solidFill>
                <a:latin typeface="Georgia"/>
                <a:ea typeface="Georgia"/>
                <a:cs typeface="Georgia"/>
                <a:sym typeface="Georgia"/>
              </a:rPr>
              <a:t>Podium (Test)</a:t>
            </a:r>
            <a:endParaRPr sz="1700">
              <a:solidFill>
                <a:schemeClr val="dk1"/>
              </a:solidFill>
              <a:latin typeface="Calibri"/>
              <a:ea typeface="Calibri"/>
              <a:cs typeface="Calibri"/>
              <a:sym typeface="Calibri"/>
            </a:endParaRPr>
          </a:p>
        </p:txBody>
      </p:sp>
      <p:sp>
        <p:nvSpPr>
          <p:cNvPr id="344" name="Google Shape;344;p12"/>
          <p:cNvSpPr/>
          <p:nvPr/>
        </p:nvSpPr>
        <p:spPr>
          <a:xfrm>
            <a:off x="7863840" y="1965960"/>
            <a:ext cx="4114800" cy="1234440"/>
          </a:xfrm>
          <a:prstGeom prst="rect">
            <a:avLst/>
          </a:prstGeom>
          <a:solidFill>
            <a:srgbClr val="FFFFFF"/>
          </a:solidFill>
          <a:ln w="12700" cap="flat" cmpd="sng">
            <a:solidFill>
              <a:srgbClr val="E2E8F0"/>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2"/>
          <p:cNvSpPr/>
          <p:nvPr/>
        </p:nvSpPr>
        <p:spPr>
          <a:xfrm>
            <a:off x="7863840" y="1965960"/>
            <a:ext cx="109728" cy="1234440"/>
          </a:xfrm>
          <a:prstGeom prst="rect">
            <a:avLst/>
          </a:prstGeom>
          <a:solidFill>
            <a:srgbClr val="F2B7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2"/>
          <p:cNvSpPr/>
          <p:nvPr/>
        </p:nvSpPr>
        <p:spPr>
          <a:xfrm>
            <a:off x="8138160" y="2240280"/>
            <a:ext cx="685800" cy="685800"/>
          </a:xfrm>
          <a:prstGeom prst="ellipse">
            <a:avLst/>
          </a:prstGeom>
          <a:solidFill>
            <a:srgbClr val="F2B7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2"/>
          <p:cNvSpPr/>
          <p:nvPr/>
        </p:nvSpPr>
        <p:spPr>
          <a:xfrm>
            <a:off x="8138160" y="2240280"/>
            <a:ext cx="68580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400"/>
              <a:buFont typeface="Georgia"/>
              <a:buNone/>
            </a:pPr>
            <a:r>
              <a:rPr lang="en-US" sz="2400" b="1">
                <a:solidFill>
                  <a:srgbClr val="FFFFFF"/>
                </a:solidFill>
                <a:latin typeface="Georgia"/>
                <a:ea typeface="Georgia"/>
                <a:cs typeface="Georgia"/>
                <a:sym typeface="Georgia"/>
              </a:rPr>
              <a:t>1</a:t>
            </a:r>
            <a:endParaRPr sz="2400">
              <a:solidFill>
                <a:schemeClr val="dk1"/>
              </a:solidFill>
              <a:latin typeface="Calibri"/>
              <a:ea typeface="Calibri"/>
              <a:cs typeface="Calibri"/>
              <a:sym typeface="Calibri"/>
            </a:endParaRPr>
          </a:p>
        </p:txBody>
      </p:sp>
      <p:sp>
        <p:nvSpPr>
          <p:cNvPr id="348" name="Google Shape;348;p12"/>
          <p:cNvSpPr/>
          <p:nvPr/>
        </p:nvSpPr>
        <p:spPr>
          <a:xfrm>
            <a:off x="8961120" y="2103120"/>
            <a:ext cx="292608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600"/>
              <a:buFont typeface="Georgia"/>
              <a:buNone/>
            </a:pPr>
            <a:r>
              <a:rPr lang="en-US" sz="1600" b="1">
                <a:solidFill>
                  <a:srgbClr val="21295C"/>
                </a:solidFill>
                <a:latin typeface="Georgia"/>
                <a:ea typeface="Georgia"/>
                <a:cs typeface="Georgia"/>
                <a:sym typeface="Georgia"/>
              </a:rPr>
              <a:t>Stacking</a:t>
            </a:r>
            <a:endParaRPr sz="1600">
              <a:solidFill>
                <a:schemeClr val="dk1"/>
              </a:solidFill>
              <a:latin typeface="Calibri"/>
              <a:ea typeface="Calibri"/>
              <a:cs typeface="Calibri"/>
              <a:sym typeface="Calibri"/>
            </a:endParaRPr>
          </a:p>
        </p:txBody>
      </p:sp>
      <p:sp>
        <p:nvSpPr>
          <p:cNvPr id="349" name="Google Shape;349;p12"/>
          <p:cNvSpPr/>
          <p:nvPr/>
        </p:nvSpPr>
        <p:spPr>
          <a:xfrm>
            <a:off x="8961120" y="2514600"/>
            <a:ext cx="29260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65A82"/>
              </a:buClr>
              <a:buSzPts val="1200"/>
              <a:buFont typeface="Calibri"/>
              <a:buNone/>
            </a:pPr>
            <a:r>
              <a:rPr lang="en-US" sz="1200" b="1">
                <a:solidFill>
                  <a:srgbClr val="065A82"/>
                </a:solidFill>
                <a:latin typeface="Calibri"/>
                <a:ea typeface="Calibri"/>
                <a:cs typeface="Calibri"/>
                <a:sym typeface="Calibri"/>
              </a:rPr>
              <a:t>MAE 3,21 ans</a:t>
            </a:r>
            <a:endParaRPr sz="1200">
              <a:solidFill>
                <a:schemeClr val="dk1"/>
              </a:solidFill>
              <a:latin typeface="Calibri"/>
              <a:ea typeface="Calibri"/>
              <a:cs typeface="Calibri"/>
              <a:sym typeface="Calibri"/>
            </a:endParaRPr>
          </a:p>
        </p:txBody>
      </p:sp>
      <p:sp>
        <p:nvSpPr>
          <p:cNvPr id="350" name="Google Shape;350;p12"/>
          <p:cNvSpPr/>
          <p:nvPr/>
        </p:nvSpPr>
        <p:spPr>
          <a:xfrm>
            <a:off x="8961120" y="2834640"/>
            <a:ext cx="29260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100"/>
              <a:buFont typeface="Calibri"/>
              <a:buNone/>
            </a:pPr>
            <a:r>
              <a:rPr lang="en-US" sz="1100" i="1">
                <a:solidFill>
                  <a:srgbClr val="64748B"/>
                </a:solidFill>
                <a:latin typeface="Calibri"/>
                <a:ea typeface="Calibri"/>
                <a:cs typeface="Calibri"/>
                <a:sym typeface="Calibri"/>
              </a:rPr>
              <a:t>R² = 0,954</a:t>
            </a:r>
            <a:endParaRPr sz="1100">
              <a:solidFill>
                <a:schemeClr val="dk1"/>
              </a:solidFill>
              <a:latin typeface="Calibri"/>
              <a:ea typeface="Calibri"/>
              <a:cs typeface="Calibri"/>
              <a:sym typeface="Calibri"/>
            </a:endParaRPr>
          </a:p>
        </p:txBody>
      </p:sp>
      <p:sp>
        <p:nvSpPr>
          <p:cNvPr id="351" name="Google Shape;351;p12"/>
          <p:cNvSpPr/>
          <p:nvPr/>
        </p:nvSpPr>
        <p:spPr>
          <a:xfrm>
            <a:off x="7863840" y="3337560"/>
            <a:ext cx="4114800" cy="1234440"/>
          </a:xfrm>
          <a:prstGeom prst="rect">
            <a:avLst/>
          </a:prstGeom>
          <a:solidFill>
            <a:srgbClr val="FFFFFF"/>
          </a:solidFill>
          <a:ln w="12700" cap="flat" cmpd="sng">
            <a:solidFill>
              <a:srgbClr val="E2E8F0"/>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2"/>
          <p:cNvSpPr/>
          <p:nvPr/>
        </p:nvSpPr>
        <p:spPr>
          <a:xfrm>
            <a:off x="7863840" y="3337560"/>
            <a:ext cx="109728" cy="1234440"/>
          </a:xfrm>
          <a:prstGeom prst="rect">
            <a:avLst/>
          </a:prstGeom>
          <a:solidFill>
            <a:srgbClr val="6474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2"/>
          <p:cNvSpPr/>
          <p:nvPr/>
        </p:nvSpPr>
        <p:spPr>
          <a:xfrm>
            <a:off x="8138160" y="3611880"/>
            <a:ext cx="685800" cy="685800"/>
          </a:xfrm>
          <a:prstGeom prst="ellipse">
            <a:avLst/>
          </a:prstGeom>
          <a:solidFill>
            <a:srgbClr val="6474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2"/>
          <p:cNvSpPr/>
          <p:nvPr/>
        </p:nvSpPr>
        <p:spPr>
          <a:xfrm>
            <a:off x="8138160" y="3611880"/>
            <a:ext cx="68580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400"/>
              <a:buFont typeface="Georgia"/>
              <a:buNone/>
            </a:pPr>
            <a:r>
              <a:rPr lang="en-US" sz="2400" b="1">
                <a:solidFill>
                  <a:srgbClr val="FFFFFF"/>
                </a:solidFill>
                <a:latin typeface="Georgia"/>
                <a:ea typeface="Georgia"/>
                <a:cs typeface="Georgia"/>
                <a:sym typeface="Georgia"/>
              </a:rPr>
              <a:t>2</a:t>
            </a:r>
            <a:endParaRPr sz="2400">
              <a:solidFill>
                <a:schemeClr val="dk1"/>
              </a:solidFill>
              <a:latin typeface="Calibri"/>
              <a:ea typeface="Calibri"/>
              <a:cs typeface="Calibri"/>
              <a:sym typeface="Calibri"/>
            </a:endParaRPr>
          </a:p>
        </p:txBody>
      </p:sp>
      <p:sp>
        <p:nvSpPr>
          <p:cNvPr id="355" name="Google Shape;355;p12"/>
          <p:cNvSpPr/>
          <p:nvPr/>
        </p:nvSpPr>
        <p:spPr>
          <a:xfrm>
            <a:off x="8961120" y="3474720"/>
            <a:ext cx="292608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600"/>
              <a:buFont typeface="Georgia"/>
              <a:buNone/>
            </a:pPr>
            <a:r>
              <a:rPr lang="en-US" sz="1600" b="1">
                <a:solidFill>
                  <a:srgbClr val="21295C"/>
                </a:solidFill>
                <a:latin typeface="Georgia"/>
                <a:ea typeface="Georgia"/>
                <a:cs typeface="Georgia"/>
                <a:sym typeface="Georgia"/>
              </a:rPr>
              <a:t>ElasticNet</a:t>
            </a:r>
            <a:endParaRPr sz="1600">
              <a:solidFill>
                <a:schemeClr val="dk1"/>
              </a:solidFill>
              <a:latin typeface="Calibri"/>
              <a:ea typeface="Calibri"/>
              <a:cs typeface="Calibri"/>
              <a:sym typeface="Calibri"/>
            </a:endParaRPr>
          </a:p>
        </p:txBody>
      </p:sp>
      <p:sp>
        <p:nvSpPr>
          <p:cNvPr id="356" name="Google Shape;356;p12"/>
          <p:cNvSpPr/>
          <p:nvPr/>
        </p:nvSpPr>
        <p:spPr>
          <a:xfrm>
            <a:off x="8961120" y="3886200"/>
            <a:ext cx="29260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65A82"/>
              </a:buClr>
              <a:buSzPts val="1200"/>
              <a:buFont typeface="Calibri"/>
              <a:buNone/>
            </a:pPr>
            <a:r>
              <a:rPr lang="en-US" sz="1200" b="1">
                <a:solidFill>
                  <a:srgbClr val="065A82"/>
                </a:solidFill>
                <a:latin typeface="Calibri"/>
                <a:ea typeface="Calibri"/>
                <a:cs typeface="Calibri"/>
                <a:sym typeface="Calibri"/>
              </a:rPr>
              <a:t>MAE 3,27ans</a:t>
            </a:r>
            <a:endParaRPr sz="1200">
              <a:solidFill>
                <a:schemeClr val="dk1"/>
              </a:solidFill>
              <a:latin typeface="Calibri"/>
              <a:ea typeface="Calibri"/>
              <a:cs typeface="Calibri"/>
              <a:sym typeface="Calibri"/>
            </a:endParaRPr>
          </a:p>
        </p:txBody>
      </p:sp>
      <p:sp>
        <p:nvSpPr>
          <p:cNvPr id="357" name="Google Shape;357;p12"/>
          <p:cNvSpPr/>
          <p:nvPr/>
        </p:nvSpPr>
        <p:spPr>
          <a:xfrm>
            <a:off x="8961120" y="4206240"/>
            <a:ext cx="29260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100"/>
              <a:buFont typeface="Calibri"/>
              <a:buNone/>
            </a:pPr>
            <a:r>
              <a:rPr lang="en-US" sz="1100" i="1">
                <a:solidFill>
                  <a:srgbClr val="64748B"/>
                </a:solidFill>
                <a:latin typeface="Calibri"/>
                <a:ea typeface="Calibri"/>
                <a:cs typeface="Calibri"/>
                <a:sym typeface="Calibri"/>
              </a:rPr>
              <a:t>R² = 0,954</a:t>
            </a:r>
            <a:endParaRPr sz="1100">
              <a:solidFill>
                <a:schemeClr val="dk1"/>
              </a:solidFill>
              <a:latin typeface="Calibri"/>
              <a:ea typeface="Calibri"/>
              <a:cs typeface="Calibri"/>
              <a:sym typeface="Calibri"/>
            </a:endParaRPr>
          </a:p>
        </p:txBody>
      </p:sp>
      <p:sp>
        <p:nvSpPr>
          <p:cNvPr id="358" name="Google Shape;358;p12"/>
          <p:cNvSpPr/>
          <p:nvPr/>
        </p:nvSpPr>
        <p:spPr>
          <a:xfrm>
            <a:off x="7863840" y="4709160"/>
            <a:ext cx="4114800" cy="1234440"/>
          </a:xfrm>
          <a:prstGeom prst="rect">
            <a:avLst/>
          </a:prstGeom>
          <a:solidFill>
            <a:srgbClr val="FFFFFF"/>
          </a:solidFill>
          <a:ln w="12700" cap="flat" cmpd="sng">
            <a:solidFill>
              <a:srgbClr val="E2E8F0"/>
            </a:solidFill>
            <a:prstDash val="solid"/>
            <a:round/>
            <a:headEnd type="none" w="sm" len="sm"/>
            <a:tailEnd type="none" w="sm" len="sm"/>
          </a:ln>
          <a:effectLst>
            <a:outerShdw blurRad="762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2"/>
          <p:cNvSpPr/>
          <p:nvPr/>
        </p:nvSpPr>
        <p:spPr>
          <a:xfrm>
            <a:off x="7863840" y="4709160"/>
            <a:ext cx="109728" cy="1234440"/>
          </a:xfrm>
          <a:prstGeom prst="rect">
            <a:avLst/>
          </a:prstGeom>
          <a:solidFill>
            <a:srgbClr val="E07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2"/>
          <p:cNvSpPr/>
          <p:nvPr/>
        </p:nvSpPr>
        <p:spPr>
          <a:xfrm>
            <a:off x="8138160" y="4983480"/>
            <a:ext cx="685800" cy="685800"/>
          </a:xfrm>
          <a:prstGeom prst="ellipse">
            <a:avLst/>
          </a:prstGeom>
          <a:solidFill>
            <a:srgbClr val="E07A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2"/>
          <p:cNvSpPr/>
          <p:nvPr/>
        </p:nvSpPr>
        <p:spPr>
          <a:xfrm>
            <a:off x="8138160" y="4983480"/>
            <a:ext cx="68580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400"/>
              <a:buFont typeface="Georgia"/>
              <a:buNone/>
            </a:pPr>
            <a:r>
              <a:rPr lang="en-US" sz="2400" b="1">
                <a:solidFill>
                  <a:srgbClr val="FFFFFF"/>
                </a:solidFill>
                <a:latin typeface="Georgia"/>
                <a:ea typeface="Georgia"/>
                <a:cs typeface="Georgia"/>
                <a:sym typeface="Georgia"/>
              </a:rPr>
              <a:t>3</a:t>
            </a:r>
            <a:endParaRPr sz="2400">
              <a:solidFill>
                <a:schemeClr val="dk1"/>
              </a:solidFill>
              <a:latin typeface="Calibri"/>
              <a:ea typeface="Calibri"/>
              <a:cs typeface="Calibri"/>
              <a:sym typeface="Calibri"/>
            </a:endParaRPr>
          </a:p>
        </p:txBody>
      </p:sp>
      <p:sp>
        <p:nvSpPr>
          <p:cNvPr id="362" name="Google Shape;362;p12"/>
          <p:cNvSpPr/>
          <p:nvPr/>
        </p:nvSpPr>
        <p:spPr>
          <a:xfrm>
            <a:off x="8961120" y="4846320"/>
            <a:ext cx="292608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600"/>
              <a:buFont typeface="Georgia"/>
              <a:buNone/>
            </a:pPr>
            <a:r>
              <a:rPr lang="en-US" sz="1600" b="1">
                <a:solidFill>
                  <a:srgbClr val="21295C"/>
                </a:solidFill>
                <a:latin typeface="Georgia"/>
                <a:ea typeface="Georgia"/>
                <a:cs typeface="Georgia"/>
                <a:sym typeface="Georgia"/>
              </a:rPr>
              <a:t>LightGBM</a:t>
            </a:r>
            <a:endParaRPr sz="1600">
              <a:solidFill>
                <a:schemeClr val="dk1"/>
              </a:solidFill>
              <a:latin typeface="Calibri"/>
              <a:ea typeface="Calibri"/>
              <a:cs typeface="Calibri"/>
              <a:sym typeface="Calibri"/>
            </a:endParaRPr>
          </a:p>
        </p:txBody>
      </p:sp>
      <p:sp>
        <p:nvSpPr>
          <p:cNvPr id="363" name="Google Shape;363;p12"/>
          <p:cNvSpPr/>
          <p:nvPr/>
        </p:nvSpPr>
        <p:spPr>
          <a:xfrm>
            <a:off x="8961120" y="5257800"/>
            <a:ext cx="29260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65A82"/>
              </a:buClr>
              <a:buSzPts val="1200"/>
              <a:buFont typeface="Calibri"/>
              <a:buNone/>
            </a:pPr>
            <a:r>
              <a:rPr lang="en-US" sz="1200" b="1">
                <a:solidFill>
                  <a:srgbClr val="065A82"/>
                </a:solidFill>
                <a:latin typeface="Calibri"/>
                <a:ea typeface="Calibri"/>
                <a:cs typeface="Calibri"/>
                <a:sym typeface="Calibri"/>
              </a:rPr>
              <a:t>MAE 4,08 ans</a:t>
            </a:r>
            <a:endParaRPr sz="1200">
              <a:solidFill>
                <a:schemeClr val="dk1"/>
              </a:solidFill>
              <a:latin typeface="Calibri"/>
              <a:ea typeface="Calibri"/>
              <a:cs typeface="Calibri"/>
              <a:sym typeface="Calibri"/>
            </a:endParaRPr>
          </a:p>
        </p:txBody>
      </p:sp>
      <p:sp>
        <p:nvSpPr>
          <p:cNvPr id="364" name="Google Shape;364;p12"/>
          <p:cNvSpPr/>
          <p:nvPr/>
        </p:nvSpPr>
        <p:spPr>
          <a:xfrm>
            <a:off x="8961120" y="5577840"/>
            <a:ext cx="29260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100"/>
              <a:buFont typeface="Calibri"/>
              <a:buNone/>
            </a:pPr>
            <a:r>
              <a:rPr lang="en-US" sz="1100" i="1">
                <a:solidFill>
                  <a:srgbClr val="64748B"/>
                </a:solidFill>
                <a:latin typeface="Calibri"/>
                <a:ea typeface="Calibri"/>
                <a:cs typeface="Calibri"/>
                <a:sym typeface="Calibri"/>
              </a:rPr>
              <a:t>R² = 0,934</a:t>
            </a:r>
            <a:endParaRPr sz="1100">
              <a:solidFill>
                <a:schemeClr val="dk1"/>
              </a:solidFill>
              <a:latin typeface="Calibri"/>
              <a:ea typeface="Calibri"/>
              <a:cs typeface="Calibri"/>
              <a:sym typeface="Calibri"/>
            </a:endParaRPr>
          </a:p>
        </p:txBody>
      </p:sp>
      <p:pic>
        <p:nvPicPr>
          <p:cNvPr id="365" name="Google Shape;365;p12" title="Capture d'écran 2026-05-04 165541mm.png"/>
          <p:cNvPicPr preferRelativeResize="0"/>
          <p:nvPr/>
        </p:nvPicPr>
        <p:blipFill>
          <a:blip r:embed="rId3">
            <a:alphaModFix/>
          </a:blip>
          <a:stretch>
            <a:fillRect/>
          </a:stretch>
        </p:blipFill>
        <p:spPr>
          <a:xfrm>
            <a:off x="152400" y="1234450"/>
            <a:ext cx="7524750" cy="4709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0"/>
        <p:cNvGrpSpPr/>
        <p:nvPr/>
      </p:nvGrpSpPr>
      <p:grpSpPr>
        <a:xfrm>
          <a:off x="0" y="0"/>
          <a:ext cx="0" cy="0"/>
          <a:chOff x="0" y="0"/>
          <a:chExt cx="0" cy="0"/>
        </a:xfrm>
      </p:grpSpPr>
      <p:sp>
        <p:nvSpPr>
          <p:cNvPr id="371" name="Google Shape;371;g3d90502f107_0_47"/>
          <p:cNvSpPr/>
          <p:nvPr/>
        </p:nvSpPr>
        <p:spPr>
          <a:xfrm>
            <a:off x="457200" y="228600"/>
            <a:ext cx="91440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PARTIE V · RÉSULTATS</a:t>
            </a:r>
            <a:endParaRPr sz="1100">
              <a:solidFill>
                <a:schemeClr val="dk1"/>
              </a:solidFill>
              <a:latin typeface="Calibri"/>
              <a:ea typeface="Calibri"/>
              <a:cs typeface="Calibri"/>
              <a:sym typeface="Calibri"/>
            </a:endParaRPr>
          </a:p>
        </p:txBody>
      </p:sp>
      <p:sp>
        <p:nvSpPr>
          <p:cNvPr id="372" name="Google Shape;372;g3d90502f107_0_47"/>
          <p:cNvSpPr/>
          <p:nvPr/>
        </p:nvSpPr>
        <p:spPr>
          <a:xfrm>
            <a:off x="10972800" y="228600"/>
            <a:ext cx="914400" cy="3201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11 / 16</a:t>
            </a:r>
            <a:endParaRPr sz="1000">
              <a:solidFill>
                <a:schemeClr val="dk1"/>
              </a:solidFill>
              <a:latin typeface="Calibri"/>
              <a:ea typeface="Calibri"/>
              <a:cs typeface="Calibri"/>
              <a:sym typeface="Calibri"/>
            </a:endParaRPr>
          </a:p>
        </p:txBody>
      </p:sp>
      <p:sp>
        <p:nvSpPr>
          <p:cNvPr id="373" name="Google Shape;373;g3d90502f107_0_47"/>
          <p:cNvSpPr/>
          <p:nvPr/>
        </p:nvSpPr>
        <p:spPr>
          <a:xfrm>
            <a:off x="457200" y="502920"/>
            <a:ext cx="11247000" cy="731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3000"/>
              <a:buFont typeface="Georgia"/>
              <a:buNone/>
            </a:pPr>
            <a:r>
              <a:rPr lang="en-US" sz="3000" b="1">
                <a:solidFill>
                  <a:srgbClr val="21295C"/>
                </a:solidFill>
                <a:latin typeface="Georgia"/>
                <a:ea typeface="Georgia"/>
                <a:cs typeface="Georgia"/>
                <a:sym typeface="Georgia"/>
              </a:rPr>
              <a:t>Résultats sur le jeu de Test - 9 modèles</a:t>
            </a:r>
            <a:endParaRPr sz="3000">
              <a:solidFill>
                <a:schemeClr val="dk1"/>
              </a:solidFill>
              <a:latin typeface="Calibri"/>
              <a:ea typeface="Calibri"/>
              <a:cs typeface="Calibri"/>
              <a:sym typeface="Calibri"/>
            </a:endParaRPr>
          </a:p>
        </p:txBody>
      </p:sp>
      <p:sp>
        <p:nvSpPr>
          <p:cNvPr id="374" name="Google Shape;374;g3d90502f107_0_47"/>
          <p:cNvSpPr/>
          <p:nvPr/>
        </p:nvSpPr>
        <p:spPr>
          <a:xfrm>
            <a:off x="457200" y="6537960"/>
            <a:ext cx="112470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Prédiction âge biologique · Méthylation ADN · Master 1 UCA 2025-2026</a:t>
            </a:r>
            <a:endParaRPr sz="900">
              <a:solidFill>
                <a:schemeClr val="dk1"/>
              </a:solidFill>
              <a:latin typeface="Calibri"/>
              <a:ea typeface="Calibri"/>
              <a:cs typeface="Calibri"/>
              <a:sym typeface="Calibri"/>
            </a:endParaRPr>
          </a:p>
        </p:txBody>
      </p:sp>
      <p:pic>
        <p:nvPicPr>
          <p:cNvPr id="375" name="Google Shape;375;g3d90502f107_0_47" title="Capture d’écran 2026-05-14 003458.png"/>
          <p:cNvPicPr preferRelativeResize="0"/>
          <p:nvPr/>
        </p:nvPicPr>
        <p:blipFill>
          <a:blip r:embed="rId3">
            <a:alphaModFix/>
          </a:blip>
          <a:stretch>
            <a:fillRect/>
          </a:stretch>
        </p:blipFill>
        <p:spPr>
          <a:xfrm>
            <a:off x="193700" y="1523499"/>
            <a:ext cx="5919251" cy="4372375"/>
          </a:xfrm>
          <a:prstGeom prst="rect">
            <a:avLst/>
          </a:prstGeom>
          <a:noFill/>
          <a:ln>
            <a:noFill/>
          </a:ln>
        </p:spPr>
      </p:pic>
      <p:pic>
        <p:nvPicPr>
          <p:cNvPr id="376" name="Google Shape;376;g3d90502f107_0_47" title="Capture d'écran 2026-05-14 003952m.png"/>
          <p:cNvPicPr preferRelativeResize="0"/>
          <p:nvPr/>
        </p:nvPicPr>
        <p:blipFill>
          <a:blip r:embed="rId4">
            <a:alphaModFix/>
          </a:blip>
          <a:stretch>
            <a:fillRect/>
          </a:stretch>
        </p:blipFill>
        <p:spPr>
          <a:xfrm>
            <a:off x="6231850" y="1234325"/>
            <a:ext cx="5774249" cy="46615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1"/>
        <p:cNvGrpSpPr/>
        <p:nvPr/>
      </p:nvGrpSpPr>
      <p:grpSpPr>
        <a:xfrm>
          <a:off x="0" y="0"/>
          <a:ext cx="0" cy="0"/>
          <a:chOff x="0" y="0"/>
          <a:chExt cx="0" cy="0"/>
        </a:xfrm>
      </p:grpSpPr>
      <p:sp>
        <p:nvSpPr>
          <p:cNvPr id="382" name="Google Shape;382;p13"/>
          <p:cNvSpPr/>
          <p:nvPr/>
        </p:nvSpPr>
        <p:spPr>
          <a:xfrm>
            <a:off x="457200" y="228600"/>
            <a:ext cx="91440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PARTIE V · DIAGNOSTIC</a:t>
            </a:r>
            <a:endParaRPr sz="1100">
              <a:solidFill>
                <a:schemeClr val="dk1"/>
              </a:solidFill>
              <a:latin typeface="Calibri"/>
              <a:ea typeface="Calibri"/>
              <a:cs typeface="Calibri"/>
              <a:sym typeface="Calibri"/>
            </a:endParaRPr>
          </a:p>
        </p:txBody>
      </p:sp>
      <p:sp>
        <p:nvSpPr>
          <p:cNvPr id="383" name="Google Shape;383;p13"/>
          <p:cNvSpPr/>
          <p:nvPr/>
        </p:nvSpPr>
        <p:spPr>
          <a:xfrm>
            <a:off x="10972800" y="228600"/>
            <a:ext cx="914400" cy="32004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12 / 16</a:t>
            </a:r>
            <a:endParaRPr sz="1000">
              <a:solidFill>
                <a:schemeClr val="dk1"/>
              </a:solidFill>
              <a:latin typeface="Calibri"/>
              <a:ea typeface="Calibri"/>
              <a:cs typeface="Calibri"/>
              <a:sym typeface="Calibri"/>
            </a:endParaRPr>
          </a:p>
        </p:txBody>
      </p:sp>
      <p:sp>
        <p:nvSpPr>
          <p:cNvPr id="384" name="Google Shape;384;p13"/>
          <p:cNvSpPr/>
          <p:nvPr/>
        </p:nvSpPr>
        <p:spPr>
          <a:xfrm>
            <a:off x="457200" y="502920"/>
            <a:ext cx="1124712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3000"/>
              <a:buFont typeface="Georgia"/>
              <a:buNone/>
            </a:pPr>
            <a:r>
              <a:rPr lang="en-US" sz="3000" b="1">
                <a:solidFill>
                  <a:srgbClr val="21295C"/>
                </a:solidFill>
                <a:latin typeface="Georgia"/>
                <a:ea typeface="Georgia"/>
                <a:cs typeface="Georgia"/>
                <a:sym typeface="Georgia"/>
              </a:rPr>
              <a:t>Diagnostic : Validation vs Test</a:t>
            </a:r>
            <a:endParaRPr sz="3000">
              <a:solidFill>
                <a:schemeClr val="dk1"/>
              </a:solidFill>
              <a:latin typeface="Calibri"/>
              <a:ea typeface="Calibri"/>
              <a:cs typeface="Calibri"/>
              <a:sym typeface="Calibri"/>
            </a:endParaRPr>
          </a:p>
        </p:txBody>
      </p:sp>
      <p:sp>
        <p:nvSpPr>
          <p:cNvPr id="385" name="Google Shape;385;p13"/>
          <p:cNvSpPr/>
          <p:nvPr/>
        </p:nvSpPr>
        <p:spPr>
          <a:xfrm>
            <a:off x="457200" y="6537960"/>
            <a:ext cx="1124712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Prédiction âge biologique · Méthylation ADN · Master UCA 2025-2026</a:t>
            </a:r>
            <a:endParaRPr sz="900">
              <a:solidFill>
                <a:schemeClr val="dk1"/>
              </a:solidFill>
              <a:latin typeface="Calibri"/>
              <a:ea typeface="Calibri"/>
              <a:cs typeface="Calibri"/>
              <a:sym typeface="Calibri"/>
            </a:endParaRPr>
          </a:p>
        </p:txBody>
      </p:sp>
      <p:sp>
        <p:nvSpPr>
          <p:cNvPr id="386" name="Google Shape;386;p13"/>
          <p:cNvSpPr/>
          <p:nvPr/>
        </p:nvSpPr>
        <p:spPr>
          <a:xfrm>
            <a:off x="8686800" y="1417320"/>
            <a:ext cx="329184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65A82"/>
              </a:buClr>
              <a:buSzPts val="1700"/>
              <a:buFont typeface="Georgia"/>
              <a:buNone/>
            </a:pPr>
            <a:r>
              <a:rPr lang="en-US" sz="1700" b="1">
                <a:solidFill>
                  <a:srgbClr val="065A82"/>
                </a:solidFill>
                <a:latin typeface="Georgia"/>
                <a:ea typeface="Georgia"/>
                <a:cs typeface="Georgia"/>
                <a:sym typeface="Georgia"/>
              </a:rPr>
              <a:t>Interprétation</a:t>
            </a:r>
            <a:endParaRPr sz="1700">
              <a:solidFill>
                <a:schemeClr val="dk1"/>
              </a:solidFill>
              <a:latin typeface="Calibri"/>
              <a:ea typeface="Calibri"/>
              <a:cs typeface="Calibri"/>
              <a:sym typeface="Calibri"/>
            </a:endParaRPr>
          </a:p>
        </p:txBody>
      </p:sp>
      <p:sp>
        <p:nvSpPr>
          <p:cNvPr id="387" name="Google Shape;387;p13"/>
          <p:cNvSpPr/>
          <p:nvPr/>
        </p:nvSpPr>
        <p:spPr>
          <a:xfrm>
            <a:off x="8686800" y="1920240"/>
            <a:ext cx="73152" cy="960120"/>
          </a:xfrm>
          <a:prstGeom prst="rect">
            <a:avLst/>
          </a:prstGeom>
          <a:solidFill>
            <a:srgbClr val="F2B7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3"/>
          <p:cNvSpPr/>
          <p:nvPr/>
        </p:nvSpPr>
        <p:spPr>
          <a:xfrm>
            <a:off x="8869680" y="1920240"/>
            <a:ext cx="310896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200"/>
              <a:buFont typeface="Calibri"/>
              <a:buNone/>
            </a:pPr>
            <a:r>
              <a:rPr lang="en-US" sz="1200" b="1">
                <a:solidFill>
                  <a:srgbClr val="21295C"/>
                </a:solidFill>
                <a:latin typeface="Calibri"/>
                <a:ea typeface="Calibri"/>
                <a:cs typeface="Calibri"/>
                <a:sym typeface="Calibri"/>
              </a:rPr>
              <a:t>Stacking</a:t>
            </a:r>
            <a:endParaRPr sz="1200">
              <a:solidFill>
                <a:schemeClr val="dk1"/>
              </a:solidFill>
              <a:latin typeface="Calibri"/>
              <a:ea typeface="Calibri"/>
              <a:cs typeface="Calibri"/>
              <a:sym typeface="Calibri"/>
            </a:endParaRPr>
          </a:p>
        </p:txBody>
      </p:sp>
      <p:sp>
        <p:nvSpPr>
          <p:cNvPr id="389" name="Google Shape;389;p13"/>
          <p:cNvSpPr/>
          <p:nvPr/>
        </p:nvSpPr>
        <p:spPr>
          <a:xfrm>
            <a:off x="8869680" y="2212848"/>
            <a:ext cx="310896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50"/>
              <a:buFont typeface="Calibri"/>
              <a:buNone/>
            </a:pPr>
            <a:r>
              <a:rPr lang="en-US" sz="1050">
                <a:solidFill>
                  <a:srgbClr val="1E293B"/>
                </a:solidFill>
                <a:latin typeface="Calibri"/>
                <a:ea typeface="Calibri"/>
                <a:cs typeface="Calibri"/>
                <a:sym typeface="Calibri"/>
              </a:rPr>
              <a:t>Écart Val/Test important (1,7 → 3,3) → léger sur-ajustement mais reste champion sur Test.</a:t>
            </a:r>
            <a:endParaRPr sz="1050">
              <a:solidFill>
                <a:schemeClr val="dk1"/>
              </a:solidFill>
              <a:latin typeface="Calibri"/>
              <a:ea typeface="Calibri"/>
              <a:cs typeface="Calibri"/>
              <a:sym typeface="Calibri"/>
            </a:endParaRPr>
          </a:p>
        </p:txBody>
      </p:sp>
      <p:sp>
        <p:nvSpPr>
          <p:cNvPr id="390" name="Google Shape;390;p13"/>
          <p:cNvSpPr/>
          <p:nvPr/>
        </p:nvSpPr>
        <p:spPr>
          <a:xfrm>
            <a:off x="8686800" y="3017520"/>
            <a:ext cx="73152" cy="960120"/>
          </a:xfrm>
          <a:prstGeom prst="rect">
            <a:avLst/>
          </a:prstGeom>
          <a:solidFill>
            <a:srgbClr val="2A9D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3"/>
          <p:cNvSpPr/>
          <p:nvPr/>
        </p:nvSpPr>
        <p:spPr>
          <a:xfrm>
            <a:off x="8869680" y="3017520"/>
            <a:ext cx="310896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200"/>
              <a:buFont typeface="Calibri"/>
              <a:buNone/>
            </a:pPr>
            <a:r>
              <a:rPr lang="en-US" sz="1200" b="1">
                <a:solidFill>
                  <a:srgbClr val="21295C"/>
                </a:solidFill>
                <a:latin typeface="Calibri"/>
                <a:ea typeface="Calibri"/>
                <a:cs typeface="Calibri"/>
                <a:sym typeface="Calibri"/>
              </a:rPr>
              <a:t>ElasticNet</a:t>
            </a:r>
            <a:endParaRPr sz="1200">
              <a:solidFill>
                <a:schemeClr val="dk1"/>
              </a:solidFill>
              <a:latin typeface="Calibri"/>
              <a:ea typeface="Calibri"/>
              <a:cs typeface="Calibri"/>
              <a:sym typeface="Calibri"/>
            </a:endParaRPr>
          </a:p>
        </p:txBody>
      </p:sp>
      <p:sp>
        <p:nvSpPr>
          <p:cNvPr id="392" name="Google Shape;392;p13"/>
          <p:cNvSpPr/>
          <p:nvPr/>
        </p:nvSpPr>
        <p:spPr>
          <a:xfrm>
            <a:off x="8869680" y="3310128"/>
            <a:ext cx="310896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50"/>
              <a:buFont typeface="Calibri"/>
              <a:buNone/>
            </a:pPr>
            <a:r>
              <a:rPr lang="en-US" sz="1050">
                <a:solidFill>
                  <a:srgbClr val="1E293B"/>
                </a:solidFill>
                <a:latin typeface="Calibri"/>
                <a:ea typeface="Calibri"/>
                <a:cs typeface="Calibri"/>
                <a:sym typeface="Calibri"/>
              </a:rPr>
              <a:t>Stable Val/Test (4,1 → 3,4) → excellent compromis parcimonie-performance.</a:t>
            </a:r>
            <a:endParaRPr sz="1050">
              <a:solidFill>
                <a:schemeClr val="dk1"/>
              </a:solidFill>
              <a:latin typeface="Calibri"/>
              <a:ea typeface="Calibri"/>
              <a:cs typeface="Calibri"/>
              <a:sym typeface="Calibri"/>
            </a:endParaRPr>
          </a:p>
        </p:txBody>
      </p:sp>
      <p:sp>
        <p:nvSpPr>
          <p:cNvPr id="393" name="Google Shape;393;p13"/>
          <p:cNvSpPr/>
          <p:nvPr/>
        </p:nvSpPr>
        <p:spPr>
          <a:xfrm>
            <a:off x="8686800" y="4114800"/>
            <a:ext cx="73152" cy="960120"/>
          </a:xfrm>
          <a:prstGeom prst="rect">
            <a:avLst/>
          </a:prstGeom>
          <a:solidFill>
            <a:srgbClr val="1C72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3"/>
          <p:cNvSpPr/>
          <p:nvPr/>
        </p:nvSpPr>
        <p:spPr>
          <a:xfrm>
            <a:off x="8869680" y="4114800"/>
            <a:ext cx="310896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200"/>
              <a:buFont typeface="Calibri"/>
              <a:buNone/>
            </a:pPr>
            <a:r>
              <a:rPr lang="en-US" sz="1200" b="1">
                <a:solidFill>
                  <a:srgbClr val="21295C"/>
                </a:solidFill>
                <a:latin typeface="Calibri"/>
                <a:ea typeface="Calibri"/>
                <a:cs typeface="Calibri"/>
                <a:sym typeface="Calibri"/>
              </a:rPr>
              <a:t>LightGBM</a:t>
            </a:r>
            <a:endParaRPr sz="1200">
              <a:solidFill>
                <a:schemeClr val="dk1"/>
              </a:solidFill>
              <a:latin typeface="Calibri"/>
              <a:ea typeface="Calibri"/>
              <a:cs typeface="Calibri"/>
              <a:sym typeface="Calibri"/>
            </a:endParaRPr>
          </a:p>
        </p:txBody>
      </p:sp>
      <p:sp>
        <p:nvSpPr>
          <p:cNvPr id="395" name="Google Shape;395;p13"/>
          <p:cNvSpPr/>
          <p:nvPr/>
        </p:nvSpPr>
        <p:spPr>
          <a:xfrm>
            <a:off x="8869680" y="4407408"/>
            <a:ext cx="310896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50"/>
              <a:buFont typeface="Calibri"/>
              <a:buNone/>
            </a:pPr>
            <a:r>
              <a:rPr lang="en-US" sz="1050">
                <a:solidFill>
                  <a:srgbClr val="1E293B"/>
                </a:solidFill>
                <a:latin typeface="Calibri"/>
                <a:ea typeface="Calibri"/>
                <a:cs typeface="Calibri"/>
                <a:sym typeface="Calibri"/>
              </a:rPr>
              <a:t>Très parcimonieux (98 CpG retenus) → solution proche d'une horloge publiée.</a:t>
            </a:r>
            <a:endParaRPr sz="1050">
              <a:solidFill>
                <a:schemeClr val="dk1"/>
              </a:solidFill>
              <a:latin typeface="Calibri"/>
              <a:ea typeface="Calibri"/>
              <a:cs typeface="Calibri"/>
              <a:sym typeface="Calibri"/>
            </a:endParaRPr>
          </a:p>
        </p:txBody>
      </p:sp>
      <p:sp>
        <p:nvSpPr>
          <p:cNvPr id="396" name="Google Shape;396;p13"/>
          <p:cNvSpPr/>
          <p:nvPr/>
        </p:nvSpPr>
        <p:spPr>
          <a:xfrm>
            <a:off x="8686800" y="5212080"/>
            <a:ext cx="73152" cy="960120"/>
          </a:xfrm>
          <a:prstGeom prst="rect">
            <a:avLst/>
          </a:prstGeom>
          <a:solidFill>
            <a:srgbClr val="D62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3"/>
          <p:cNvSpPr/>
          <p:nvPr/>
        </p:nvSpPr>
        <p:spPr>
          <a:xfrm>
            <a:off x="8869680" y="5212080"/>
            <a:ext cx="310896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200"/>
              <a:buFont typeface="Calibri"/>
              <a:buNone/>
            </a:pPr>
            <a:r>
              <a:rPr lang="en-US" sz="1200" b="1">
                <a:solidFill>
                  <a:srgbClr val="21295C"/>
                </a:solidFill>
                <a:latin typeface="Calibri"/>
                <a:ea typeface="Calibri"/>
                <a:cs typeface="Calibri"/>
                <a:sym typeface="Calibri"/>
              </a:rPr>
              <a:t>RF / SVM / MLP</a:t>
            </a:r>
            <a:endParaRPr sz="1200">
              <a:solidFill>
                <a:schemeClr val="dk1"/>
              </a:solidFill>
              <a:latin typeface="Calibri"/>
              <a:ea typeface="Calibri"/>
              <a:cs typeface="Calibri"/>
              <a:sym typeface="Calibri"/>
            </a:endParaRPr>
          </a:p>
        </p:txBody>
      </p:sp>
      <p:sp>
        <p:nvSpPr>
          <p:cNvPr id="398" name="Google Shape;398;p13"/>
          <p:cNvSpPr/>
          <p:nvPr/>
        </p:nvSpPr>
        <p:spPr>
          <a:xfrm>
            <a:off x="8869680" y="5504688"/>
            <a:ext cx="310896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50"/>
              <a:buFont typeface="Calibri"/>
              <a:buNone/>
            </a:pPr>
            <a:r>
              <a:rPr lang="en-US" sz="1050">
                <a:solidFill>
                  <a:srgbClr val="1E293B"/>
                </a:solidFill>
                <a:latin typeface="Calibri"/>
                <a:ea typeface="Calibri"/>
                <a:cs typeface="Calibri"/>
                <a:sym typeface="Calibri"/>
              </a:rPr>
              <a:t>MAE ≥ 7 ans → inadaptés à p ≫ n sans réduction préalable.</a:t>
            </a:r>
            <a:endParaRPr sz="1050">
              <a:solidFill>
                <a:schemeClr val="dk1"/>
              </a:solidFill>
              <a:latin typeface="Calibri"/>
              <a:ea typeface="Calibri"/>
              <a:cs typeface="Calibri"/>
              <a:sym typeface="Calibri"/>
            </a:endParaRPr>
          </a:p>
        </p:txBody>
      </p:sp>
      <p:pic>
        <p:nvPicPr>
          <p:cNvPr id="399" name="Google Shape;399;p13" title="Capture d'écran 2026-05-14 004229l.png"/>
          <p:cNvPicPr preferRelativeResize="0"/>
          <p:nvPr/>
        </p:nvPicPr>
        <p:blipFill>
          <a:blip r:embed="rId3">
            <a:alphaModFix/>
          </a:blip>
          <a:stretch>
            <a:fillRect/>
          </a:stretch>
        </p:blipFill>
        <p:spPr>
          <a:xfrm>
            <a:off x="730775" y="1417325"/>
            <a:ext cx="6800850" cy="47731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04"/>
        <p:cNvGrpSpPr/>
        <p:nvPr/>
      </p:nvGrpSpPr>
      <p:grpSpPr>
        <a:xfrm>
          <a:off x="0" y="0"/>
          <a:ext cx="0" cy="0"/>
          <a:chOff x="0" y="0"/>
          <a:chExt cx="0" cy="0"/>
        </a:xfrm>
      </p:grpSpPr>
      <p:sp>
        <p:nvSpPr>
          <p:cNvPr id="405" name="Google Shape;405;g3d90502f107_0_79"/>
          <p:cNvSpPr/>
          <p:nvPr/>
        </p:nvSpPr>
        <p:spPr>
          <a:xfrm>
            <a:off x="457200" y="228600"/>
            <a:ext cx="91440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PARTIE V · RÉSULTATS</a:t>
            </a:r>
            <a:endParaRPr sz="1100">
              <a:solidFill>
                <a:schemeClr val="dk1"/>
              </a:solidFill>
              <a:latin typeface="Calibri"/>
              <a:ea typeface="Calibri"/>
              <a:cs typeface="Calibri"/>
              <a:sym typeface="Calibri"/>
            </a:endParaRPr>
          </a:p>
        </p:txBody>
      </p:sp>
      <p:sp>
        <p:nvSpPr>
          <p:cNvPr id="406" name="Google Shape;406;g3d90502f107_0_79"/>
          <p:cNvSpPr/>
          <p:nvPr/>
        </p:nvSpPr>
        <p:spPr>
          <a:xfrm>
            <a:off x="10972800" y="228600"/>
            <a:ext cx="914400" cy="3201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11 / 16</a:t>
            </a:r>
            <a:endParaRPr sz="1000">
              <a:solidFill>
                <a:schemeClr val="dk1"/>
              </a:solidFill>
              <a:latin typeface="Calibri"/>
              <a:ea typeface="Calibri"/>
              <a:cs typeface="Calibri"/>
              <a:sym typeface="Calibri"/>
            </a:endParaRPr>
          </a:p>
        </p:txBody>
      </p:sp>
      <p:sp>
        <p:nvSpPr>
          <p:cNvPr id="407" name="Google Shape;407;g3d90502f107_0_79"/>
          <p:cNvSpPr/>
          <p:nvPr/>
        </p:nvSpPr>
        <p:spPr>
          <a:xfrm>
            <a:off x="457200" y="502920"/>
            <a:ext cx="11247000" cy="731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3000"/>
              <a:buFont typeface="Georgia"/>
              <a:buNone/>
            </a:pPr>
            <a:r>
              <a:rPr lang="en-US" sz="3000" b="1">
                <a:solidFill>
                  <a:srgbClr val="21295C"/>
                </a:solidFill>
                <a:latin typeface="Georgia"/>
                <a:ea typeface="Georgia"/>
                <a:cs typeface="Georgia"/>
                <a:sym typeface="Georgia"/>
              </a:rPr>
              <a:t>Résultats sur le jeu de Test - 9 modèles</a:t>
            </a:r>
            <a:endParaRPr sz="3000">
              <a:solidFill>
                <a:schemeClr val="dk1"/>
              </a:solidFill>
              <a:latin typeface="Calibri"/>
              <a:ea typeface="Calibri"/>
              <a:cs typeface="Calibri"/>
              <a:sym typeface="Calibri"/>
            </a:endParaRPr>
          </a:p>
        </p:txBody>
      </p:sp>
      <p:sp>
        <p:nvSpPr>
          <p:cNvPr id="408" name="Google Shape;408;g3d90502f107_0_79"/>
          <p:cNvSpPr/>
          <p:nvPr/>
        </p:nvSpPr>
        <p:spPr>
          <a:xfrm>
            <a:off x="457200" y="6537960"/>
            <a:ext cx="112470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Prédiction âge biologique · Méthylation ADN · Master 1 UCA 2025-2026</a:t>
            </a:r>
            <a:endParaRPr sz="900">
              <a:solidFill>
                <a:schemeClr val="dk1"/>
              </a:solidFill>
              <a:latin typeface="Calibri"/>
              <a:ea typeface="Calibri"/>
              <a:cs typeface="Calibri"/>
              <a:sym typeface="Calibri"/>
            </a:endParaRPr>
          </a:p>
        </p:txBody>
      </p:sp>
      <p:pic>
        <p:nvPicPr>
          <p:cNvPr id="409" name="Google Shape;409;g3d90502f107_0_79" title="Capture d'écran 2026-05-04 16364411.png"/>
          <p:cNvPicPr preferRelativeResize="0"/>
          <p:nvPr/>
        </p:nvPicPr>
        <p:blipFill>
          <a:blip r:embed="rId3">
            <a:alphaModFix/>
          </a:blip>
          <a:stretch>
            <a:fillRect/>
          </a:stretch>
        </p:blipFill>
        <p:spPr>
          <a:xfrm>
            <a:off x="152400" y="1386725"/>
            <a:ext cx="11887199" cy="5025037"/>
          </a:xfrm>
          <a:prstGeom prst="rect">
            <a:avLst/>
          </a:prstGeom>
          <a:noFill/>
          <a:ln>
            <a:noFill/>
          </a:ln>
        </p:spPr>
      </p:pic>
      <p:pic>
        <p:nvPicPr>
          <p:cNvPr id="410" name="Google Shape;410;g3d90502f107_0_79" title="Capture d'écran 2026-05-04 16364411.png"/>
          <p:cNvPicPr preferRelativeResize="0"/>
          <p:nvPr/>
        </p:nvPicPr>
        <p:blipFill>
          <a:blip r:embed="rId3">
            <a:alphaModFix/>
          </a:blip>
          <a:stretch>
            <a:fillRect/>
          </a:stretch>
        </p:blipFill>
        <p:spPr>
          <a:xfrm>
            <a:off x="152400" y="1234325"/>
            <a:ext cx="11887199" cy="502503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5"/>
        <p:cNvGrpSpPr/>
        <p:nvPr/>
      </p:nvGrpSpPr>
      <p:grpSpPr>
        <a:xfrm>
          <a:off x="0" y="0"/>
          <a:ext cx="0" cy="0"/>
          <a:chOff x="0" y="0"/>
          <a:chExt cx="0" cy="0"/>
        </a:xfrm>
      </p:grpSpPr>
      <p:sp>
        <p:nvSpPr>
          <p:cNvPr id="416" name="Google Shape;416;p14"/>
          <p:cNvSpPr/>
          <p:nvPr/>
        </p:nvSpPr>
        <p:spPr>
          <a:xfrm>
            <a:off x="457200" y="228600"/>
            <a:ext cx="91440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PARTIE V · RÉSIDUS</a:t>
            </a:r>
            <a:endParaRPr sz="1100">
              <a:solidFill>
                <a:schemeClr val="dk1"/>
              </a:solidFill>
              <a:latin typeface="Calibri"/>
              <a:ea typeface="Calibri"/>
              <a:cs typeface="Calibri"/>
              <a:sym typeface="Calibri"/>
            </a:endParaRPr>
          </a:p>
        </p:txBody>
      </p:sp>
      <p:sp>
        <p:nvSpPr>
          <p:cNvPr id="417" name="Google Shape;417;p14"/>
          <p:cNvSpPr/>
          <p:nvPr/>
        </p:nvSpPr>
        <p:spPr>
          <a:xfrm>
            <a:off x="10972800" y="228600"/>
            <a:ext cx="914400" cy="32004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13 / 16</a:t>
            </a:r>
            <a:endParaRPr sz="1000">
              <a:solidFill>
                <a:schemeClr val="dk1"/>
              </a:solidFill>
              <a:latin typeface="Calibri"/>
              <a:ea typeface="Calibri"/>
              <a:cs typeface="Calibri"/>
              <a:sym typeface="Calibri"/>
            </a:endParaRPr>
          </a:p>
        </p:txBody>
      </p:sp>
      <p:sp>
        <p:nvSpPr>
          <p:cNvPr id="418" name="Google Shape;418;p14"/>
          <p:cNvSpPr/>
          <p:nvPr/>
        </p:nvSpPr>
        <p:spPr>
          <a:xfrm>
            <a:off x="457200" y="548645"/>
            <a:ext cx="11247000" cy="731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3000"/>
              <a:buFont typeface="Georgia"/>
              <a:buNone/>
            </a:pPr>
            <a:r>
              <a:rPr lang="en-US" sz="3000" b="1">
                <a:solidFill>
                  <a:srgbClr val="21295C"/>
                </a:solidFill>
                <a:latin typeface="Georgia"/>
                <a:ea typeface="Georgia"/>
                <a:cs typeface="Georgia"/>
                <a:sym typeface="Georgia"/>
              </a:rPr>
              <a:t>Analyse des résidus du meilleur modèle (Stacking)</a:t>
            </a:r>
            <a:endParaRPr sz="3000">
              <a:solidFill>
                <a:schemeClr val="dk1"/>
              </a:solidFill>
              <a:latin typeface="Calibri"/>
              <a:ea typeface="Calibri"/>
              <a:cs typeface="Calibri"/>
              <a:sym typeface="Calibri"/>
            </a:endParaRPr>
          </a:p>
        </p:txBody>
      </p:sp>
      <p:sp>
        <p:nvSpPr>
          <p:cNvPr id="419" name="Google Shape;419;p14"/>
          <p:cNvSpPr/>
          <p:nvPr/>
        </p:nvSpPr>
        <p:spPr>
          <a:xfrm>
            <a:off x="457200" y="6537960"/>
            <a:ext cx="1124712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Prédiction âge biologique · Méthylation ADN · Master UCA 2025-2026</a:t>
            </a:r>
            <a:endParaRPr sz="900">
              <a:solidFill>
                <a:schemeClr val="dk1"/>
              </a:solidFill>
              <a:latin typeface="Calibri"/>
              <a:ea typeface="Calibri"/>
              <a:cs typeface="Calibri"/>
              <a:sym typeface="Calibri"/>
            </a:endParaRPr>
          </a:p>
        </p:txBody>
      </p:sp>
      <p:sp>
        <p:nvSpPr>
          <p:cNvPr id="420" name="Google Shape;420;p14"/>
          <p:cNvSpPr/>
          <p:nvPr/>
        </p:nvSpPr>
        <p:spPr>
          <a:xfrm>
            <a:off x="640080" y="5669280"/>
            <a:ext cx="2743200" cy="731520"/>
          </a:xfrm>
          <a:prstGeom prst="rect">
            <a:avLst/>
          </a:prstGeom>
          <a:solidFill>
            <a:srgbClr val="F4F7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4"/>
          <p:cNvSpPr/>
          <p:nvPr/>
        </p:nvSpPr>
        <p:spPr>
          <a:xfrm>
            <a:off x="731520" y="5715000"/>
            <a:ext cx="256032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65A82"/>
              </a:buClr>
              <a:buSzPts val="1400"/>
              <a:buFont typeface="Georgia"/>
              <a:buNone/>
            </a:pPr>
            <a:r>
              <a:rPr lang="en-US" sz="1400" b="1">
                <a:solidFill>
                  <a:srgbClr val="065A82"/>
                </a:solidFill>
                <a:latin typeface="Georgia"/>
                <a:ea typeface="Georgia"/>
                <a:cs typeface="Georgia"/>
                <a:sym typeface="Georgia"/>
              </a:rPr>
              <a:t>MAE = 3,2</a:t>
            </a:r>
            <a:r>
              <a:rPr lang="en-US" b="1">
                <a:solidFill>
                  <a:srgbClr val="065A82"/>
                </a:solidFill>
                <a:latin typeface="Georgia"/>
                <a:ea typeface="Georgia"/>
                <a:cs typeface="Georgia"/>
                <a:sym typeface="Georgia"/>
              </a:rPr>
              <a:t>1</a:t>
            </a:r>
            <a:endParaRPr sz="1400">
              <a:solidFill>
                <a:schemeClr val="dk1"/>
              </a:solidFill>
              <a:latin typeface="Calibri"/>
              <a:ea typeface="Calibri"/>
              <a:cs typeface="Calibri"/>
              <a:sym typeface="Calibri"/>
            </a:endParaRPr>
          </a:p>
        </p:txBody>
      </p:sp>
      <p:sp>
        <p:nvSpPr>
          <p:cNvPr id="422" name="Google Shape;422;p14"/>
          <p:cNvSpPr/>
          <p:nvPr/>
        </p:nvSpPr>
        <p:spPr>
          <a:xfrm>
            <a:off x="731520" y="6080760"/>
            <a:ext cx="25603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000"/>
              <a:buFont typeface="Calibri"/>
              <a:buNone/>
            </a:pPr>
            <a:r>
              <a:rPr lang="en-US" sz="1000" i="1">
                <a:solidFill>
                  <a:srgbClr val="434343"/>
                </a:solidFill>
                <a:latin typeface="Calibri"/>
                <a:ea typeface="Calibri"/>
                <a:cs typeface="Calibri"/>
                <a:sym typeface="Calibri"/>
              </a:rPr>
              <a:t>ans</a:t>
            </a:r>
            <a:endParaRPr sz="1000">
              <a:solidFill>
                <a:srgbClr val="434343"/>
              </a:solidFill>
              <a:latin typeface="Calibri"/>
              <a:ea typeface="Calibri"/>
              <a:cs typeface="Calibri"/>
              <a:sym typeface="Calibri"/>
            </a:endParaRPr>
          </a:p>
        </p:txBody>
      </p:sp>
      <p:sp>
        <p:nvSpPr>
          <p:cNvPr id="423" name="Google Shape;423;p14"/>
          <p:cNvSpPr/>
          <p:nvPr/>
        </p:nvSpPr>
        <p:spPr>
          <a:xfrm>
            <a:off x="3520440" y="5669280"/>
            <a:ext cx="2743200" cy="731520"/>
          </a:xfrm>
          <a:prstGeom prst="rect">
            <a:avLst/>
          </a:prstGeom>
          <a:solidFill>
            <a:srgbClr val="F4F7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4"/>
          <p:cNvSpPr/>
          <p:nvPr/>
        </p:nvSpPr>
        <p:spPr>
          <a:xfrm>
            <a:off x="3611880" y="5715000"/>
            <a:ext cx="256032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65A82"/>
              </a:buClr>
              <a:buSzPts val="1400"/>
              <a:buFont typeface="Georgia"/>
              <a:buNone/>
            </a:pPr>
            <a:r>
              <a:rPr lang="en-US" sz="1400" b="1">
                <a:solidFill>
                  <a:srgbClr val="065A82"/>
                </a:solidFill>
                <a:latin typeface="Georgia"/>
                <a:ea typeface="Georgia"/>
                <a:cs typeface="Georgia"/>
                <a:sym typeface="Georgia"/>
              </a:rPr>
              <a:t>Biais ≈ 0</a:t>
            </a:r>
            <a:endParaRPr sz="1400">
              <a:solidFill>
                <a:schemeClr val="dk1"/>
              </a:solidFill>
              <a:latin typeface="Calibri"/>
              <a:ea typeface="Calibri"/>
              <a:cs typeface="Calibri"/>
              <a:sym typeface="Calibri"/>
            </a:endParaRPr>
          </a:p>
        </p:txBody>
      </p:sp>
      <p:sp>
        <p:nvSpPr>
          <p:cNvPr id="425" name="Google Shape;425;p14"/>
          <p:cNvSpPr/>
          <p:nvPr/>
        </p:nvSpPr>
        <p:spPr>
          <a:xfrm>
            <a:off x="3611880" y="6080760"/>
            <a:ext cx="25603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000"/>
              <a:buFont typeface="Calibri"/>
              <a:buNone/>
            </a:pPr>
            <a:r>
              <a:rPr lang="en-US" sz="1000" i="1">
                <a:solidFill>
                  <a:srgbClr val="434343"/>
                </a:solidFill>
                <a:latin typeface="Calibri"/>
                <a:ea typeface="Calibri"/>
                <a:cs typeface="Calibri"/>
                <a:sym typeface="Calibri"/>
              </a:rPr>
              <a:t>résidus centré</a:t>
            </a:r>
            <a:r>
              <a:rPr lang="en-US" sz="1000" i="1">
                <a:solidFill>
                  <a:srgbClr val="64748B"/>
                </a:solidFill>
                <a:latin typeface="Calibri"/>
                <a:ea typeface="Calibri"/>
                <a:cs typeface="Calibri"/>
                <a:sym typeface="Calibri"/>
              </a:rPr>
              <a:t>s</a:t>
            </a:r>
            <a:endParaRPr sz="1000">
              <a:solidFill>
                <a:schemeClr val="dk1"/>
              </a:solidFill>
              <a:latin typeface="Calibri"/>
              <a:ea typeface="Calibri"/>
              <a:cs typeface="Calibri"/>
              <a:sym typeface="Calibri"/>
            </a:endParaRPr>
          </a:p>
        </p:txBody>
      </p:sp>
      <p:sp>
        <p:nvSpPr>
          <p:cNvPr id="426" name="Google Shape;426;p14"/>
          <p:cNvSpPr/>
          <p:nvPr/>
        </p:nvSpPr>
        <p:spPr>
          <a:xfrm>
            <a:off x="6400800" y="5669280"/>
            <a:ext cx="2743200" cy="731520"/>
          </a:xfrm>
          <a:prstGeom prst="rect">
            <a:avLst/>
          </a:prstGeom>
          <a:solidFill>
            <a:srgbClr val="F4F7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4"/>
          <p:cNvSpPr/>
          <p:nvPr/>
        </p:nvSpPr>
        <p:spPr>
          <a:xfrm>
            <a:off x="6492240" y="5715000"/>
            <a:ext cx="256032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65A82"/>
              </a:buClr>
              <a:buSzPts val="1400"/>
              <a:buFont typeface="Georgia"/>
              <a:buNone/>
            </a:pPr>
            <a:r>
              <a:rPr lang="en-US" sz="1400" b="1">
                <a:solidFill>
                  <a:srgbClr val="065A82"/>
                </a:solidFill>
                <a:latin typeface="Georgia"/>
                <a:ea typeface="Georgia"/>
                <a:cs typeface="Georgia"/>
                <a:sym typeface="Georgia"/>
              </a:rPr>
              <a:t>Shapiro-Wilk</a:t>
            </a:r>
            <a:endParaRPr sz="1400">
              <a:solidFill>
                <a:schemeClr val="dk1"/>
              </a:solidFill>
              <a:latin typeface="Calibri"/>
              <a:ea typeface="Calibri"/>
              <a:cs typeface="Calibri"/>
              <a:sym typeface="Calibri"/>
            </a:endParaRPr>
          </a:p>
        </p:txBody>
      </p:sp>
      <p:sp>
        <p:nvSpPr>
          <p:cNvPr id="428" name="Google Shape;428;p14"/>
          <p:cNvSpPr/>
          <p:nvPr/>
        </p:nvSpPr>
        <p:spPr>
          <a:xfrm>
            <a:off x="6492240" y="6080760"/>
            <a:ext cx="256032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000"/>
              <a:buFont typeface="Calibri"/>
              <a:buNone/>
            </a:pPr>
            <a:r>
              <a:rPr lang="en-US" sz="1050">
                <a:solidFill>
                  <a:srgbClr val="434343"/>
                </a:solidFill>
                <a:latin typeface="Courier New"/>
                <a:ea typeface="Courier New"/>
                <a:cs typeface="Courier New"/>
                <a:sym typeface="Courier New"/>
              </a:rPr>
              <a:t>W=0.9652,</a:t>
            </a:r>
            <a:r>
              <a:rPr lang="en-US" sz="1100">
                <a:solidFill>
                  <a:srgbClr val="434343"/>
                </a:solidFill>
              </a:rPr>
              <a:t> </a:t>
            </a:r>
            <a:r>
              <a:rPr lang="en-US" sz="1000" i="1">
                <a:solidFill>
                  <a:srgbClr val="434343"/>
                </a:solidFill>
                <a:latin typeface="Calibri"/>
                <a:ea typeface="Calibri"/>
                <a:cs typeface="Calibri"/>
                <a:sym typeface="Calibri"/>
              </a:rPr>
              <a:t>p = 0,0282 → normalité rejetée</a:t>
            </a:r>
            <a:endParaRPr sz="1000">
              <a:solidFill>
                <a:srgbClr val="434343"/>
              </a:solidFill>
              <a:latin typeface="Calibri"/>
              <a:ea typeface="Calibri"/>
              <a:cs typeface="Calibri"/>
              <a:sym typeface="Calibri"/>
            </a:endParaRPr>
          </a:p>
        </p:txBody>
      </p:sp>
      <p:sp>
        <p:nvSpPr>
          <p:cNvPr id="429" name="Google Shape;429;p14"/>
          <p:cNvSpPr/>
          <p:nvPr/>
        </p:nvSpPr>
        <p:spPr>
          <a:xfrm>
            <a:off x="9281160" y="5669280"/>
            <a:ext cx="2743200" cy="731520"/>
          </a:xfrm>
          <a:prstGeom prst="rect">
            <a:avLst/>
          </a:prstGeom>
          <a:solidFill>
            <a:srgbClr val="F4F7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4"/>
          <p:cNvSpPr/>
          <p:nvPr/>
        </p:nvSpPr>
        <p:spPr>
          <a:xfrm>
            <a:off x="9372600" y="5715000"/>
            <a:ext cx="256032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65A82"/>
              </a:buClr>
              <a:buSzPts val="1400"/>
              <a:buFont typeface="Georgia"/>
              <a:buNone/>
            </a:pPr>
            <a:r>
              <a:rPr lang="en-US" sz="1400" b="1">
                <a:solidFill>
                  <a:srgbClr val="065A82"/>
                </a:solidFill>
                <a:latin typeface="Georgia"/>
                <a:ea typeface="Georgia"/>
                <a:cs typeface="Georgia"/>
                <a:sym typeface="Georgia"/>
              </a:rPr>
              <a:t>95 %</a:t>
            </a:r>
            <a:endParaRPr sz="1400">
              <a:solidFill>
                <a:schemeClr val="dk1"/>
              </a:solidFill>
              <a:latin typeface="Calibri"/>
              <a:ea typeface="Calibri"/>
              <a:cs typeface="Calibri"/>
              <a:sym typeface="Calibri"/>
            </a:endParaRPr>
          </a:p>
        </p:txBody>
      </p:sp>
      <p:sp>
        <p:nvSpPr>
          <p:cNvPr id="431" name="Google Shape;431;p14"/>
          <p:cNvSpPr/>
          <p:nvPr/>
        </p:nvSpPr>
        <p:spPr>
          <a:xfrm>
            <a:off x="9372600" y="6080760"/>
            <a:ext cx="25602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000"/>
              <a:buFont typeface="Calibri"/>
              <a:buNone/>
            </a:pPr>
            <a:r>
              <a:rPr lang="en-US" sz="1000" i="1">
                <a:solidFill>
                  <a:srgbClr val="434343"/>
                </a:solidFill>
                <a:latin typeface="Calibri"/>
                <a:ea typeface="Calibri"/>
                <a:cs typeface="Calibri"/>
                <a:sym typeface="Calibri"/>
              </a:rPr>
              <a:t>|erreur| ≤ 10 ans</a:t>
            </a:r>
            <a:endParaRPr sz="1000">
              <a:solidFill>
                <a:srgbClr val="434343"/>
              </a:solidFill>
              <a:latin typeface="Calibri"/>
              <a:ea typeface="Calibri"/>
              <a:cs typeface="Calibri"/>
              <a:sym typeface="Calibri"/>
            </a:endParaRPr>
          </a:p>
        </p:txBody>
      </p:sp>
      <p:pic>
        <p:nvPicPr>
          <p:cNvPr id="432" name="Google Shape;432;p14" title="output5 - Copie - Copie.png"/>
          <p:cNvPicPr preferRelativeResize="0"/>
          <p:nvPr/>
        </p:nvPicPr>
        <p:blipFill>
          <a:blip r:embed="rId3">
            <a:alphaModFix/>
          </a:blip>
          <a:stretch>
            <a:fillRect/>
          </a:stretch>
        </p:blipFill>
        <p:spPr>
          <a:xfrm>
            <a:off x="152400" y="1280050"/>
            <a:ext cx="11887200" cy="42326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37"/>
        <p:cNvGrpSpPr/>
        <p:nvPr/>
      </p:nvGrpSpPr>
      <p:grpSpPr>
        <a:xfrm>
          <a:off x="0" y="0"/>
          <a:ext cx="0" cy="0"/>
          <a:chOff x="0" y="0"/>
          <a:chExt cx="0" cy="0"/>
        </a:xfrm>
      </p:grpSpPr>
      <p:sp>
        <p:nvSpPr>
          <p:cNvPr id="438" name="Google Shape;438;p15"/>
          <p:cNvSpPr/>
          <p:nvPr/>
        </p:nvSpPr>
        <p:spPr>
          <a:xfrm>
            <a:off x="457200" y="228600"/>
            <a:ext cx="91440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PARTIE VI · ROBUSTESSE</a:t>
            </a:r>
            <a:endParaRPr sz="1100">
              <a:solidFill>
                <a:schemeClr val="dk1"/>
              </a:solidFill>
              <a:latin typeface="Calibri"/>
              <a:ea typeface="Calibri"/>
              <a:cs typeface="Calibri"/>
              <a:sym typeface="Calibri"/>
            </a:endParaRPr>
          </a:p>
        </p:txBody>
      </p:sp>
      <p:sp>
        <p:nvSpPr>
          <p:cNvPr id="439" name="Google Shape;439;p15"/>
          <p:cNvSpPr/>
          <p:nvPr/>
        </p:nvSpPr>
        <p:spPr>
          <a:xfrm>
            <a:off x="10972800" y="228600"/>
            <a:ext cx="914400" cy="32004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14 / 16</a:t>
            </a:r>
            <a:endParaRPr sz="1000">
              <a:solidFill>
                <a:schemeClr val="dk1"/>
              </a:solidFill>
              <a:latin typeface="Calibri"/>
              <a:ea typeface="Calibri"/>
              <a:cs typeface="Calibri"/>
              <a:sym typeface="Calibri"/>
            </a:endParaRPr>
          </a:p>
        </p:txBody>
      </p:sp>
      <p:sp>
        <p:nvSpPr>
          <p:cNvPr id="440" name="Google Shape;440;p15"/>
          <p:cNvSpPr/>
          <p:nvPr/>
        </p:nvSpPr>
        <p:spPr>
          <a:xfrm>
            <a:off x="457200" y="502920"/>
            <a:ext cx="1124712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3000"/>
              <a:buFont typeface="Georgia"/>
              <a:buNone/>
            </a:pPr>
            <a:r>
              <a:rPr lang="en-US" sz="3000" b="1">
                <a:solidFill>
                  <a:srgbClr val="21295C"/>
                </a:solidFill>
                <a:latin typeface="Georgia"/>
                <a:ea typeface="Georgia"/>
                <a:cs typeface="Georgia"/>
                <a:sym typeface="Georgia"/>
              </a:rPr>
              <a:t>Robustesse aux CpG manquants : Ridge vs XGBoost</a:t>
            </a:r>
            <a:endParaRPr sz="3000">
              <a:solidFill>
                <a:schemeClr val="dk1"/>
              </a:solidFill>
              <a:latin typeface="Calibri"/>
              <a:ea typeface="Calibri"/>
              <a:cs typeface="Calibri"/>
              <a:sym typeface="Calibri"/>
            </a:endParaRPr>
          </a:p>
        </p:txBody>
      </p:sp>
      <p:sp>
        <p:nvSpPr>
          <p:cNvPr id="441" name="Google Shape;441;p15"/>
          <p:cNvSpPr/>
          <p:nvPr/>
        </p:nvSpPr>
        <p:spPr>
          <a:xfrm>
            <a:off x="457200" y="6537960"/>
            <a:ext cx="1124712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Prédiction âge biologique · Méthylation ADN · Master UCA 2025-2026</a:t>
            </a:r>
            <a:endParaRPr sz="900">
              <a:solidFill>
                <a:schemeClr val="dk1"/>
              </a:solidFill>
              <a:latin typeface="Calibri"/>
              <a:ea typeface="Calibri"/>
              <a:cs typeface="Calibri"/>
              <a:sym typeface="Calibri"/>
            </a:endParaRPr>
          </a:p>
        </p:txBody>
      </p:sp>
      <p:sp>
        <p:nvSpPr>
          <p:cNvPr id="442" name="Google Shape;442;p15"/>
          <p:cNvSpPr/>
          <p:nvPr/>
        </p:nvSpPr>
        <p:spPr>
          <a:xfrm>
            <a:off x="640080" y="1325880"/>
            <a:ext cx="109728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200"/>
              <a:buFont typeface="Calibri"/>
              <a:buNone/>
            </a:pPr>
            <a:r>
              <a:rPr lang="en-US" sz="1200" i="1">
                <a:solidFill>
                  <a:srgbClr val="64748B"/>
                </a:solidFill>
                <a:latin typeface="Calibri"/>
                <a:ea typeface="Calibri"/>
                <a:cs typeface="Calibri"/>
                <a:sym typeface="Calibri"/>
              </a:rPr>
              <a:t>Dégradation aléatoire du Test à 0 %, 20 %, 50 %, 90 % de CpG manquants</a:t>
            </a:r>
            <a:endParaRPr sz="1200">
              <a:solidFill>
                <a:schemeClr val="dk1"/>
              </a:solidFill>
              <a:latin typeface="Calibri"/>
              <a:ea typeface="Calibri"/>
              <a:cs typeface="Calibri"/>
              <a:sym typeface="Calibri"/>
            </a:endParaRPr>
          </a:p>
        </p:txBody>
      </p:sp>
      <p:graphicFrame>
        <p:nvGraphicFramePr>
          <p:cNvPr id="443" name="Google Shape;443;p15"/>
          <p:cNvGraphicFramePr/>
          <p:nvPr/>
        </p:nvGraphicFramePr>
        <p:xfrm>
          <a:off x="640080" y="1828800"/>
          <a:ext cx="777240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444" name="Google Shape;444;p15"/>
          <p:cNvSpPr/>
          <p:nvPr/>
        </p:nvSpPr>
        <p:spPr>
          <a:xfrm>
            <a:off x="8686800" y="1828800"/>
            <a:ext cx="329184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65A82"/>
              </a:buClr>
              <a:buSzPts val="1600"/>
              <a:buFont typeface="Georgia"/>
              <a:buNone/>
            </a:pPr>
            <a:r>
              <a:rPr lang="en-US" sz="1600" b="1">
                <a:solidFill>
                  <a:srgbClr val="065A82"/>
                </a:solidFill>
                <a:latin typeface="Georgia"/>
                <a:ea typeface="Georgia"/>
                <a:cs typeface="Georgia"/>
                <a:sym typeface="Georgia"/>
              </a:rPr>
              <a:t>Ce que l'on observe</a:t>
            </a:r>
            <a:endParaRPr sz="1600">
              <a:solidFill>
                <a:schemeClr val="dk1"/>
              </a:solidFill>
              <a:latin typeface="Calibri"/>
              <a:ea typeface="Calibri"/>
              <a:cs typeface="Calibri"/>
              <a:sym typeface="Calibri"/>
            </a:endParaRPr>
          </a:p>
        </p:txBody>
      </p:sp>
      <p:sp>
        <p:nvSpPr>
          <p:cNvPr id="445" name="Google Shape;445;p15"/>
          <p:cNvSpPr/>
          <p:nvPr/>
        </p:nvSpPr>
        <p:spPr>
          <a:xfrm>
            <a:off x="8686800" y="2286000"/>
            <a:ext cx="73152" cy="1097280"/>
          </a:xfrm>
          <a:prstGeom prst="rect">
            <a:avLst/>
          </a:prstGeom>
          <a:solidFill>
            <a:srgbClr val="F2B7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5"/>
          <p:cNvSpPr/>
          <p:nvPr/>
        </p:nvSpPr>
        <p:spPr>
          <a:xfrm>
            <a:off x="8869680" y="2286000"/>
            <a:ext cx="310896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200"/>
              <a:buFont typeface="Calibri"/>
              <a:buNone/>
            </a:pPr>
            <a:r>
              <a:rPr lang="en-US" sz="1200" b="1">
                <a:solidFill>
                  <a:srgbClr val="21295C"/>
                </a:solidFill>
                <a:latin typeface="Calibri"/>
                <a:ea typeface="Calibri"/>
                <a:cs typeface="Calibri"/>
                <a:sym typeface="Calibri"/>
              </a:rPr>
              <a:t>Ridge résiste mieux</a:t>
            </a:r>
            <a:endParaRPr sz="1200">
              <a:solidFill>
                <a:schemeClr val="dk1"/>
              </a:solidFill>
              <a:latin typeface="Calibri"/>
              <a:ea typeface="Calibri"/>
              <a:cs typeface="Calibri"/>
              <a:sym typeface="Calibri"/>
            </a:endParaRPr>
          </a:p>
        </p:txBody>
      </p:sp>
      <p:sp>
        <p:nvSpPr>
          <p:cNvPr id="447" name="Google Shape;447;p15"/>
          <p:cNvSpPr/>
          <p:nvPr/>
        </p:nvSpPr>
        <p:spPr>
          <a:xfrm>
            <a:off x="8869680" y="2587752"/>
            <a:ext cx="310896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50"/>
              <a:buFont typeface="Calibri"/>
              <a:buNone/>
            </a:pPr>
            <a:r>
              <a:rPr lang="en-US" sz="1050">
                <a:solidFill>
                  <a:srgbClr val="1E293B"/>
                </a:solidFill>
                <a:latin typeface="Calibri"/>
                <a:ea typeface="Calibri"/>
                <a:cs typeface="Calibri"/>
                <a:sym typeface="Calibri"/>
              </a:rPr>
              <a:t>Imputation médiane + régularisation amortissent la perte d'information.</a:t>
            </a:r>
            <a:endParaRPr sz="1050">
              <a:solidFill>
                <a:schemeClr val="dk1"/>
              </a:solidFill>
              <a:latin typeface="Calibri"/>
              <a:ea typeface="Calibri"/>
              <a:cs typeface="Calibri"/>
              <a:sym typeface="Calibri"/>
            </a:endParaRPr>
          </a:p>
        </p:txBody>
      </p:sp>
      <p:sp>
        <p:nvSpPr>
          <p:cNvPr id="448" name="Google Shape;448;p15"/>
          <p:cNvSpPr/>
          <p:nvPr/>
        </p:nvSpPr>
        <p:spPr>
          <a:xfrm>
            <a:off x="8686800" y="3520440"/>
            <a:ext cx="73152" cy="1097280"/>
          </a:xfrm>
          <a:prstGeom prst="rect">
            <a:avLst/>
          </a:prstGeom>
          <a:solidFill>
            <a:srgbClr val="F2B7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5"/>
          <p:cNvSpPr/>
          <p:nvPr/>
        </p:nvSpPr>
        <p:spPr>
          <a:xfrm>
            <a:off x="8869680" y="3520440"/>
            <a:ext cx="310896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200"/>
              <a:buFont typeface="Calibri"/>
              <a:buNone/>
            </a:pPr>
            <a:r>
              <a:rPr lang="en-US" sz="1200" b="1">
                <a:solidFill>
                  <a:srgbClr val="21295C"/>
                </a:solidFill>
                <a:latin typeface="Calibri"/>
                <a:ea typeface="Calibri"/>
                <a:cs typeface="Calibri"/>
                <a:sym typeface="Calibri"/>
              </a:rPr>
              <a:t>À 90 % perdus</a:t>
            </a:r>
            <a:endParaRPr sz="1200">
              <a:solidFill>
                <a:schemeClr val="dk1"/>
              </a:solidFill>
              <a:latin typeface="Calibri"/>
              <a:ea typeface="Calibri"/>
              <a:cs typeface="Calibri"/>
              <a:sym typeface="Calibri"/>
            </a:endParaRPr>
          </a:p>
        </p:txBody>
      </p:sp>
      <p:sp>
        <p:nvSpPr>
          <p:cNvPr id="450" name="Google Shape;450;p15"/>
          <p:cNvSpPr/>
          <p:nvPr/>
        </p:nvSpPr>
        <p:spPr>
          <a:xfrm>
            <a:off x="8869680" y="3822192"/>
            <a:ext cx="310896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50"/>
              <a:buFont typeface="Calibri"/>
              <a:buNone/>
            </a:pPr>
            <a:r>
              <a:rPr lang="en-US" sz="1050">
                <a:solidFill>
                  <a:srgbClr val="1E293B"/>
                </a:solidFill>
                <a:latin typeface="Calibri"/>
                <a:ea typeface="Calibri"/>
                <a:cs typeface="Calibri"/>
                <a:sym typeface="Calibri"/>
              </a:rPr>
              <a:t>Ridge ≈ 16 ans · XGBoost ≈ 21 ans — écart de 5 ans.</a:t>
            </a:r>
            <a:endParaRPr sz="1050">
              <a:solidFill>
                <a:schemeClr val="dk1"/>
              </a:solidFill>
              <a:latin typeface="Calibri"/>
              <a:ea typeface="Calibri"/>
              <a:cs typeface="Calibri"/>
              <a:sym typeface="Calibri"/>
            </a:endParaRPr>
          </a:p>
        </p:txBody>
      </p:sp>
      <p:sp>
        <p:nvSpPr>
          <p:cNvPr id="451" name="Google Shape;451;p15"/>
          <p:cNvSpPr/>
          <p:nvPr/>
        </p:nvSpPr>
        <p:spPr>
          <a:xfrm>
            <a:off x="8686800" y="4754880"/>
            <a:ext cx="73152" cy="1097280"/>
          </a:xfrm>
          <a:prstGeom prst="rect">
            <a:avLst/>
          </a:prstGeom>
          <a:solidFill>
            <a:srgbClr val="F2B7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5"/>
          <p:cNvSpPr/>
          <p:nvPr/>
        </p:nvSpPr>
        <p:spPr>
          <a:xfrm>
            <a:off x="8869680" y="4754880"/>
            <a:ext cx="310896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200"/>
              <a:buFont typeface="Calibri"/>
              <a:buNone/>
            </a:pPr>
            <a:r>
              <a:rPr lang="en-US" sz="1200" b="1">
                <a:solidFill>
                  <a:srgbClr val="21295C"/>
                </a:solidFill>
                <a:latin typeface="Calibri"/>
                <a:ea typeface="Calibri"/>
                <a:cs typeface="Calibri"/>
                <a:sym typeface="Calibri"/>
              </a:rPr>
              <a:t>Usage clinique</a:t>
            </a:r>
            <a:endParaRPr sz="1200">
              <a:solidFill>
                <a:schemeClr val="dk1"/>
              </a:solidFill>
              <a:latin typeface="Calibri"/>
              <a:ea typeface="Calibri"/>
              <a:cs typeface="Calibri"/>
              <a:sym typeface="Calibri"/>
            </a:endParaRPr>
          </a:p>
        </p:txBody>
      </p:sp>
      <p:sp>
        <p:nvSpPr>
          <p:cNvPr id="453" name="Google Shape;453;p15"/>
          <p:cNvSpPr/>
          <p:nvPr/>
        </p:nvSpPr>
        <p:spPr>
          <a:xfrm>
            <a:off x="8869680" y="5056632"/>
            <a:ext cx="310896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1050"/>
              <a:buFont typeface="Calibri"/>
              <a:buNone/>
            </a:pPr>
            <a:r>
              <a:rPr lang="en-US" sz="1050">
                <a:solidFill>
                  <a:srgbClr val="1E293B"/>
                </a:solidFill>
                <a:latin typeface="Calibri"/>
                <a:ea typeface="Calibri"/>
                <a:cs typeface="Calibri"/>
                <a:sym typeface="Calibri"/>
              </a:rPr>
              <a:t>Modèle linéaire parcimonieux (Ridge/LASSO) = solution de référence.</a:t>
            </a:r>
            <a:endParaRPr sz="105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58"/>
        <p:cNvGrpSpPr/>
        <p:nvPr/>
      </p:nvGrpSpPr>
      <p:grpSpPr>
        <a:xfrm>
          <a:off x="0" y="0"/>
          <a:ext cx="0" cy="0"/>
          <a:chOff x="0" y="0"/>
          <a:chExt cx="0" cy="0"/>
        </a:xfrm>
      </p:grpSpPr>
      <p:sp>
        <p:nvSpPr>
          <p:cNvPr id="459" name="Google Shape;459;g3d90502f107_0_111"/>
          <p:cNvSpPr/>
          <p:nvPr/>
        </p:nvSpPr>
        <p:spPr>
          <a:xfrm>
            <a:off x="457200" y="228600"/>
            <a:ext cx="91440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PARTIE VI · ROBUSTESSE</a:t>
            </a:r>
            <a:endParaRPr sz="1100">
              <a:solidFill>
                <a:schemeClr val="dk1"/>
              </a:solidFill>
              <a:latin typeface="Calibri"/>
              <a:ea typeface="Calibri"/>
              <a:cs typeface="Calibri"/>
              <a:sym typeface="Calibri"/>
            </a:endParaRPr>
          </a:p>
        </p:txBody>
      </p:sp>
      <p:sp>
        <p:nvSpPr>
          <p:cNvPr id="460" name="Google Shape;460;g3d90502f107_0_111"/>
          <p:cNvSpPr/>
          <p:nvPr/>
        </p:nvSpPr>
        <p:spPr>
          <a:xfrm>
            <a:off x="10972800" y="228600"/>
            <a:ext cx="914400" cy="3201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14 / 16</a:t>
            </a:r>
            <a:endParaRPr sz="1000">
              <a:solidFill>
                <a:schemeClr val="dk1"/>
              </a:solidFill>
              <a:latin typeface="Calibri"/>
              <a:ea typeface="Calibri"/>
              <a:cs typeface="Calibri"/>
              <a:sym typeface="Calibri"/>
            </a:endParaRPr>
          </a:p>
        </p:txBody>
      </p:sp>
      <p:sp>
        <p:nvSpPr>
          <p:cNvPr id="461" name="Google Shape;461;g3d90502f107_0_111"/>
          <p:cNvSpPr/>
          <p:nvPr/>
        </p:nvSpPr>
        <p:spPr>
          <a:xfrm>
            <a:off x="457200" y="502920"/>
            <a:ext cx="11247000" cy="731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3000"/>
              <a:buFont typeface="Georgia"/>
              <a:buNone/>
            </a:pPr>
            <a:r>
              <a:rPr lang="en-US" sz="3000" b="1">
                <a:solidFill>
                  <a:srgbClr val="21295C"/>
                </a:solidFill>
                <a:latin typeface="Georgia"/>
                <a:ea typeface="Georgia"/>
                <a:cs typeface="Georgia"/>
                <a:sym typeface="Georgia"/>
              </a:rPr>
              <a:t>Robustesse aux CpG manquants : Ridge vs XGBoost</a:t>
            </a:r>
            <a:endParaRPr sz="3000">
              <a:solidFill>
                <a:schemeClr val="dk1"/>
              </a:solidFill>
              <a:latin typeface="Calibri"/>
              <a:ea typeface="Calibri"/>
              <a:cs typeface="Calibri"/>
              <a:sym typeface="Calibri"/>
            </a:endParaRPr>
          </a:p>
        </p:txBody>
      </p:sp>
      <p:sp>
        <p:nvSpPr>
          <p:cNvPr id="462" name="Google Shape;462;g3d90502f107_0_111"/>
          <p:cNvSpPr/>
          <p:nvPr/>
        </p:nvSpPr>
        <p:spPr>
          <a:xfrm>
            <a:off x="457200" y="6537960"/>
            <a:ext cx="112470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Prédiction âge biologique · Méthylation ADN · Master UCA 2025-2026</a:t>
            </a:r>
            <a:endParaRPr sz="900">
              <a:solidFill>
                <a:schemeClr val="dk1"/>
              </a:solidFill>
              <a:latin typeface="Calibri"/>
              <a:ea typeface="Calibri"/>
              <a:cs typeface="Calibri"/>
              <a:sym typeface="Calibri"/>
            </a:endParaRPr>
          </a:p>
        </p:txBody>
      </p:sp>
      <p:sp>
        <p:nvSpPr>
          <p:cNvPr id="463" name="Google Shape;463;g3d90502f107_0_111"/>
          <p:cNvSpPr/>
          <p:nvPr/>
        </p:nvSpPr>
        <p:spPr>
          <a:xfrm>
            <a:off x="731405" y="1173480"/>
            <a:ext cx="10972800" cy="320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1200"/>
              <a:buFont typeface="Calibri"/>
              <a:buNone/>
            </a:pPr>
            <a:r>
              <a:rPr lang="en-US" sz="1200" i="1">
                <a:solidFill>
                  <a:srgbClr val="64748B"/>
                </a:solidFill>
                <a:latin typeface="Calibri"/>
                <a:ea typeface="Calibri"/>
                <a:cs typeface="Calibri"/>
                <a:sym typeface="Calibri"/>
              </a:rPr>
              <a:t>Dégradation aléatoire du Test à 0 %, 20 %, 50 %, 90 % de CpG manquants</a:t>
            </a:r>
            <a:endParaRPr sz="1200">
              <a:solidFill>
                <a:schemeClr val="dk1"/>
              </a:solidFill>
              <a:latin typeface="Calibri"/>
              <a:ea typeface="Calibri"/>
              <a:cs typeface="Calibri"/>
              <a:sym typeface="Calibri"/>
            </a:endParaRPr>
          </a:p>
        </p:txBody>
      </p:sp>
      <p:pic>
        <p:nvPicPr>
          <p:cNvPr id="464" name="Google Shape;464;g3d90502f107_0_111" title="fig_robustesse_comparaison.png"/>
          <p:cNvPicPr preferRelativeResize="0"/>
          <p:nvPr/>
        </p:nvPicPr>
        <p:blipFill>
          <a:blip r:embed="rId3">
            <a:alphaModFix/>
          </a:blip>
          <a:stretch>
            <a:fillRect/>
          </a:stretch>
        </p:blipFill>
        <p:spPr>
          <a:xfrm>
            <a:off x="0" y="1645976"/>
            <a:ext cx="6319074" cy="4739574"/>
          </a:xfrm>
          <a:prstGeom prst="rect">
            <a:avLst/>
          </a:prstGeom>
          <a:noFill/>
          <a:ln>
            <a:noFill/>
          </a:ln>
        </p:spPr>
      </p:pic>
      <p:pic>
        <p:nvPicPr>
          <p:cNvPr id="465" name="Google Shape;465;g3d90502f107_0_111" title="fig_robustesse_stacking.png"/>
          <p:cNvPicPr preferRelativeResize="0"/>
          <p:nvPr/>
        </p:nvPicPr>
        <p:blipFill>
          <a:blip r:embed="rId4">
            <a:alphaModFix/>
          </a:blip>
          <a:stretch>
            <a:fillRect/>
          </a:stretch>
        </p:blipFill>
        <p:spPr>
          <a:xfrm>
            <a:off x="6319075" y="2027937"/>
            <a:ext cx="5542774" cy="390903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70"/>
        <p:cNvGrpSpPr/>
        <p:nvPr/>
      </p:nvGrpSpPr>
      <p:grpSpPr>
        <a:xfrm>
          <a:off x="0" y="0"/>
          <a:ext cx="0" cy="0"/>
          <a:chOff x="0" y="0"/>
          <a:chExt cx="0" cy="0"/>
        </a:xfrm>
      </p:grpSpPr>
      <p:sp>
        <p:nvSpPr>
          <p:cNvPr id="471" name="Google Shape;471;g3d90502f107_0_88"/>
          <p:cNvSpPr/>
          <p:nvPr/>
        </p:nvSpPr>
        <p:spPr>
          <a:xfrm>
            <a:off x="457200" y="228600"/>
            <a:ext cx="91440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PARTIE VI · ROBUSTESSE</a:t>
            </a:r>
            <a:endParaRPr sz="1100">
              <a:solidFill>
                <a:schemeClr val="dk1"/>
              </a:solidFill>
              <a:latin typeface="Calibri"/>
              <a:ea typeface="Calibri"/>
              <a:cs typeface="Calibri"/>
              <a:sym typeface="Calibri"/>
            </a:endParaRPr>
          </a:p>
        </p:txBody>
      </p:sp>
      <p:sp>
        <p:nvSpPr>
          <p:cNvPr id="472" name="Google Shape;472;g3d90502f107_0_88"/>
          <p:cNvSpPr/>
          <p:nvPr/>
        </p:nvSpPr>
        <p:spPr>
          <a:xfrm>
            <a:off x="10972800" y="228600"/>
            <a:ext cx="914400" cy="3201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14 / 16</a:t>
            </a:r>
            <a:endParaRPr sz="1000">
              <a:solidFill>
                <a:schemeClr val="dk1"/>
              </a:solidFill>
              <a:latin typeface="Calibri"/>
              <a:ea typeface="Calibri"/>
              <a:cs typeface="Calibri"/>
              <a:sym typeface="Calibri"/>
            </a:endParaRPr>
          </a:p>
        </p:txBody>
      </p:sp>
      <p:sp>
        <p:nvSpPr>
          <p:cNvPr id="473" name="Google Shape;473;g3d90502f107_0_88"/>
          <p:cNvSpPr/>
          <p:nvPr/>
        </p:nvSpPr>
        <p:spPr>
          <a:xfrm>
            <a:off x="457200" y="502920"/>
            <a:ext cx="11247000" cy="731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3000"/>
              <a:buFont typeface="Georgia"/>
              <a:buNone/>
            </a:pPr>
            <a:r>
              <a:rPr lang="en-US" sz="3000" b="1">
                <a:solidFill>
                  <a:srgbClr val="21295C"/>
                </a:solidFill>
                <a:latin typeface="Georgia"/>
                <a:ea typeface="Georgia"/>
                <a:cs typeface="Georgia"/>
                <a:sym typeface="Georgia"/>
              </a:rPr>
              <a:t>Robustesse aux CpG manquants : Ridge vs XGBoost</a:t>
            </a:r>
            <a:endParaRPr sz="3000">
              <a:solidFill>
                <a:schemeClr val="dk1"/>
              </a:solidFill>
              <a:latin typeface="Calibri"/>
              <a:ea typeface="Calibri"/>
              <a:cs typeface="Calibri"/>
              <a:sym typeface="Calibri"/>
            </a:endParaRPr>
          </a:p>
        </p:txBody>
      </p:sp>
      <p:sp>
        <p:nvSpPr>
          <p:cNvPr id="474" name="Google Shape;474;g3d90502f107_0_88"/>
          <p:cNvSpPr/>
          <p:nvPr/>
        </p:nvSpPr>
        <p:spPr>
          <a:xfrm>
            <a:off x="457200" y="6537960"/>
            <a:ext cx="112470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Prédiction âge biologique · Méthylation ADN · Master UCA 2025-2026</a:t>
            </a:r>
            <a:endParaRPr sz="900">
              <a:solidFill>
                <a:schemeClr val="dk1"/>
              </a:solidFill>
              <a:latin typeface="Calibri"/>
              <a:ea typeface="Calibri"/>
              <a:cs typeface="Calibri"/>
              <a:sym typeface="Calibri"/>
            </a:endParaRPr>
          </a:p>
        </p:txBody>
      </p:sp>
      <p:sp>
        <p:nvSpPr>
          <p:cNvPr id="475" name="Google Shape;475;g3d90502f107_0_88"/>
          <p:cNvSpPr/>
          <p:nvPr/>
        </p:nvSpPr>
        <p:spPr>
          <a:xfrm>
            <a:off x="640080" y="1325880"/>
            <a:ext cx="109728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200"/>
              <a:buFont typeface="Calibri"/>
              <a:buNone/>
            </a:pPr>
            <a:r>
              <a:rPr lang="en-US" sz="1200" i="1">
                <a:solidFill>
                  <a:srgbClr val="64748B"/>
                </a:solidFill>
                <a:latin typeface="Calibri"/>
                <a:ea typeface="Calibri"/>
                <a:cs typeface="Calibri"/>
                <a:sym typeface="Calibri"/>
              </a:rPr>
              <a:t>Dégradation aléatoire du Test à 0 %, 20 %, 50 %, 90 % de CpG manquants</a:t>
            </a:r>
            <a:endParaRPr sz="1200">
              <a:solidFill>
                <a:schemeClr val="dk1"/>
              </a:solidFill>
              <a:latin typeface="Calibri"/>
              <a:ea typeface="Calibri"/>
              <a:cs typeface="Calibri"/>
              <a:sym typeface="Calibri"/>
            </a:endParaRPr>
          </a:p>
        </p:txBody>
      </p:sp>
      <p:pic>
        <p:nvPicPr>
          <p:cNvPr id="476" name="Google Shape;476;g3d90502f107_0_88" title="Capture d’écran 2026-04-24 034146.png"/>
          <p:cNvPicPr preferRelativeResize="0"/>
          <p:nvPr/>
        </p:nvPicPr>
        <p:blipFill>
          <a:blip r:embed="rId3">
            <a:alphaModFix/>
          </a:blip>
          <a:stretch>
            <a:fillRect/>
          </a:stretch>
        </p:blipFill>
        <p:spPr>
          <a:xfrm>
            <a:off x="152400" y="1798375"/>
            <a:ext cx="5810250" cy="4216700"/>
          </a:xfrm>
          <a:prstGeom prst="rect">
            <a:avLst/>
          </a:prstGeom>
          <a:noFill/>
          <a:ln>
            <a:noFill/>
          </a:ln>
        </p:spPr>
      </p:pic>
      <p:pic>
        <p:nvPicPr>
          <p:cNvPr id="477" name="Google Shape;477;g3d90502f107_0_88" title="Capture d’écran 2026-04-24 034042.png"/>
          <p:cNvPicPr preferRelativeResize="0"/>
          <p:nvPr/>
        </p:nvPicPr>
        <p:blipFill>
          <a:blip r:embed="rId4">
            <a:alphaModFix/>
          </a:blip>
          <a:stretch>
            <a:fillRect/>
          </a:stretch>
        </p:blipFill>
        <p:spPr>
          <a:xfrm>
            <a:off x="6115050" y="1798375"/>
            <a:ext cx="5924550" cy="424651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2"/>
        <p:cNvGrpSpPr/>
        <p:nvPr/>
      </p:nvGrpSpPr>
      <p:grpSpPr>
        <a:xfrm>
          <a:off x="0" y="0"/>
          <a:ext cx="0" cy="0"/>
          <a:chOff x="0" y="0"/>
          <a:chExt cx="0" cy="0"/>
        </a:xfrm>
      </p:grpSpPr>
      <p:sp>
        <p:nvSpPr>
          <p:cNvPr id="483" name="Google Shape;483;g3dbedb9dc74_0_0"/>
          <p:cNvSpPr/>
          <p:nvPr/>
        </p:nvSpPr>
        <p:spPr>
          <a:xfrm>
            <a:off x="457200" y="228600"/>
            <a:ext cx="91440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PARTIE VI · ROBUSTESSE</a:t>
            </a:r>
            <a:endParaRPr sz="1100">
              <a:solidFill>
                <a:schemeClr val="dk1"/>
              </a:solidFill>
              <a:latin typeface="Calibri"/>
              <a:ea typeface="Calibri"/>
              <a:cs typeface="Calibri"/>
              <a:sym typeface="Calibri"/>
            </a:endParaRPr>
          </a:p>
        </p:txBody>
      </p:sp>
      <p:sp>
        <p:nvSpPr>
          <p:cNvPr id="484" name="Google Shape;484;g3dbedb9dc74_0_0"/>
          <p:cNvSpPr/>
          <p:nvPr/>
        </p:nvSpPr>
        <p:spPr>
          <a:xfrm>
            <a:off x="10972800" y="228600"/>
            <a:ext cx="914400" cy="3201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14 / 16</a:t>
            </a:r>
            <a:endParaRPr sz="1000">
              <a:solidFill>
                <a:schemeClr val="dk1"/>
              </a:solidFill>
              <a:latin typeface="Calibri"/>
              <a:ea typeface="Calibri"/>
              <a:cs typeface="Calibri"/>
              <a:sym typeface="Calibri"/>
            </a:endParaRPr>
          </a:p>
        </p:txBody>
      </p:sp>
      <p:sp>
        <p:nvSpPr>
          <p:cNvPr id="485" name="Google Shape;485;g3dbedb9dc74_0_0"/>
          <p:cNvSpPr/>
          <p:nvPr/>
        </p:nvSpPr>
        <p:spPr>
          <a:xfrm>
            <a:off x="457200" y="502920"/>
            <a:ext cx="11247000" cy="731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3000"/>
              <a:buFont typeface="Georgia"/>
              <a:buNone/>
            </a:pPr>
            <a:r>
              <a:rPr lang="en-US" sz="3000" b="1">
                <a:solidFill>
                  <a:srgbClr val="21295C"/>
                </a:solidFill>
                <a:latin typeface="Georgia"/>
                <a:ea typeface="Georgia"/>
                <a:cs typeface="Georgia"/>
                <a:sym typeface="Georgia"/>
              </a:rPr>
              <a:t>Robustesse aux CpG manquants : Stacking</a:t>
            </a:r>
            <a:endParaRPr sz="3000">
              <a:solidFill>
                <a:schemeClr val="dk1"/>
              </a:solidFill>
              <a:latin typeface="Calibri"/>
              <a:ea typeface="Calibri"/>
              <a:cs typeface="Calibri"/>
              <a:sym typeface="Calibri"/>
            </a:endParaRPr>
          </a:p>
        </p:txBody>
      </p:sp>
      <p:sp>
        <p:nvSpPr>
          <p:cNvPr id="486" name="Google Shape;486;g3dbedb9dc74_0_0"/>
          <p:cNvSpPr/>
          <p:nvPr/>
        </p:nvSpPr>
        <p:spPr>
          <a:xfrm>
            <a:off x="457200" y="6537960"/>
            <a:ext cx="112470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Prédiction âge biologique · Méthylation ADN · Master UCA 2025-2026</a:t>
            </a:r>
            <a:endParaRPr sz="900">
              <a:solidFill>
                <a:schemeClr val="dk1"/>
              </a:solidFill>
              <a:latin typeface="Calibri"/>
              <a:ea typeface="Calibri"/>
              <a:cs typeface="Calibri"/>
              <a:sym typeface="Calibri"/>
            </a:endParaRPr>
          </a:p>
        </p:txBody>
      </p:sp>
      <p:sp>
        <p:nvSpPr>
          <p:cNvPr id="487" name="Google Shape;487;g3dbedb9dc74_0_0"/>
          <p:cNvSpPr/>
          <p:nvPr/>
        </p:nvSpPr>
        <p:spPr>
          <a:xfrm>
            <a:off x="640080" y="1325880"/>
            <a:ext cx="109728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200"/>
              <a:buFont typeface="Calibri"/>
              <a:buNone/>
            </a:pPr>
            <a:r>
              <a:rPr lang="en-US" sz="1200" i="1">
                <a:solidFill>
                  <a:srgbClr val="64748B"/>
                </a:solidFill>
                <a:latin typeface="Calibri"/>
                <a:ea typeface="Calibri"/>
                <a:cs typeface="Calibri"/>
                <a:sym typeface="Calibri"/>
              </a:rPr>
              <a:t>Dégradation aléatoire du Test à 0 %, 20 %, 50 %, 90 % de CpG manquants</a:t>
            </a:r>
            <a:endParaRPr sz="1200">
              <a:solidFill>
                <a:schemeClr val="dk1"/>
              </a:solidFill>
              <a:latin typeface="Calibri"/>
              <a:ea typeface="Calibri"/>
              <a:cs typeface="Calibri"/>
              <a:sym typeface="Calibri"/>
            </a:endParaRPr>
          </a:p>
        </p:txBody>
      </p:sp>
      <p:pic>
        <p:nvPicPr>
          <p:cNvPr id="488" name="Google Shape;488;g3dbedb9dc74_0_0"/>
          <p:cNvPicPr preferRelativeResize="0"/>
          <p:nvPr/>
        </p:nvPicPr>
        <p:blipFill>
          <a:blip r:embed="rId3">
            <a:alphaModFix/>
          </a:blip>
          <a:stretch>
            <a:fillRect/>
          </a:stretch>
        </p:blipFill>
        <p:spPr>
          <a:xfrm>
            <a:off x="234100" y="1645975"/>
            <a:ext cx="11470100" cy="46954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3"/>
        <p:cNvGrpSpPr/>
        <p:nvPr/>
      </p:nvGrpSpPr>
      <p:grpSpPr>
        <a:xfrm>
          <a:off x="0" y="0"/>
          <a:ext cx="0" cy="0"/>
          <a:chOff x="0" y="0"/>
          <a:chExt cx="0" cy="0"/>
        </a:xfrm>
      </p:grpSpPr>
      <p:sp>
        <p:nvSpPr>
          <p:cNvPr id="494" name="Google Shape;494;g3dbedb9dc74_0_13"/>
          <p:cNvSpPr/>
          <p:nvPr/>
        </p:nvSpPr>
        <p:spPr>
          <a:xfrm>
            <a:off x="457200" y="228600"/>
            <a:ext cx="91440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PARTIE VI · ROBUSTESSE</a:t>
            </a:r>
            <a:endParaRPr sz="1100">
              <a:solidFill>
                <a:schemeClr val="dk1"/>
              </a:solidFill>
              <a:latin typeface="Calibri"/>
              <a:ea typeface="Calibri"/>
              <a:cs typeface="Calibri"/>
              <a:sym typeface="Calibri"/>
            </a:endParaRPr>
          </a:p>
        </p:txBody>
      </p:sp>
      <p:sp>
        <p:nvSpPr>
          <p:cNvPr id="495" name="Google Shape;495;g3dbedb9dc74_0_13"/>
          <p:cNvSpPr/>
          <p:nvPr/>
        </p:nvSpPr>
        <p:spPr>
          <a:xfrm>
            <a:off x="10972800" y="228600"/>
            <a:ext cx="914400" cy="3201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14 / 16</a:t>
            </a:r>
            <a:endParaRPr sz="1000">
              <a:solidFill>
                <a:schemeClr val="dk1"/>
              </a:solidFill>
              <a:latin typeface="Calibri"/>
              <a:ea typeface="Calibri"/>
              <a:cs typeface="Calibri"/>
              <a:sym typeface="Calibri"/>
            </a:endParaRPr>
          </a:p>
        </p:txBody>
      </p:sp>
      <p:sp>
        <p:nvSpPr>
          <p:cNvPr id="496" name="Google Shape;496;g3dbedb9dc74_0_13"/>
          <p:cNvSpPr/>
          <p:nvPr/>
        </p:nvSpPr>
        <p:spPr>
          <a:xfrm>
            <a:off x="457200" y="502925"/>
            <a:ext cx="11124300" cy="731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3000"/>
              <a:buFont typeface="Georgia"/>
              <a:buNone/>
            </a:pPr>
            <a:r>
              <a:rPr lang="en-US" sz="3000" b="1">
                <a:solidFill>
                  <a:srgbClr val="21295C"/>
                </a:solidFill>
                <a:latin typeface="Georgia"/>
                <a:ea typeface="Georgia"/>
                <a:cs typeface="Georgia"/>
                <a:sym typeface="Georgia"/>
              </a:rPr>
              <a:t>Robustesse : Stacking vs Ridge vs XGboost</a:t>
            </a:r>
            <a:endParaRPr sz="3000">
              <a:solidFill>
                <a:schemeClr val="dk1"/>
              </a:solidFill>
              <a:latin typeface="Calibri"/>
              <a:ea typeface="Calibri"/>
              <a:cs typeface="Calibri"/>
              <a:sym typeface="Calibri"/>
            </a:endParaRPr>
          </a:p>
        </p:txBody>
      </p:sp>
      <p:sp>
        <p:nvSpPr>
          <p:cNvPr id="497" name="Google Shape;497;g3dbedb9dc74_0_13"/>
          <p:cNvSpPr/>
          <p:nvPr/>
        </p:nvSpPr>
        <p:spPr>
          <a:xfrm>
            <a:off x="457200" y="6537960"/>
            <a:ext cx="112470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Prédiction âge biologique · Méthylation ADN · Master UCA 2025-2026</a:t>
            </a:r>
            <a:endParaRPr sz="900">
              <a:solidFill>
                <a:schemeClr val="dk1"/>
              </a:solidFill>
              <a:latin typeface="Calibri"/>
              <a:ea typeface="Calibri"/>
              <a:cs typeface="Calibri"/>
              <a:sym typeface="Calibri"/>
            </a:endParaRPr>
          </a:p>
        </p:txBody>
      </p:sp>
      <p:sp>
        <p:nvSpPr>
          <p:cNvPr id="498" name="Google Shape;498;g3dbedb9dc74_0_13"/>
          <p:cNvSpPr/>
          <p:nvPr/>
        </p:nvSpPr>
        <p:spPr>
          <a:xfrm>
            <a:off x="640080" y="1325880"/>
            <a:ext cx="109728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200"/>
              <a:buFont typeface="Calibri"/>
              <a:buNone/>
            </a:pPr>
            <a:r>
              <a:rPr lang="en-US" sz="1200" i="1">
                <a:solidFill>
                  <a:srgbClr val="64748B"/>
                </a:solidFill>
                <a:latin typeface="Calibri"/>
                <a:ea typeface="Calibri"/>
                <a:cs typeface="Calibri"/>
                <a:sym typeface="Calibri"/>
              </a:rPr>
              <a:t>Dégradation aléatoire du Test à 0 %, 20 %, 50 %, 90 % de CpG manquants</a:t>
            </a:r>
            <a:endParaRPr sz="1200">
              <a:solidFill>
                <a:schemeClr val="dk1"/>
              </a:solidFill>
              <a:latin typeface="Calibri"/>
              <a:ea typeface="Calibri"/>
              <a:cs typeface="Calibri"/>
              <a:sym typeface="Calibri"/>
            </a:endParaRPr>
          </a:p>
        </p:txBody>
      </p:sp>
      <p:pic>
        <p:nvPicPr>
          <p:cNvPr id="499" name="Google Shape;499;g3dbedb9dc74_0_13"/>
          <p:cNvPicPr preferRelativeResize="0"/>
          <p:nvPr/>
        </p:nvPicPr>
        <p:blipFill>
          <a:blip r:embed="rId3">
            <a:alphaModFix/>
          </a:blip>
          <a:stretch>
            <a:fillRect/>
          </a:stretch>
        </p:blipFill>
        <p:spPr>
          <a:xfrm>
            <a:off x="457200" y="1645975"/>
            <a:ext cx="11429999" cy="47713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4"/>
        <p:cNvGrpSpPr/>
        <p:nvPr/>
      </p:nvGrpSpPr>
      <p:grpSpPr>
        <a:xfrm>
          <a:off x="0" y="0"/>
          <a:ext cx="0" cy="0"/>
          <a:chOff x="0" y="0"/>
          <a:chExt cx="0" cy="0"/>
        </a:xfrm>
      </p:grpSpPr>
      <p:sp>
        <p:nvSpPr>
          <p:cNvPr id="505" name="Google Shape;505;g3dbedb9dc74_0_25"/>
          <p:cNvSpPr/>
          <p:nvPr/>
        </p:nvSpPr>
        <p:spPr>
          <a:xfrm>
            <a:off x="457200" y="228600"/>
            <a:ext cx="91440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PARTIE VI · ROBUSTESSE</a:t>
            </a:r>
            <a:endParaRPr sz="1100">
              <a:solidFill>
                <a:schemeClr val="dk1"/>
              </a:solidFill>
              <a:latin typeface="Calibri"/>
              <a:ea typeface="Calibri"/>
              <a:cs typeface="Calibri"/>
              <a:sym typeface="Calibri"/>
            </a:endParaRPr>
          </a:p>
        </p:txBody>
      </p:sp>
      <p:sp>
        <p:nvSpPr>
          <p:cNvPr id="506" name="Google Shape;506;g3dbedb9dc74_0_25"/>
          <p:cNvSpPr/>
          <p:nvPr/>
        </p:nvSpPr>
        <p:spPr>
          <a:xfrm>
            <a:off x="10972800" y="228600"/>
            <a:ext cx="914400" cy="3201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14 / 16</a:t>
            </a:r>
            <a:endParaRPr sz="1000">
              <a:solidFill>
                <a:schemeClr val="dk1"/>
              </a:solidFill>
              <a:latin typeface="Calibri"/>
              <a:ea typeface="Calibri"/>
              <a:cs typeface="Calibri"/>
              <a:sym typeface="Calibri"/>
            </a:endParaRPr>
          </a:p>
        </p:txBody>
      </p:sp>
      <p:sp>
        <p:nvSpPr>
          <p:cNvPr id="507" name="Google Shape;507;g3dbedb9dc74_0_25"/>
          <p:cNvSpPr/>
          <p:nvPr/>
        </p:nvSpPr>
        <p:spPr>
          <a:xfrm>
            <a:off x="457200" y="502925"/>
            <a:ext cx="11124300" cy="731400"/>
          </a:xfrm>
          <a:prstGeom prst="rect">
            <a:avLst/>
          </a:prstGeom>
          <a:noFill/>
          <a:ln>
            <a:noFill/>
          </a:ln>
        </p:spPr>
        <p:txBody>
          <a:bodyPr spcFirstLastPara="1" wrap="square" lIns="0" tIns="0" rIns="0" bIns="0" anchor="ctr" anchorCtr="0">
            <a:noAutofit/>
          </a:bodyPr>
          <a:lstStyle/>
          <a:p>
            <a:pPr marL="0" lvl="0" indent="0" algn="l" rtl="0">
              <a:spcBef>
                <a:spcPts val="1400"/>
              </a:spcBef>
              <a:spcAft>
                <a:spcPts val="700"/>
              </a:spcAft>
              <a:buClr>
                <a:schemeClr val="dk1"/>
              </a:buClr>
              <a:buSzPts val="1100"/>
              <a:buFont typeface="Arial"/>
              <a:buNone/>
            </a:pPr>
            <a:r>
              <a:rPr lang="en-US" sz="3800" b="1">
                <a:solidFill>
                  <a:srgbClr val="21295C"/>
                </a:solidFill>
                <a:latin typeface="Times New Roman"/>
                <a:ea typeface="Times New Roman"/>
                <a:cs typeface="Times New Roman"/>
                <a:sym typeface="Times New Roman"/>
              </a:rPr>
              <a:t>Validation croisée 5-fold du Stacking</a:t>
            </a:r>
            <a:endParaRPr sz="4600">
              <a:solidFill>
                <a:srgbClr val="21295C"/>
              </a:solidFill>
              <a:latin typeface="Calibri"/>
              <a:ea typeface="Calibri"/>
              <a:cs typeface="Calibri"/>
              <a:sym typeface="Calibri"/>
            </a:endParaRPr>
          </a:p>
        </p:txBody>
      </p:sp>
      <p:sp>
        <p:nvSpPr>
          <p:cNvPr id="508" name="Google Shape;508;g3dbedb9dc74_0_25"/>
          <p:cNvSpPr/>
          <p:nvPr/>
        </p:nvSpPr>
        <p:spPr>
          <a:xfrm>
            <a:off x="457200" y="6537960"/>
            <a:ext cx="112470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Prédiction âge biologique · Méthylation ADN · Master UCA 2025-2026</a:t>
            </a:r>
            <a:endParaRPr sz="900">
              <a:solidFill>
                <a:schemeClr val="dk1"/>
              </a:solidFill>
              <a:latin typeface="Calibri"/>
              <a:ea typeface="Calibri"/>
              <a:cs typeface="Calibri"/>
              <a:sym typeface="Calibri"/>
            </a:endParaRPr>
          </a:p>
        </p:txBody>
      </p:sp>
      <p:sp>
        <p:nvSpPr>
          <p:cNvPr id="509" name="Google Shape;509;g3dbedb9dc74_0_25"/>
          <p:cNvSpPr/>
          <p:nvPr/>
        </p:nvSpPr>
        <p:spPr>
          <a:xfrm>
            <a:off x="640080" y="1325880"/>
            <a:ext cx="109728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200"/>
              <a:buFont typeface="Calibri"/>
              <a:buNone/>
            </a:pPr>
            <a:r>
              <a:rPr lang="en-US" sz="1200" i="1">
                <a:solidFill>
                  <a:srgbClr val="64748B"/>
                </a:solidFill>
                <a:latin typeface="Calibri"/>
                <a:ea typeface="Calibri"/>
                <a:cs typeface="Calibri"/>
                <a:sym typeface="Calibri"/>
              </a:rPr>
              <a:t>Dégradation aléatoire du Test à 0 %, 20 %, 50 %, 90 % de CpG manquants</a:t>
            </a:r>
            <a:endParaRPr sz="1200">
              <a:solidFill>
                <a:schemeClr val="dk1"/>
              </a:solidFill>
              <a:latin typeface="Calibri"/>
              <a:ea typeface="Calibri"/>
              <a:cs typeface="Calibri"/>
              <a:sym typeface="Calibri"/>
            </a:endParaRPr>
          </a:p>
        </p:txBody>
      </p:sp>
      <p:pic>
        <p:nvPicPr>
          <p:cNvPr id="510" name="Google Shape;510;g3dbedb9dc74_0_25"/>
          <p:cNvPicPr preferRelativeResize="0"/>
          <p:nvPr/>
        </p:nvPicPr>
        <p:blipFill>
          <a:blip r:embed="rId3">
            <a:alphaModFix/>
          </a:blip>
          <a:stretch>
            <a:fillRect/>
          </a:stretch>
        </p:blipFill>
        <p:spPr>
          <a:xfrm>
            <a:off x="640075" y="1840400"/>
            <a:ext cx="11347651" cy="44529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15"/>
        <p:cNvGrpSpPr/>
        <p:nvPr/>
      </p:nvGrpSpPr>
      <p:grpSpPr>
        <a:xfrm>
          <a:off x="0" y="0"/>
          <a:ext cx="0" cy="0"/>
          <a:chOff x="0" y="0"/>
          <a:chExt cx="0" cy="0"/>
        </a:xfrm>
      </p:grpSpPr>
      <p:sp>
        <p:nvSpPr>
          <p:cNvPr id="516" name="Google Shape;516;g3dbedb9dc74_0_37"/>
          <p:cNvSpPr/>
          <p:nvPr/>
        </p:nvSpPr>
        <p:spPr>
          <a:xfrm>
            <a:off x="457200" y="228600"/>
            <a:ext cx="91440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PARTIE VI · ROBUSTESSE</a:t>
            </a:r>
            <a:endParaRPr sz="1100">
              <a:solidFill>
                <a:schemeClr val="dk1"/>
              </a:solidFill>
              <a:latin typeface="Calibri"/>
              <a:ea typeface="Calibri"/>
              <a:cs typeface="Calibri"/>
              <a:sym typeface="Calibri"/>
            </a:endParaRPr>
          </a:p>
        </p:txBody>
      </p:sp>
      <p:sp>
        <p:nvSpPr>
          <p:cNvPr id="517" name="Google Shape;517;g3dbedb9dc74_0_37"/>
          <p:cNvSpPr/>
          <p:nvPr/>
        </p:nvSpPr>
        <p:spPr>
          <a:xfrm>
            <a:off x="10972800" y="228600"/>
            <a:ext cx="914400" cy="3201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14 / 16</a:t>
            </a:r>
            <a:endParaRPr sz="1000">
              <a:solidFill>
                <a:schemeClr val="dk1"/>
              </a:solidFill>
              <a:latin typeface="Calibri"/>
              <a:ea typeface="Calibri"/>
              <a:cs typeface="Calibri"/>
              <a:sym typeface="Calibri"/>
            </a:endParaRPr>
          </a:p>
        </p:txBody>
      </p:sp>
      <p:sp>
        <p:nvSpPr>
          <p:cNvPr id="518" name="Google Shape;518;g3dbedb9dc74_0_37"/>
          <p:cNvSpPr/>
          <p:nvPr/>
        </p:nvSpPr>
        <p:spPr>
          <a:xfrm>
            <a:off x="457200" y="502925"/>
            <a:ext cx="11124300" cy="731400"/>
          </a:xfrm>
          <a:prstGeom prst="rect">
            <a:avLst/>
          </a:prstGeom>
          <a:noFill/>
          <a:ln>
            <a:noFill/>
          </a:ln>
        </p:spPr>
        <p:txBody>
          <a:bodyPr spcFirstLastPara="1" wrap="square" lIns="0" tIns="0" rIns="0" bIns="0" anchor="ctr" anchorCtr="0">
            <a:noAutofit/>
          </a:bodyPr>
          <a:lstStyle/>
          <a:p>
            <a:pPr marL="0" lvl="0" indent="0" algn="l" rtl="0">
              <a:spcBef>
                <a:spcPts val="1400"/>
              </a:spcBef>
              <a:spcAft>
                <a:spcPts val="700"/>
              </a:spcAft>
              <a:buClr>
                <a:schemeClr val="dk1"/>
              </a:buClr>
              <a:buSzPts val="1100"/>
              <a:buFont typeface="Arial"/>
              <a:buNone/>
            </a:pPr>
            <a:r>
              <a:rPr lang="en-US" sz="3800" b="1">
                <a:solidFill>
                  <a:srgbClr val="21295C"/>
                </a:solidFill>
                <a:latin typeface="Times New Roman"/>
                <a:ea typeface="Times New Roman"/>
                <a:cs typeface="Times New Roman"/>
                <a:sym typeface="Times New Roman"/>
              </a:rPr>
              <a:t>Comparaison étendue avec la littérature</a:t>
            </a:r>
            <a:endParaRPr sz="7000">
              <a:solidFill>
                <a:srgbClr val="21295C"/>
              </a:solidFill>
              <a:latin typeface="Calibri"/>
              <a:ea typeface="Calibri"/>
              <a:cs typeface="Calibri"/>
              <a:sym typeface="Calibri"/>
            </a:endParaRPr>
          </a:p>
        </p:txBody>
      </p:sp>
      <p:sp>
        <p:nvSpPr>
          <p:cNvPr id="519" name="Google Shape;519;g3dbedb9dc74_0_37"/>
          <p:cNvSpPr/>
          <p:nvPr/>
        </p:nvSpPr>
        <p:spPr>
          <a:xfrm>
            <a:off x="457200" y="6537960"/>
            <a:ext cx="112470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Prédiction âge biologique · Méthylation ADN · Master UCA 2025-2026</a:t>
            </a:r>
            <a:endParaRPr sz="900">
              <a:solidFill>
                <a:schemeClr val="dk1"/>
              </a:solidFill>
              <a:latin typeface="Calibri"/>
              <a:ea typeface="Calibri"/>
              <a:cs typeface="Calibri"/>
              <a:sym typeface="Calibri"/>
            </a:endParaRPr>
          </a:p>
        </p:txBody>
      </p:sp>
      <p:sp>
        <p:nvSpPr>
          <p:cNvPr id="520" name="Google Shape;520;g3dbedb9dc74_0_37"/>
          <p:cNvSpPr/>
          <p:nvPr/>
        </p:nvSpPr>
        <p:spPr>
          <a:xfrm>
            <a:off x="640080" y="1325880"/>
            <a:ext cx="109728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200"/>
              <a:buFont typeface="Calibri"/>
              <a:buNone/>
            </a:pPr>
            <a:r>
              <a:rPr lang="en-US" sz="1200" i="1">
                <a:solidFill>
                  <a:srgbClr val="64748B"/>
                </a:solidFill>
                <a:latin typeface="Calibri"/>
                <a:ea typeface="Calibri"/>
                <a:cs typeface="Calibri"/>
                <a:sym typeface="Calibri"/>
              </a:rPr>
              <a:t>D</a:t>
            </a:r>
            <a:endParaRPr sz="1200">
              <a:solidFill>
                <a:schemeClr val="dk1"/>
              </a:solidFill>
              <a:latin typeface="Calibri"/>
              <a:ea typeface="Calibri"/>
              <a:cs typeface="Calibri"/>
              <a:sym typeface="Calibri"/>
            </a:endParaRPr>
          </a:p>
        </p:txBody>
      </p:sp>
      <p:graphicFrame>
        <p:nvGraphicFramePr>
          <p:cNvPr id="521" name="Google Shape;521;g3dbedb9dc74_0_37"/>
          <p:cNvGraphicFramePr/>
          <p:nvPr/>
        </p:nvGraphicFramePr>
        <p:xfrm>
          <a:off x="457200" y="1646000"/>
          <a:ext cx="11124300" cy="4622925"/>
        </p:xfrm>
        <a:graphic>
          <a:graphicData uri="http://schemas.openxmlformats.org/drawingml/2006/table">
            <a:tbl>
              <a:tblPr bandRow="1" bandCol="1">
                <a:noFill/>
                <a:tableStyleId>{7A391BEE-151E-4823-9188-C41C05F77F12}</a:tableStyleId>
              </a:tblPr>
              <a:tblGrid>
                <a:gridCol w="2614675">
                  <a:extLst>
                    <a:ext uri="{9D8B030D-6E8A-4147-A177-3AD203B41FA5}">
                      <a16:colId xmlns:a16="http://schemas.microsoft.com/office/drawing/2014/main" val="20000"/>
                    </a:ext>
                  </a:extLst>
                </a:gridCol>
                <a:gridCol w="2614675">
                  <a:extLst>
                    <a:ext uri="{9D8B030D-6E8A-4147-A177-3AD203B41FA5}">
                      <a16:colId xmlns:a16="http://schemas.microsoft.com/office/drawing/2014/main" val="20001"/>
                    </a:ext>
                  </a:extLst>
                </a:gridCol>
                <a:gridCol w="3803200">
                  <a:extLst>
                    <a:ext uri="{9D8B030D-6E8A-4147-A177-3AD203B41FA5}">
                      <a16:colId xmlns:a16="http://schemas.microsoft.com/office/drawing/2014/main" val="20002"/>
                    </a:ext>
                  </a:extLst>
                </a:gridCol>
                <a:gridCol w="2091750">
                  <a:extLst>
                    <a:ext uri="{9D8B030D-6E8A-4147-A177-3AD203B41FA5}">
                      <a16:colId xmlns:a16="http://schemas.microsoft.com/office/drawing/2014/main" val="20003"/>
                    </a:ext>
                  </a:extLst>
                </a:gridCol>
              </a:tblGrid>
              <a:tr h="998625">
                <a:tc>
                  <a:txBody>
                    <a:bodyPr/>
                    <a:lstStyle/>
                    <a:p>
                      <a:pPr marL="0" lvl="0" indent="0" algn="ctr" rtl="0">
                        <a:spcBef>
                          <a:spcPts val="0"/>
                        </a:spcBef>
                        <a:spcAft>
                          <a:spcPts val="0"/>
                        </a:spcAft>
                        <a:buNone/>
                      </a:pPr>
                      <a:r>
                        <a:rPr lang="en-US" sz="1100" b="1">
                          <a:solidFill>
                            <a:srgbClr val="1F4E79"/>
                          </a:solidFill>
                          <a:latin typeface="Times New Roman"/>
                          <a:ea typeface="Times New Roman"/>
                          <a:cs typeface="Times New Roman"/>
                          <a:sym typeface="Times New Roman"/>
                        </a:rPr>
                        <a:t>Horloge</a:t>
                      </a:r>
                      <a:endParaRPr sz="1100">
                        <a:latin typeface="Times New Roman"/>
                        <a:ea typeface="Times New Roman"/>
                        <a:cs typeface="Times New Roman"/>
                        <a:sym typeface="Times New Roman"/>
                      </a:endParaRPr>
                    </a:p>
                  </a:txBody>
                  <a:tcPr marL="88900" marR="88900" marT="63500" marB="63500" anchor="ctr">
                    <a:lnL w="6350" cap="flat" cmpd="sng">
                      <a:solidFill>
                        <a:srgbClr val="BFBFBF"/>
                      </a:solidFill>
                      <a:prstDash val="solid"/>
                      <a:round/>
                      <a:headEnd type="none" w="sm" len="sm"/>
                      <a:tailEnd type="none" w="sm" len="sm"/>
                    </a:lnL>
                    <a:lnR w="6350" cap="flat" cmpd="sng">
                      <a:solidFill>
                        <a:srgbClr val="BFBFBF"/>
                      </a:solidFill>
                      <a:prstDash val="solid"/>
                      <a:round/>
                      <a:headEnd type="none" w="sm" len="sm"/>
                      <a:tailEnd type="none" w="sm" len="sm"/>
                    </a:lnR>
                    <a:lnT w="6350" cap="flat" cmpd="sng">
                      <a:solidFill>
                        <a:srgbClr val="BFBFBF"/>
                      </a:solidFill>
                      <a:prstDash val="solid"/>
                      <a:round/>
                      <a:headEnd type="none" w="sm" len="sm"/>
                      <a:tailEnd type="none" w="sm" len="sm"/>
                    </a:lnT>
                    <a:lnB w="6350" cap="flat" cmpd="sng">
                      <a:solidFill>
                        <a:srgbClr val="BFBFBF"/>
                      </a:solidFill>
                      <a:prstDash val="solid"/>
                      <a:round/>
                      <a:headEnd type="none" w="sm" len="sm"/>
                      <a:tailEnd type="none" w="sm" len="sm"/>
                    </a:lnB>
                    <a:solidFill>
                      <a:srgbClr val="D5E8F0"/>
                    </a:solidFill>
                  </a:tcPr>
                </a:tc>
                <a:tc>
                  <a:txBody>
                    <a:bodyPr/>
                    <a:lstStyle/>
                    <a:p>
                      <a:pPr marL="0" lvl="0" indent="0" algn="ctr" rtl="0">
                        <a:spcBef>
                          <a:spcPts val="0"/>
                        </a:spcBef>
                        <a:spcAft>
                          <a:spcPts val="0"/>
                        </a:spcAft>
                        <a:buNone/>
                      </a:pPr>
                      <a:r>
                        <a:rPr lang="en-US" sz="1100" b="1">
                          <a:solidFill>
                            <a:srgbClr val="1F4E79"/>
                          </a:solidFill>
                          <a:latin typeface="Times New Roman"/>
                          <a:ea typeface="Times New Roman"/>
                          <a:cs typeface="Times New Roman"/>
                          <a:sym typeface="Times New Roman"/>
                        </a:rPr>
                        <a:t>Auteurs / Année</a:t>
                      </a:r>
                      <a:endParaRPr sz="1100">
                        <a:latin typeface="Times New Roman"/>
                        <a:ea typeface="Times New Roman"/>
                        <a:cs typeface="Times New Roman"/>
                        <a:sym typeface="Times New Roman"/>
                      </a:endParaRPr>
                    </a:p>
                  </a:txBody>
                  <a:tcPr marL="88900" marR="88900" marT="63500" marB="63500" anchor="ctr">
                    <a:lnL w="6350" cap="flat" cmpd="sng">
                      <a:solidFill>
                        <a:srgbClr val="BFBFBF"/>
                      </a:solidFill>
                      <a:prstDash val="solid"/>
                      <a:round/>
                      <a:headEnd type="none" w="sm" len="sm"/>
                      <a:tailEnd type="none" w="sm" len="sm"/>
                    </a:lnL>
                    <a:lnR w="6350" cap="flat" cmpd="sng">
                      <a:solidFill>
                        <a:srgbClr val="BFBFBF"/>
                      </a:solidFill>
                      <a:prstDash val="solid"/>
                      <a:round/>
                      <a:headEnd type="none" w="sm" len="sm"/>
                      <a:tailEnd type="none" w="sm" len="sm"/>
                    </a:lnR>
                    <a:lnT w="6350" cap="flat" cmpd="sng">
                      <a:solidFill>
                        <a:srgbClr val="BFBFBF"/>
                      </a:solidFill>
                      <a:prstDash val="solid"/>
                      <a:round/>
                      <a:headEnd type="none" w="sm" len="sm"/>
                      <a:tailEnd type="none" w="sm" len="sm"/>
                    </a:lnT>
                    <a:lnB w="6350" cap="flat" cmpd="sng">
                      <a:solidFill>
                        <a:srgbClr val="BFBFBF"/>
                      </a:solidFill>
                      <a:prstDash val="solid"/>
                      <a:round/>
                      <a:headEnd type="none" w="sm" len="sm"/>
                      <a:tailEnd type="none" w="sm" len="sm"/>
                    </a:lnB>
                    <a:solidFill>
                      <a:srgbClr val="D5E8F0"/>
                    </a:solidFill>
                  </a:tcPr>
                </a:tc>
                <a:tc>
                  <a:txBody>
                    <a:bodyPr/>
                    <a:lstStyle/>
                    <a:p>
                      <a:pPr marL="0" lvl="0" indent="0" algn="ctr" rtl="0">
                        <a:spcBef>
                          <a:spcPts val="0"/>
                        </a:spcBef>
                        <a:spcAft>
                          <a:spcPts val="0"/>
                        </a:spcAft>
                        <a:buNone/>
                      </a:pPr>
                      <a:r>
                        <a:rPr lang="en-US" sz="1100" b="1">
                          <a:solidFill>
                            <a:srgbClr val="1F4E79"/>
                          </a:solidFill>
                          <a:latin typeface="Times New Roman"/>
                          <a:ea typeface="Times New Roman"/>
                          <a:cs typeface="Times New Roman"/>
                          <a:sym typeface="Times New Roman"/>
                        </a:rPr>
                        <a:t>Données d’origine</a:t>
                      </a:r>
                      <a:endParaRPr sz="1100">
                        <a:latin typeface="Times New Roman"/>
                        <a:ea typeface="Times New Roman"/>
                        <a:cs typeface="Times New Roman"/>
                        <a:sym typeface="Times New Roman"/>
                      </a:endParaRPr>
                    </a:p>
                  </a:txBody>
                  <a:tcPr marL="88900" marR="88900" marT="63500" marB="63500" anchor="ctr">
                    <a:lnL w="6350" cap="flat" cmpd="sng">
                      <a:solidFill>
                        <a:srgbClr val="BFBFBF"/>
                      </a:solidFill>
                      <a:prstDash val="solid"/>
                      <a:round/>
                      <a:headEnd type="none" w="sm" len="sm"/>
                      <a:tailEnd type="none" w="sm" len="sm"/>
                    </a:lnL>
                    <a:lnR w="6350" cap="flat" cmpd="sng">
                      <a:solidFill>
                        <a:srgbClr val="BFBFBF"/>
                      </a:solidFill>
                      <a:prstDash val="solid"/>
                      <a:round/>
                      <a:headEnd type="none" w="sm" len="sm"/>
                      <a:tailEnd type="none" w="sm" len="sm"/>
                    </a:lnR>
                    <a:lnT w="6350" cap="flat" cmpd="sng">
                      <a:solidFill>
                        <a:srgbClr val="BFBFBF"/>
                      </a:solidFill>
                      <a:prstDash val="solid"/>
                      <a:round/>
                      <a:headEnd type="none" w="sm" len="sm"/>
                      <a:tailEnd type="none" w="sm" len="sm"/>
                    </a:lnT>
                    <a:lnB w="6350" cap="flat" cmpd="sng">
                      <a:solidFill>
                        <a:srgbClr val="BFBFBF"/>
                      </a:solidFill>
                      <a:prstDash val="solid"/>
                      <a:round/>
                      <a:headEnd type="none" w="sm" len="sm"/>
                      <a:tailEnd type="none" w="sm" len="sm"/>
                    </a:lnB>
                    <a:solidFill>
                      <a:srgbClr val="D5E8F0"/>
                    </a:solidFill>
                  </a:tcPr>
                </a:tc>
                <a:tc>
                  <a:txBody>
                    <a:bodyPr/>
                    <a:lstStyle/>
                    <a:p>
                      <a:pPr marL="0" lvl="0" indent="0" algn="ctr" rtl="0">
                        <a:spcBef>
                          <a:spcPts val="0"/>
                        </a:spcBef>
                        <a:spcAft>
                          <a:spcPts val="0"/>
                        </a:spcAft>
                        <a:buNone/>
                      </a:pPr>
                      <a:r>
                        <a:rPr lang="en-US" sz="1100" b="1">
                          <a:solidFill>
                            <a:srgbClr val="1F4E79"/>
                          </a:solidFill>
                          <a:latin typeface="Times New Roman"/>
                          <a:ea typeface="Times New Roman"/>
                          <a:cs typeface="Times New Roman"/>
                          <a:sym typeface="Times New Roman"/>
                        </a:rPr>
                        <a:t>MAE rapportée</a:t>
                      </a:r>
                      <a:endParaRPr sz="1100">
                        <a:latin typeface="Times New Roman"/>
                        <a:ea typeface="Times New Roman"/>
                        <a:cs typeface="Times New Roman"/>
                        <a:sym typeface="Times New Roman"/>
                      </a:endParaRPr>
                    </a:p>
                  </a:txBody>
                  <a:tcPr marL="88900" marR="88900" marT="63500" marB="63500" anchor="ctr">
                    <a:lnL w="6350" cap="flat" cmpd="sng">
                      <a:solidFill>
                        <a:srgbClr val="BFBFBF"/>
                      </a:solidFill>
                      <a:prstDash val="solid"/>
                      <a:round/>
                      <a:headEnd type="none" w="sm" len="sm"/>
                      <a:tailEnd type="none" w="sm" len="sm"/>
                    </a:lnL>
                    <a:lnR w="6350" cap="flat" cmpd="sng">
                      <a:solidFill>
                        <a:srgbClr val="BFBFBF"/>
                      </a:solidFill>
                      <a:prstDash val="solid"/>
                      <a:round/>
                      <a:headEnd type="none" w="sm" len="sm"/>
                      <a:tailEnd type="none" w="sm" len="sm"/>
                    </a:lnR>
                    <a:lnT w="6350" cap="flat" cmpd="sng">
                      <a:solidFill>
                        <a:srgbClr val="BFBFBF"/>
                      </a:solidFill>
                      <a:prstDash val="solid"/>
                      <a:round/>
                      <a:headEnd type="none" w="sm" len="sm"/>
                      <a:tailEnd type="none" w="sm" len="sm"/>
                    </a:lnT>
                    <a:lnB w="6350" cap="flat" cmpd="sng">
                      <a:solidFill>
                        <a:srgbClr val="BFBFBF"/>
                      </a:solidFill>
                      <a:prstDash val="solid"/>
                      <a:round/>
                      <a:headEnd type="none" w="sm" len="sm"/>
                      <a:tailEnd type="none" w="sm" len="sm"/>
                    </a:lnB>
                    <a:solidFill>
                      <a:srgbClr val="D5E8F0"/>
                    </a:solidFill>
                  </a:tcPr>
                </a:tc>
                <a:extLst>
                  <a:ext uri="{0D108BD9-81ED-4DB2-BD59-A6C34878D82A}">
                    <a16:rowId xmlns:a16="http://schemas.microsoft.com/office/drawing/2014/main" val="10000"/>
                  </a:ext>
                </a:extLst>
              </a:tr>
              <a:tr h="985125">
                <a:tc>
                  <a:txBody>
                    <a:bodyPr/>
                    <a:lstStyle/>
                    <a:p>
                      <a:pPr marL="0" lvl="0" indent="0" algn="l" rtl="0">
                        <a:spcBef>
                          <a:spcPts val="0"/>
                        </a:spcBef>
                        <a:spcAft>
                          <a:spcPts val="0"/>
                        </a:spcAft>
                        <a:buNone/>
                      </a:pPr>
                      <a:r>
                        <a:rPr lang="en-US" sz="1200">
                          <a:solidFill>
                            <a:srgbClr val="222222"/>
                          </a:solidFill>
                          <a:latin typeface="Times New Roman"/>
                          <a:ea typeface="Times New Roman"/>
                          <a:cs typeface="Times New Roman"/>
                          <a:sym typeface="Times New Roman"/>
                        </a:rPr>
                        <a:t>Horvath</a:t>
                      </a:r>
                      <a:endParaRPr sz="1200">
                        <a:latin typeface="Times New Roman"/>
                        <a:ea typeface="Times New Roman"/>
                        <a:cs typeface="Times New Roman"/>
                        <a:sym typeface="Times New Roman"/>
                      </a:endParaRPr>
                    </a:p>
                  </a:txBody>
                  <a:tcPr marL="88900" marR="88900" marT="50800" marB="50800" anchor="ctr">
                    <a:lnL w="6350" cap="flat" cmpd="sng">
                      <a:solidFill>
                        <a:srgbClr val="BFBFBF"/>
                      </a:solidFill>
                      <a:prstDash val="solid"/>
                      <a:round/>
                      <a:headEnd type="none" w="sm" len="sm"/>
                      <a:tailEnd type="none" w="sm" len="sm"/>
                    </a:lnL>
                    <a:lnR w="6350" cap="flat" cmpd="sng">
                      <a:solidFill>
                        <a:srgbClr val="BFBFBF"/>
                      </a:solidFill>
                      <a:prstDash val="solid"/>
                      <a:round/>
                      <a:headEnd type="none" w="sm" len="sm"/>
                      <a:tailEnd type="none" w="sm" len="sm"/>
                    </a:lnR>
                    <a:lnT w="6350" cap="flat" cmpd="sng">
                      <a:solidFill>
                        <a:srgbClr val="BFBFBF"/>
                      </a:solidFill>
                      <a:prstDash val="solid"/>
                      <a:round/>
                      <a:headEnd type="none" w="sm" len="sm"/>
                      <a:tailEnd type="none" w="sm" len="sm"/>
                    </a:lnT>
                    <a:lnB w="6350" cap="flat" cmpd="sng">
                      <a:solidFill>
                        <a:srgbClr val="BFBFBF"/>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US" sz="1200">
                          <a:solidFill>
                            <a:srgbClr val="222222"/>
                          </a:solidFill>
                          <a:latin typeface="Times New Roman"/>
                          <a:ea typeface="Times New Roman"/>
                          <a:cs typeface="Times New Roman"/>
                          <a:sym typeface="Times New Roman"/>
                        </a:rPr>
                        <a:t>Horvath S. (2013)</a:t>
                      </a:r>
                      <a:endParaRPr sz="1200">
                        <a:latin typeface="Times New Roman"/>
                        <a:ea typeface="Times New Roman"/>
                        <a:cs typeface="Times New Roman"/>
                        <a:sym typeface="Times New Roman"/>
                      </a:endParaRPr>
                    </a:p>
                  </a:txBody>
                  <a:tcPr marL="88900" marR="88900" marT="50800" marB="50800" anchor="ctr">
                    <a:lnL w="6350" cap="flat" cmpd="sng">
                      <a:solidFill>
                        <a:srgbClr val="BFBFBF"/>
                      </a:solidFill>
                      <a:prstDash val="solid"/>
                      <a:round/>
                      <a:headEnd type="none" w="sm" len="sm"/>
                      <a:tailEnd type="none" w="sm" len="sm"/>
                    </a:lnL>
                    <a:lnR w="6350" cap="flat" cmpd="sng">
                      <a:solidFill>
                        <a:srgbClr val="BFBFBF"/>
                      </a:solidFill>
                      <a:prstDash val="solid"/>
                      <a:round/>
                      <a:headEnd type="none" w="sm" len="sm"/>
                      <a:tailEnd type="none" w="sm" len="sm"/>
                    </a:lnR>
                    <a:lnT w="6350" cap="flat" cmpd="sng">
                      <a:solidFill>
                        <a:srgbClr val="BFBFBF"/>
                      </a:solidFill>
                      <a:prstDash val="solid"/>
                      <a:round/>
                      <a:headEnd type="none" w="sm" len="sm"/>
                      <a:tailEnd type="none" w="sm" len="sm"/>
                    </a:lnT>
                    <a:lnB w="6350" cap="flat" cmpd="sng">
                      <a:solidFill>
                        <a:srgbClr val="BFBFBF"/>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US" sz="1200">
                          <a:solidFill>
                            <a:srgbClr val="222222"/>
                          </a:solidFill>
                          <a:latin typeface="Times New Roman"/>
                          <a:ea typeface="Times New Roman"/>
                          <a:cs typeface="Times New Roman"/>
                          <a:sym typeface="Times New Roman"/>
                        </a:rPr>
                        <a:t>353 CpG, multi-tissus, ~8000 individus</a:t>
                      </a:r>
                      <a:endParaRPr sz="1200">
                        <a:latin typeface="Times New Roman"/>
                        <a:ea typeface="Times New Roman"/>
                        <a:cs typeface="Times New Roman"/>
                        <a:sym typeface="Times New Roman"/>
                      </a:endParaRPr>
                    </a:p>
                  </a:txBody>
                  <a:tcPr marL="88900" marR="88900" marT="50800" marB="50800" anchor="ctr">
                    <a:lnL w="6350" cap="flat" cmpd="sng">
                      <a:solidFill>
                        <a:srgbClr val="BFBFBF"/>
                      </a:solidFill>
                      <a:prstDash val="solid"/>
                      <a:round/>
                      <a:headEnd type="none" w="sm" len="sm"/>
                      <a:tailEnd type="none" w="sm" len="sm"/>
                    </a:lnL>
                    <a:lnR w="6350" cap="flat" cmpd="sng">
                      <a:solidFill>
                        <a:srgbClr val="BFBFBF"/>
                      </a:solidFill>
                      <a:prstDash val="solid"/>
                      <a:round/>
                      <a:headEnd type="none" w="sm" len="sm"/>
                      <a:tailEnd type="none" w="sm" len="sm"/>
                    </a:lnR>
                    <a:lnT w="6350" cap="flat" cmpd="sng">
                      <a:solidFill>
                        <a:srgbClr val="BFBFBF"/>
                      </a:solidFill>
                      <a:prstDash val="solid"/>
                      <a:round/>
                      <a:headEnd type="none" w="sm" len="sm"/>
                      <a:tailEnd type="none" w="sm" len="sm"/>
                    </a:lnT>
                    <a:lnB w="6350" cap="flat" cmpd="sng">
                      <a:solidFill>
                        <a:srgbClr val="BFBFBF"/>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US" sz="1200">
                          <a:solidFill>
                            <a:srgbClr val="222222"/>
                          </a:solidFill>
                          <a:latin typeface="Times New Roman"/>
                          <a:ea typeface="Times New Roman"/>
                          <a:cs typeface="Times New Roman"/>
                          <a:sym typeface="Times New Roman"/>
                        </a:rPr>
                        <a:t>≈ 3,6 ans</a:t>
                      </a:r>
                      <a:endParaRPr sz="1200">
                        <a:latin typeface="Times New Roman"/>
                        <a:ea typeface="Times New Roman"/>
                        <a:cs typeface="Times New Roman"/>
                        <a:sym typeface="Times New Roman"/>
                      </a:endParaRPr>
                    </a:p>
                  </a:txBody>
                  <a:tcPr marL="88900" marR="88900" marT="50800" marB="50800" anchor="ctr">
                    <a:lnL w="6350" cap="flat" cmpd="sng">
                      <a:solidFill>
                        <a:srgbClr val="BFBFBF"/>
                      </a:solidFill>
                      <a:prstDash val="solid"/>
                      <a:round/>
                      <a:headEnd type="none" w="sm" len="sm"/>
                      <a:tailEnd type="none" w="sm" len="sm"/>
                    </a:lnL>
                    <a:lnR w="6350" cap="flat" cmpd="sng">
                      <a:solidFill>
                        <a:srgbClr val="BFBFBF"/>
                      </a:solidFill>
                      <a:prstDash val="solid"/>
                      <a:round/>
                      <a:headEnd type="none" w="sm" len="sm"/>
                      <a:tailEnd type="none" w="sm" len="sm"/>
                    </a:lnR>
                    <a:lnT w="6350" cap="flat" cmpd="sng">
                      <a:solidFill>
                        <a:srgbClr val="BFBFBF"/>
                      </a:solidFill>
                      <a:prstDash val="solid"/>
                      <a:round/>
                      <a:headEnd type="none" w="sm" len="sm"/>
                      <a:tailEnd type="none" w="sm" len="sm"/>
                    </a:lnT>
                    <a:lnB w="6350"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600500">
                <a:tc>
                  <a:txBody>
                    <a:bodyPr/>
                    <a:lstStyle/>
                    <a:p>
                      <a:pPr marL="0" lvl="0" indent="0" algn="l" rtl="0">
                        <a:spcBef>
                          <a:spcPts val="0"/>
                        </a:spcBef>
                        <a:spcAft>
                          <a:spcPts val="0"/>
                        </a:spcAft>
                        <a:buNone/>
                      </a:pPr>
                      <a:r>
                        <a:rPr lang="en-US" sz="1200">
                          <a:solidFill>
                            <a:srgbClr val="222222"/>
                          </a:solidFill>
                          <a:latin typeface="Times New Roman"/>
                          <a:ea typeface="Times New Roman"/>
                          <a:cs typeface="Times New Roman"/>
                          <a:sym typeface="Times New Roman"/>
                        </a:rPr>
                        <a:t>Hannum</a:t>
                      </a:r>
                      <a:endParaRPr sz="1200">
                        <a:latin typeface="Times New Roman"/>
                        <a:ea typeface="Times New Roman"/>
                        <a:cs typeface="Times New Roman"/>
                        <a:sym typeface="Times New Roman"/>
                      </a:endParaRPr>
                    </a:p>
                  </a:txBody>
                  <a:tcPr marL="88900" marR="88900" marT="50800" marB="50800" anchor="ctr">
                    <a:lnL w="6350" cap="flat" cmpd="sng">
                      <a:solidFill>
                        <a:srgbClr val="BFBFBF"/>
                      </a:solidFill>
                      <a:prstDash val="solid"/>
                      <a:round/>
                      <a:headEnd type="none" w="sm" len="sm"/>
                      <a:tailEnd type="none" w="sm" len="sm"/>
                    </a:lnL>
                    <a:lnR w="6350" cap="flat" cmpd="sng">
                      <a:solidFill>
                        <a:srgbClr val="BFBFBF"/>
                      </a:solidFill>
                      <a:prstDash val="solid"/>
                      <a:round/>
                      <a:headEnd type="none" w="sm" len="sm"/>
                      <a:tailEnd type="none" w="sm" len="sm"/>
                    </a:lnR>
                    <a:lnT w="6350" cap="flat" cmpd="sng">
                      <a:solidFill>
                        <a:srgbClr val="BFBFBF"/>
                      </a:solidFill>
                      <a:prstDash val="solid"/>
                      <a:round/>
                      <a:headEnd type="none" w="sm" len="sm"/>
                      <a:tailEnd type="none" w="sm" len="sm"/>
                    </a:lnT>
                    <a:lnB w="6350" cap="flat" cmpd="sng">
                      <a:solidFill>
                        <a:srgbClr val="BFBFBF"/>
                      </a:solidFill>
                      <a:prstDash val="solid"/>
                      <a:round/>
                      <a:headEnd type="none" w="sm" len="sm"/>
                      <a:tailEnd type="none" w="sm" len="sm"/>
                    </a:lnB>
                    <a:solidFill>
                      <a:srgbClr val="F2F2F2"/>
                    </a:solidFill>
                  </a:tcPr>
                </a:tc>
                <a:tc>
                  <a:txBody>
                    <a:bodyPr/>
                    <a:lstStyle/>
                    <a:p>
                      <a:pPr marL="0" lvl="0" indent="0" algn="ctr" rtl="0">
                        <a:spcBef>
                          <a:spcPts val="0"/>
                        </a:spcBef>
                        <a:spcAft>
                          <a:spcPts val="0"/>
                        </a:spcAft>
                        <a:buNone/>
                      </a:pPr>
                      <a:r>
                        <a:rPr lang="en-US" sz="1200">
                          <a:solidFill>
                            <a:srgbClr val="222222"/>
                          </a:solidFill>
                          <a:latin typeface="Times New Roman"/>
                          <a:ea typeface="Times New Roman"/>
                          <a:cs typeface="Times New Roman"/>
                          <a:sym typeface="Times New Roman"/>
                        </a:rPr>
                        <a:t>Hannum G. (2013)</a:t>
                      </a:r>
                      <a:endParaRPr sz="1200">
                        <a:latin typeface="Times New Roman"/>
                        <a:ea typeface="Times New Roman"/>
                        <a:cs typeface="Times New Roman"/>
                        <a:sym typeface="Times New Roman"/>
                      </a:endParaRPr>
                    </a:p>
                  </a:txBody>
                  <a:tcPr marL="88900" marR="88900" marT="50800" marB="50800" anchor="ctr">
                    <a:lnL w="6350" cap="flat" cmpd="sng">
                      <a:solidFill>
                        <a:srgbClr val="BFBFBF"/>
                      </a:solidFill>
                      <a:prstDash val="solid"/>
                      <a:round/>
                      <a:headEnd type="none" w="sm" len="sm"/>
                      <a:tailEnd type="none" w="sm" len="sm"/>
                    </a:lnL>
                    <a:lnR w="6350" cap="flat" cmpd="sng">
                      <a:solidFill>
                        <a:srgbClr val="BFBFBF"/>
                      </a:solidFill>
                      <a:prstDash val="solid"/>
                      <a:round/>
                      <a:headEnd type="none" w="sm" len="sm"/>
                      <a:tailEnd type="none" w="sm" len="sm"/>
                    </a:lnR>
                    <a:lnT w="6350" cap="flat" cmpd="sng">
                      <a:solidFill>
                        <a:srgbClr val="BFBFBF"/>
                      </a:solidFill>
                      <a:prstDash val="solid"/>
                      <a:round/>
                      <a:headEnd type="none" w="sm" len="sm"/>
                      <a:tailEnd type="none" w="sm" len="sm"/>
                    </a:lnT>
                    <a:lnB w="6350" cap="flat" cmpd="sng">
                      <a:solidFill>
                        <a:srgbClr val="BFBFBF"/>
                      </a:solidFill>
                      <a:prstDash val="solid"/>
                      <a:round/>
                      <a:headEnd type="none" w="sm" len="sm"/>
                      <a:tailEnd type="none" w="sm" len="sm"/>
                    </a:lnB>
                    <a:solidFill>
                      <a:srgbClr val="F2F2F2"/>
                    </a:solidFill>
                  </a:tcPr>
                </a:tc>
                <a:tc>
                  <a:txBody>
                    <a:bodyPr/>
                    <a:lstStyle/>
                    <a:p>
                      <a:pPr marL="0" lvl="0" indent="0" algn="ctr" rtl="0">
                        <a:spcBef>
                          <a:spcPts val="0"/>
                        </a:spcBef>
                        <a:spcAft>
                          <a:spcPts val="0"/>
                        </a:spcAft>
                        <a:buNone/>
                      </a:pPr>
                      <a:r>
                        <a:rPr lang="en-US" sz="1200">
                          <a:solidFill>
                            <a:srgbClr val="222222"/>
                          </a:solidFill>
                          <a:latin typeface="Times New Roman"/>
                          <a:ea typeface="Times New Roman"/>
                          <a:cs typeface="Times New Roman"/>
                          <a:sym typeface="Times New Roman"/>
                        </a:rPr>
                        <a:t>71 CpG, sang, ~656 individus</a:t>
                      </a:r>
                      <a:endParaRPr sz="1200">
                        <a:latin typeface="Times New Roman"/>
                        <a:ea typeface="Times New Roman"/>
                        <a:cs typeface="Times New Roman"/>
                        <a:sym typeface="Times New Roman"/>
                      </a:endParaRPr>
                    </a:p>
                  </a:txBody>
                  <a:tcPr marL="88900" marR="88900" marT="50800" marB="50800" anchor="ctr">
                    <a:lnL w="6350" cap="flat" cmpd="sng">
                      <a:solidFill>
                        <a:srgbClr val="BFBFBF"/>
                      </a:solidFill>
                      <a:prstDash val="solid"/>
                      <a:round/>
                      <a:headEnd type="none" w="sm" len="sm"/>
                      <a:tailEnd type="none" w="sm" len="sm"/>
                    </a:lnL>
                    <a:lnR w="6350" cap="flat" cmpd="sng">
                      <a:solidFill>
                        <a:srgbClr val="BFBFBF"/>
                      </a:solidFill>
                      <a:prstDash val="solid"/>
                      <a:round/>
                      <a:headEnd type="none" w="sm" len="sm"/>
                      <a:tailEnd type="none" w="sm" len="sm"/>
                    </a:lnR>
                    <a:lnT w="6350" cap="flat" cmpd="sng">
                      <a:solidFill>
                        <a:srgbClr val="BFBFBF"/>
                      </a:solidFill>
                      <a:prstDash val="solid"/>
                      <a:round/>
                      <a:headEnd type="none" w="sm" len="sm"/>
                      <a:tailEnd type="none" w="sm" len="sm"/>
                    </a:lnT>
                    <a:lnB w="6350" cap="flat" cmpd="sng">
                      <a:solidFill>
                        <a:srgbClr val="BFBFBF"/>
                      </a:solidFill>
                      <a:prstDash val="solid"/>
                      <a:round/>
                      <a:headEnd type="none" w="sm" len="sm"/>
                      <a:tailEnd type="none" w="sm" len="sm"/>
                    </a:lnB>
                    <a:solidFill>
                      <a:srgbClr val="F2F2F2"/>
                    </a:solidFill>
                  </a:tcPr>
                </a:tc>
                <a:tc>
                  <a:txBody>
                    <a:bodyPr/>
                    <a:lstStyle/>
                    <a:p>
                      <a:pPr marL="0" lvl="0" indent="0" algn="ctr" rtl="0">
                        <a:spcBef>
                          <a:spcPts val="0"/>
                        </a:spcBef>
                        <a:spcAft>
                          <a:spcPts val="0"/>
                        </a:spcAft>
                        <a:buNone/>
                      </a:pPr>
                      <a:r>
                        <a:rPr lang="en-US" sz="1200">
                          <a:solidFill>
                            <a:srgbClr val="222222"/>
                          </a:solidFill>
                          <a:latin typeface="Times New Roman"/>
                          <a:ea typeface="Times New Roman"/>
                          <a:cs typeface="Times New Roman"/>
                          <a:sym typeface="Times New Roman"/>
                        </a:rPr>
                        <a:t>≈ 4,9 ans</a:t>
                      </a:r>
                      <a:endParaRPr sz="1200">
                        <a:latin typeface="Times New Roman"/>
                        <a:ea typeface="Times New Roman"/>
                        <a:cs typeface="Times New Roman"/>
                        <a:sym typeface="Times New Roman"/>
                      </a:endParaRPr>
                    </a:p>
                  </a:txBody>
                  <a:tcPr marL="88900" marR="88900" marT="50800" marB="50800" anchor="ctr">
                    <a:lnL w="6350" cap="flat" cmpd="sng">
                      <a:solidFill>
                        <a:srgbClr val="BFBFBF"/>
                      </a:solidFill>
                      <a:prstDash val="solid"/>
                      <a:round/>
                      <a:headEnd type="none" w="sm" len="sm"/>
                      <a:tailEnd type="none" w="sm" len="sm"/>
                    </a:lnL>
                    <a:lnR w="6350" cap="flat" cmpd="sng">
                      <a:solidFill>
                        <a:srgbClr val="BFBFBF"/>
                      </a:solidFill>
                      <a:prstDash val="solid"/>
                      <a:round/>
                      <a:headEnd type="none" w="sm" len="sm"/>
                      <a:tailEnd type="none" w="sm" len="sm"/>
                    </a:lnR>
                    <a:lnT w="6350" cap="flat" cmpd="sng">
                      <a:solidFill>
                        <a:srgbClr val="BFBFBF"/>
                      </a:solidFill>
                      <a:prstDash val="solid"/>
                      <a:round/>
                      <a:headEnd type="none" w="sm" len="sm"/>
                      <a:tailEnd type="none" w="sm" len="sm"/>
                    </a:lnT>
                    <a:lnB w="6350" cap="flat" cmpd="sng">
                      <a:solidFill>
                        <a:srgbClr val="BFBFBF"/>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600500">
                <a:tc>
                  <a:txBody>
                    <a:bodyPr/>
                    <a:lstStyle/>
                    <a:p>
                      <a:pPr marL="0" lvl="0" indent="0" algn="l" rtl="0">
                        <a:spcBef>
                          <a:spcPts val="0"/>
                        </a:spcBef>
                        <a:spcAft>
                          <a:spcPts val="0"/>
                        </a:spcAft>
                        <a:buNone/>
                      </a:pPr>
                      <a:r>
                        <a:rPr lang="en-US" sz="1200">
                          <a:solidFill>
                            <a:srgbClr val="222222"/>
                          </a:solidFill>
                          <a:latin typeface="Times New Roman"/>
                          <a:ea typeface="Times New Roman"/>
                          <a:cs typeface="Times New Roman"/>
                          <a:sym typeface="Times New Roman"/>
                        </a:rPr>
                        <a:t>PhenoAge</a:t>
                      </a:r>
                      <a:endParaRPr sz="1200">
                        <a:latin typeface="Times New Roman"/>
                        <a:ea typeface="Times New Roman"/>
                        <a:cs typeface="Times New Roman"/>
                        <a:sym typeface="Times New Roman"/>
                      </a:endParaRPr>
                    </a:p>
                  </a:txBody>
                  <a:tcPr marL="88900" marR="88900" marT="50800" marB="50800" anchor="ctr">
                    <a:lnL w="6350" cap="flat" cmpd="sng">
                      <a:solidFill>
                        <a:srgbClr val="BFBFBF"/>
                      </a:solidFill>
                      <a:prstDash val="solid"/>
                      <a:round/>
                      <a:headEnd type="none" w="sm" len="sm"/>
                      <a:tailEnd type="none" w="sm" len="sm"/>
                    </a:lnL>
                    <a:lnR w="6350" cap="flat" cmpd="sng">
                      <a:solidFill>
                        <a:srgbClr val="BFBFBF"/>
                      </a:solidFill>
                      <a:prstDash val="solid"/>
                      <a:round/>
                      <a:headEnd type="none" w="sm" len="sm"/>
                      <a:tailEnd type="none" w="sm" len="sm"/>
                    </a:lnR>
                    <a:lnT w="6350" cap="flat" cmpd="sng">
                      <a:solidFill>
                        <a:srgbClr val="BFBFBF"/>
                      </a:solidFill>
                      <a:prstDash val="solid"/>
                      <a:round/>
                      <a:headEnd type="none" w="sm" len="sm"/>
                      <a:tailEnd type="none" w="sm" len="sm"/>
                    </a:lnT>
                    <a:lnB w="6350" cap="flat" cmpd="sng">
                      <a:solidFill>
                        <a:srgbClr val="BFBFBF"/>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US" sz="1200">
                          <a:solidFill>
                            <a:srgbClr val="222222"/>
                          </a:solidFill>
                          <a:latin typeface="Times New Roman"/>
                          <a:ea typeface="Times New Roman"/>
                          <a:cs typeface="Times New Roman"/>
                          <a:sym typeface="Times New Roman"/>
                        </a:rPr>
                        <a:t>Levine M. (2018)</a:t>
                      </a:r>
                      <a:endParaRPr sz="1200">
                        <a:latin typeface="Times New Roman"/>
                        <a:ea typeface="Times New Roman"/>
                        <a:cs typeface="Times New Roman"/>
                        <a:sym typeface="Times New Roman"/>
                      </a:endParaRPr>
                    </a:p>
                  </a:txBody>
                  <a:tcPr marL="88900" marR="88900" marT="50800" marB="50800" anchor="ctr">
                    <a:lnL w="6350" cap="flat" cmpd="sng">
                      <a:solidFill>
                        <a:srgbClr val="BFBFBF"/>
                      </a:solidFill>
                      <a:prstDash val="solid"/>
                      <a:round/>
                      <a:headEnd type="none" w="sm" len="sm"/>
                      <a:tailEnd type="none" w="sm" len="sm"/>
                    </a:lnL>
                    <a:lnR w="6350" cap="flat" cmpd="sng">
                      <a:solidFill>
                        <a:srgbClr val="BFBFBF"/>
                      </a:solidFill>
                      <a:prstDash val="solid"/>
                      <a:round/>
                      <a:headEnd type="none" w="sm" len="sm"/>
                      <a:tailEnd type="none" w="sm" len="sm"/>
                    </a:lnR>
                    <a:lnT w="6350" cap="flat" cmpd="sng">
                      <a:solidFill>
                        <a:srgbClr val="BFBFBF"/>
                      </a:solidFill>
                      <a:prstDash val="solid"/>
                      <a:round/>
                      <a:headEnd type="none" w="sm" len="sm"/>
                      <a:tailEnd type="none" w="sm" len="sm"/>
                    </a:lnT>
                    <a:lnB w="6350" cap="flat" cmpd="sng">
                      <a:solidFill>
                        <a:srgbClr val="BFBFBF"/>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US" sz="1200">
                          <a:solidFill>
                            <a:srgbClr val="222222"/>
                          </a:solidFill>
                          <a:latin typeface="Times New Roman"/>
                          <a:ea typeface="Times New Roman"/>
                          <a:cs typeface="Times New Roman"/>
                          <a:sym typeface="Times New Roman"/>
                        </a:rPr>
                        <a:t>513 CpG, orientée mortalité</a:t>
                      </a:r>
                      <a:endParaRPr sz="1200">
                        <a:latin typeface="Times New Roman"/>
                        <a:ea typeface="Times New Roman"/>
                        <a:cs typeface="Times New Roman"/>
                        <a:sym typeface="Times New Roman"/>
                      </a:endParaRPr>
                    </a:p>
                  </a:txBody>
                  <a:tcPr marL="88900" marR="88900" marT="50800" marB="50800" anchor="ctr">
                    <a:lnL w="6350" cap="flat" cmpd="sng">
                      <a:solidFill>
                        <a:srgbClr val="BFBFBF"/>
                      </a:solidFill>
                      <a:prstDash val="solid"/>
                      <a:round/>
                      <a:headEnd type="none" w="sm" len="sm"/>
                      <a:tailEnd type="none" w="sm" len="sm"/>
                    </a:lnL>
                    <a:lnR w="6350" cap="flat" cmpd="sng">
                      <a:solidFill>
                        <a:srgbClr val="BFBFBF"/>
                      </a:solidFill>
                      <a:prstDash val="solid"/>
                      <a:round/>
                      <a:headEnd type="none" w="sm" len="sm"/>
                      <a:tailEnd type="none" w="sm" len="sm"/>
                    </a:lnR>
                    <a:lnT w="6350" cap="flat" cmpd="sng">
                      <a:solidFill>
                        <a:srgbClr val="BFBFBF"/>
                      </a:solidFill>
                      <a:prstDash val="solid"/>
                      <a:round/>
                      <a:headEnd type="none" w="sm" len="sm"/>
                      <a:tailEnd type="none" w="sm" len="sm"/>
                    </a:lnT>
                    <a:lnB w="6350" cap="flat" cmpd="sng">
                      <a:solidFill>
                        <a:srgbClr val="BFBFBF"/>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US" sz="1200">
                          <a:solidFill>
                            <a:srgbClr val="222222"/>
                          </a:solidFill>
                          <a:latin typeface="Times New Roman"/>
                          <a:ea typeface="Times New Roman"/>
                          <a:cs typeface="Times New Roman"/>
                          <a:sym typeface="Times New Roman"/>
                        </a:rPr>
                        <a:t>≈ 5,5 ans</a:t>
                      </a:r>
                      <a:endParaRPr sz="1200">
                        <a:latin typeface="Times New Roman"/>
                        <a:ea typeface="Times New Roman"/>
                        <a:cs typeface="Times New Roman"/>
                        <a:sym typeface="Times New Roman"/>
                      </a:endParaRPr>
                    </a:p>
                  </a:txBody>
                  <a:tcPr marL="88900" marR="88900" marT="50800" marB="50800" anchor="ctr">
                    <a:lnL w="6350" cap="flat" cmpd="sng">
                      <a:solidFill>
                        <a:srgbClr val="BFBFBF"/>
                      </a:solidFill>
                      <a:prstDash val="solid"/>
                      <a:round/>
                      <a:headEnd type="none" w="sm" len="sm"/>
                      <a:tailEnd type="none" w="sm" len="sm"/>
                    </a:lnL>
                    <a:lnR w="6350" cap="flat" cmpd="sng">
                      <a:solidFill>
                        <a:srgbClr val="BFBFBF"/>
                      </a:solidFill>
                      <a:prstDash val="solid"/>
                      <a:round/>
                      <a:headEnd type="none" w="sm" len="sm"/>
                      <a:tailEnd type="none" w="sm" len="sm"/>
                    </a:lnR>
                    <a:lnT w="6350" cap="flat" cmpd="sng">
                      <a:solidFill>
                        <a:srgbClr val="BFBFBF"/>
                      </a:solidFill>
                      <a:prstDash val="solid"/>
                      <a:round/>
                      <a:headEnd type="none" w="sm" len="sm"/>
                      <a:tailEnd type="none" w="sm" len="sm"/>
                    </a:lnT>
                    <a:lnB w="6350"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600500">
                <a:tc>
                  <a:txBody>
                    <a:bodyPr/>
                    <a:lstStyle/>
                    <a:p>
                      <a:pPr marL="0" lvl="0" indent="0" algn="l" rtl="0">
                        <a:spcBef>
                          <a:spcPts val="0"/>
                        </a:spcBef>
                        <a:spcAft>
                          <a:spcPts val="0"/>
                        </a:spcAft>
                        <a:buNone/>
                      </a:pPr>
                      <a:r>
                        <a:rPr lang="en-US" sz="1200">
                          <a:solidFill>
                            <a:srgbClr val="222222"/>
                          </a:solidFill>
                          <a:latin typeface="Times New Roman"/>
                          <a:ea typeface="Times New Roman"/>
                          <a:cs typeface="Times New Roman"/>
                          <a:sym typeface="Times New Roman"/>
                        </a:rPr>
                        <a:t>GrimAge</a:t>
                      </a:r>
                      <a:endParaRPr sz="1200">
                        <a:latin typeface="Times New Roman"/>
                        <a:ea typeface="Times New Roman"/>
                        <a:cs typeface="Times New Roman"/>
                        <a:sym typeface="Times New Roman"/>
                      </a:endParaRPr>
                    </a:p>
                  </a:txBody>
                  <a:tcPr marL="88900" marR="88900" marT="50800" marB="50800" anchor="ctr">
                    <a:lnL w="6350" cap="flat" cmpd="sng">
                      <a:solidFill>
                        <a:srgbClr val="BFBFBF"/>
                      </a:solidFill>
                      <a:prstDash val="solid"/>
                      <a:round/>
                      <a:headEnd type="none" w="sm" len="sm"/>
                      <a:tailEnd type="none" w="sm" len="sm"/>
                    </a:lnL>
                    <a:lnR w="6350" cap="flat" cmpd="sng">
                      <a:solidFill>
                        <a:srgbClr val="BFBFBF"/>
                      </a:solidFill>
                      <a:prstDash val="solid"/>
                      <a:round/>
                      <a:headEnd type="none" w="sm" len="sm"/>
                      <a:tailEnd type="none" w="sm" len="sm"/>
                    </a:lnR>
                    <a:lnT w="6350" cap="flat" cmpd="sng">
                      <a:solidFill>
                        <a:srgbClr val="BFBFBF"/>
                      </a:solidFill>
                      <a:prstDash val="solid"/>
                      <a:round/>
                      <a:headEnd type="none" w="sm" len="sm"/>
                      <a:tailEnd type="none" w="sm" len="sm"/>
                    </a:lnT>
                    <a:lnB w="6350" cap="flat" cmpd="sng">
                      <a:solidFill>
                        <a:srgbClr val="BFBFBF"/>
                      </a:solidFill>
                      <a:prstDash val="solid"/>
                      <a:round/>
                      <a:headEnd type="none" w="sm" len="sm"/>
                      <a:tailEnd type="none" w="sm" len="sm"/>
                    </a:lnB>
                    <a:solidFill>
                      <a:srgbClr val="F2F2F2"/>
                    </a:solidFill>
                  </a:tcPr>
                </a:tc>
                <a:tc>
                  <a:txBody>
                    <a:bodyPr/>
                    <a:lstStyle/>
                    <a:p>
                      <a:pPr marL="0" lvl="0" indent="0" algn="ctr" rtl="0">
                        <a:spcBef>
                          <a:spcPts val="0"/>
                        </a:spcBef>
                        <a:spcAft>
                          <a:spcPts val="0"/>
                        </a:spcAft>
                        <a:buNone/>
                      </a:pPr>
                      <a:r>
                        <a:rPr lang="en-US" sz="1200">
                          <a:solidFill>
                            <a:srgbClr val="222222"/>
                          </a:solidFill>
                          <a:latin typeface="Times New Roman"/>
                          <a:ea typeface="Times New Roman"/>
                          <a:cs typeface="Times New Roman"/>
                          <a:sym typeface="Times New Roman"/>
                        </a:rPr>
                        <a:t>Lu A.T. (2019)</a:t>
                      </a:r>
                      <a:endParaRPr sz="1200">
                        <a:latin typeface="Times New Roman"/>
                        <a:ea typeface="Times New Roman"/>
                        <a:cs typeface="Times New Roman"/>
                        <a:sym typeface="Times New Roman"/>
                      </a:endParaRPr>
                    </a:p>
                  </a:txBody>
                  <a:tcPr marL="88900" marR="88900" marT="50800" marB="50800" anchor="ctr">
                    <a:lnL w="6350" cap="flat" cmpd="sng">
                      <a:solidFill>
                        <a:srgbClr val="BFBFBF"/>
                      </a:solidFill>
                      <a:prstDash val="solid"/>
                      <a:round/>
                      <a:headEnd type="none" w="sm" len="sm"/>
                      <a:tailEnd type="none" w="sm" len="sm"/>
                    </a:lnL>
                    <a:lnR w="6350" cap="flat" cmpd="sng">
                      <a:solidFill>
                        <a:srgbClr val="BFBFBF"/>
                      </a:solidFill>
                      <a:prstDash val="solid"/>
                      <a:round/>
                      <a:headEnd type="none" w="sm" len="sm"/>
                      <a:tailEnd type="none" w="sm" len="sm"/>
                    </a:lnR>
                    <a:lnT w="6350" cap="flat" cmpd="sng">
                      <a:solidFill>
                        <a:srgbClr val="BFBFBF"/>
                      </a:solidFill>
                      <a:prstDash val="solid"/>
                      <a:round/>
                      <a:headEnd type="none" w="sm" len="sm"/>
                      <a:tailEnd type="none" w="sm" len="sm"/>
                    </a:lnT>
                    <a:lnB w="6350" cap="flat" cmpd="sng">
                      <a:solidFill>
                        <a:srgbClr val="BFBFBF"/>
                      </a:solidFill>
                      <a:prstDash val="solid"/>
                      <a:round/>
                      <a:headEnd type="none" w="sm" len="sm"/>
                      <a:tailEnd type="none" w="sm" len="sm"/>
                    </a:lnB>
                    <a:solidFill>
                      <a:srgbClr val="F2F2F2"/>
                    </a:solidFill>
                  </a:tcPr>
                </a:tc>
                <a:tc>
                  <a:txBody>
                    <a:bodyPr/>
                    <a:lstStyle/>
                    <a:p>
                      <a:pPr marL="0" lvl="0" indent="0" algn="ctr" rtl="0">
                        <a:spcBef>
                          <a:spcPts val="0"/>
                        </a:spcBef>
                        <a:spcAft>
                          <a:spcPts val="0"/>
                        </a:spcAft>
                        <a:buNone/>
                      </a:pPr>
                      <a:r>
                        <a:rPr lang="en-US" sz="1200">
                          <a:solidFill>
                            <a:srgbClr val="222222"/>
                          </a:solidFill>
                          <a:latin typeface="Times New Roman"/>
                          <a:ea typeface="Times New Roman"/>
                          <a:cs typeface="Times New Roman"/>
                          <a:sym typeface="Times New Roman"/>
                        </a:rPr>
                        <a:t>Plasma + protéines + tabac</a:t>
                      </a:r>
                      <a:endParaRPr sz="1200">
                        <a:latin typeface="Times New Roman"/>
                        <a:ea typeface="Times New Roman"/>
                        <a:cs typeface="Times New Roman"/>
                        <a:sym typeface="Times New Roman"/>
                      </a:endParaRPr>
                    </a:p>
                  </a:txBody>
                  <a:tcPr marL="88900" marR="88900" marT="50800" marB="50800" anchor="ctr">
                    <a:lnL w="6350" cap="flat" cmpd="sng">
                      <a:solidFill>
                        <a:srgbClr val="BFBFBF"/>
                      </a:solidFill>
                      <a:prstDash val="solid"/>
                      <a:round/>
                      <a:headEnd type="none" w="sm" len="sm"/>
                      <a:tailEnd type="none" w="sm" len="sm"/>
                    </a:lnL>
                    <a:lnR w="6350" cap="flat" cmpd="sng">
                      <a:solidFill>
                        <a:srgbClr val="BFBFBF"/>
                      </a:solidFill>
                      <a:prstDash val="solid"/>
                      <a:round/>
                      <a:headEnd type="none" w="sm" len="sm"/>
                      <a:tailEnd type="none" w="sm" len="sm"/>
                    </a:lnR>
                    <a:lnT w="6350" cap="flat" cmpd="sng">
                      <a:solidFill>
                        <a:srgbClr val="BFBFBF"/>
                      </a:solidFill>
                      <a:prstDash val="solid"/>
                      <a:round/>
                      <a:headEnd type="none" w="sm" len="sm"/>
                      <a:tailEnd type="none" w="sm" len="sm"/>
                    </a:lnT>
                    <a:lnB w="6350" cap="flat" cmpd="sng">
                      <a:solidFill>
                        <a:srgbClr val="BFBFBF"/>
                      </a:solidFill>
                      <a:prstDash val="solid"/>
                      <a:round/>
                      <a:headEnd type="none" w="sm" len="sm"/>
                      <a:tailEnd type="none" w="sm" len="sm"/>
                    </a:lnB>
                    <a:solidFill>
                      <a:srgbClr val="F2F2F2"/>
                    </a:solidFill>
                  </a:tcPr>
                </a:tc>
                <a:tc>
                  <a:txBody>
                    <a:bodyPr/>
                    <a:lstStyle/>
                    <a:p>
                      <a:pPr marL="0" lvl="0" indent="0" algn="ctr" rtl="0">
                        <a:spcBef>
                          <a:spcPts val="0"/>
                        </a:spcBef>
                        <a:spcAft>
                          <a:spcPts val="0"/>
                        </a:spcAft>
                        <a:buNone/>
                      </a:pPr>
                      <a:r>
                        <a:rPr lang="en-US" sz="1200">
                          <a:solidFill>
                            <a:srgbClr val="222222"/>
                          </a:solidFill>
                          <a:latin typeface="Times New Roman"/>
                          <a:ea typeface="Times New Roman"/>
                          <a:cs typeface="Times New Roman"/>
                          <a:sym typeface="Times New Roman"/>
                        </a:rPr>
                        <a:t>≈ 2,2 ans</a:t>
                      </a:r>
                      <a:endParaRPr sz="1200">
                        <a:latin typeface="Times New Roman"/>
                        <a:ea typeface="Times New Roman"/>
                        <a:cs typeface="Times New Roman"/>
                        <a:sym typeface="Times New Roman"/>
                      </a:endParaRPr>
                    </a:p>
                  </a:txBody>
                  <a:tcPr marL="88900" marR="88900" marT="50800" marB="50800" anchor="ctr">
                    <a:lnL w="6350" cap="flat" cmpd="sng">
                      <a:solidFill>
                        <a:srgbClr val="BFBFBF"/>
                      </a:solidFill>
                      <a:prstDash val="solid"/>
                      <a:round/>
                      <a:headEnd type="none" w="sm" len="sm"/>
                      <a:tailEnd type="none" w="sm" len="sm"/>
                    </a:lnL>
                    <a:lnR w="6350" cap="flat" cmpd="sng">
                      <a:solidFill>
                        <a:srgbClr val="BFBFBF"/>
                      </a:solidFill>
                      <a:prstDash val="solid"/>
                      <a:round/>
                      <a:headEnd type="none" w="sm" len="sm"/>
                      <a:tailEnd type="none" w="sm" len="sm"/>
                    </a:lnR>
                    <a:lnT w="6350" cap="flat" cmpd="sng">
                      <a:solidFill>
                        <a:srgbClr val="BFBFBF"/>
                      </a:solidFill>
                      <a:prstDash val="solid"/>
                      <a:round/>
                      <a:headEnd type="none" w="sm" len="sm"/>
                      <a:tailEnd type="none" w="sm" len="sm"/>
                    </a:lnT>
                    <a:lnB w="6350" cap="flat" cmpd="sng">
                      <a:solidFill>
                        <a:srgbClr val="BFBFBF"/>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837675">
                <a:tc>
                  <a:txBody>
                    <a:bodyPr/>
                    <a:lstStyle/>
                    <a:p>
                      <a:pPr marL="0" lvl="0" indent="0" algn="l" rtl="0">
                        <a:spcBef>
                          <a:spcPts val="0"/>
                        </a:spcBef>
                        <a:spcAft>
                          <a:spcPts val="0"/>
                        </a:spcAft>
                        <a:buNone/>
                      </a:pPr>
                      <a:r>
                        <a:rPr lang="en-US" sz="1200" b="1">
                          <a:solidFill>
                            <a:srgbClr val="222222"/>
                          </a:solidFill>
                          <a:latin typeface="Times New Roman"/>
                          <a:ea typeface="Times New Roman"/>
                          <a:cs typeface="Times New Roman"/>
                          <a:sym typeface="Times New Roman"/>
                        </a:rPr>
                        <a:t>Notre Stacking</a:t>
                      </a:r>
                      <a:endParaRPr sz="1200">
                        <a:latin typeface="Times New Roman"/>
                        <a:ea typeface="Times New Roman"/>
                        <a:cs typeface="Times New Roman"/>
                        <a:sym typeface="Times New Roman"/>
                      </a:endParaRPr>
                    </a:p>
                  </a:txBody>
                  <a:tcPr marL="88900" marR="88900" marT="50800" marB="50800" anchor="ctr">
                    <a:lnL w="6350" cap="flat" cmpd="sng">
                      <a:solidFill>
                        <a:srgbClr val="BFBFBF"/>
                      </a:solidFill>
                      <a:prstDash val="solid"/>
                      <a:round/>
                      <a:headEnd type="none" w="sm" len="sm"/>
                      <a:tailEnd type="none" w="sm" len="sm"/>
                    </a:lnL>
                    <a:lnR w="6350" cap="flat" cmpd="sng">
                      <a:solidFill>
                        <a:srgbClr val="BFBFBF"/>
                      </a:solidFill>
                      <a:prstDash val="solid"/>
                      <a:round/>
                      <a:headEnd type="none" w="sm" len="sm"/>
                      <a:tailEnd type="none" w="sm" len="sm"/>
                    </a:lnR>
                    <a:lnT w="6350" cap="flat" cmpd="sng">
                      <a:solidFill>
                        <a:srgbClr val="BFBFBF"/>
                      </a:solidFill>
                      <a:prstDash val="solid"/>
                      <a:round/>
                      <a:headEnd type="none" w="sm" len="sm"/>
                      <a:tailEnd type="none" w="sm" len="sm"/>
                    </a:lnT>
                    <a:lnB w="6350" cap="flat" cmpd="sng">
                      <a:solidFill>
                        <a:srgbClr val="BFBFBF"/>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US" sz="1200" b="1">
                          <a:solidFill>
                            <a:srgbClr val="222222"/>
                          </a:solidFill>
                          <a:latin typeface="Times New Roman"/>
                          <a:ea typeface="Times New Roman"/>
                          <a:cs typeface="Times New Roman"/>
                          <a:sym typeface="Times New Roman"/>
                        </a:rPr>
                        <a:t>Mai 2026</a:t>
                      </a:r>
                      <a:endParaRPr sz="1200">
                        <a:latin typeface="Times New Roman"/>
                        <a:ea typeface="Times New Roman"/>
                        <a:cs typeface="Times New Roman"/>
                        <a:sym typeface="Times New Roman"/>
                      </a:endParaRPr>
                    </a:p>
                  </a:txBody>
                  <a:tcPr marL="88900" marR="88900" marT="50800" marB="50800" anchor="ctr">
                    <a:lnL w="6350" cap="flat" cmpd="sng">
                      <a:solidFill>
                        <a:srgbClr val="BFBFBF"/>
                      </a:solidFill>
                      <a:prstDash val="solid"/>
                      <a:round/>
                      <a:headEnd type="none" w="sm" len="sm"/>
                      <a:tailEnd type="none" w="sm" len="sm"/>
                    </a:lnL>
                    <a:lnR w="6350" cap="flat" cmpd="sng">
                      <a:solidFill>
                        <a:srgbClr val="BFBFBF"/>
                      </a:solidFill>
                      <a:prstDash val="solid"/>
                      <a:round/>
                      <a:headEnd type="none" w="sm" len="sm"/>
                      <a:tailEnd type="none" w="sm" len="sm"/>
                    </a:lnR>
                    <a:lnT w="6350" cap="flat" cmpd="sng">
                      <a:solidFill>
                        <a:srgbClr val="BFBFBF"/>
                      </a:solidFill>
                      <a:prstDash val="solid"/>
                      <a:round/>
                      <a:headEnd type="none" w="sm" len="sm"/>
                      <a:tailEnd type="none" w="sm" len="sm"/>
                    </a:lnT>
                    <a:lnB w="6350" cap="flat" cmpd="sng">
                      <a:solidFill>
                        <a:srgbClr val="BFBFBF"/>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US" sz="1200">
                          <a:solidFill>
                            <a:srgbClr val="222222"/>
                          </a:solidFill>
                          <a:latin typeface="Times New Roman"/>
                          <a:ea typeface="Times New Roman"/>
                          <a:cs typeface="Times New Roman"/>
                          <a:sym typeface="Times New Roman"/>
                        </a:rPr>
                        <a:t>38 799 CpG, n = 237 train</a:t>
                      </a:r>
                      <a:endParaRPr sz="1200">
                        <a:latin typeface="Times New Roman"/>
                        <a:ea typeface="Times New Roman"/>
                        <a:cs typeface="Times New Roman"/>
                        <a:sym typeface="Times New Roman"/>
                      </a:endParaRPr>
                    </a:p>
                  </a:txBody>
                  <a:tcPr marL="88900" marR="88900" marT="50800" marB="50800" anchor="ctr">
                    <a:lnL w="6350" cap="flat" cmpd="sng">
                      <a:solidFill>
                        <a:srgbClr val="BFBFBF"/>
                      </a:solidFill>
                      <a:prstDash val="solid"/>
                      <a:round/>
                      <a:headEnd type="none" w="sm" len="sm"/>
                      <a:tailEnd type="none" w="sm" len="sm"/>
                    </a:lnL>
                    <a:lnR w="6350" cap="flat" cmpd="sng">
                      <a:solidFill>
                        <a:srgbClr val="BFBFBF"/>
                      </a:solidFill>
                      <a:prstDash val="solid"/>
                      <a:round/>
                      <a:headEnd type="none" w="sm" len="sm"/>
                      <a:tailEnd type="none" w="sm" len="sm"/>
                    </a:lnR>
                    <a:lnT w="6350" cap="flat" cmpd="sng">
                      <a:solidFill>
                        <a:srgbClr val="BFBFBF"/>
                      </a:solidFill>
                      <a:prstDash val="solid"/>
                      <a:round/>
                      <a:headEnd type="none" w="sm" len="sm"/>
                      <a:tailEnd type="none" w="sm" len="sm"/>
                    </a:lnT>
                    <a:lnB w="6350" cap="flat" cmpd="sng">
                      <a:solidFill>
                        <a:srgbClr val="BFBFBF"/>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US" sz="1200" b="1">
                          <a:solidFill>
                            <a:srgbClr val="222222"/>
                          </a:solidFill>
                          <a:latin typeface="Times New Roman"/>
                          <a:ea typeface="Times New Roman"/>
                          <a:cs typeface="Times New Roman"/>
                          <a:sym typeface="Times New Roman"/>
                        </a:rPr>
                        <a:t>3,21 ans</a:t>
                      </a:r>
                      <a:endParaRPr sz="1200">
                        <a:latin typeface="Times New Roman"/>
                        <a:ea typeface="Times New Roman"/>
                        <a:cs typeface="Times New Roman"/>
                        <a:sym typeface="Times New Roman"/>
                      </a:endParaRPr>
                    </a:p>
                  </a:txBody>
                  <a:tcPr marL="88900" marR="88900" marT="50800" marB="50800" anchor="ctr">
                    <a:lnL w="6350" cap="flat" cmpd="sng">
                      <a:solidFill>
                        <a:srgbClr val="BFBFBF"/>
                      </a:solidFill>
                      <a:prstDash val="solid"/>
                      <a:round/>
                      <a:headEnd type="none" w="sm" len="sm"/>
                      <a:tailEnd type="none" w="sm" len="sm"/>
                    </a:lnL>
                    <a:lnR w="6350" cap="flat" cmpd="sng">
                      <a:solidFill>
                        <a:srgbClr val="BFBFBF"/>
                      </a:solidFill>
                      <a:prstDash val="solid"/>
                      <a:round/>
                      <a:headEnd type="none" w="sm" len="sm"/>
                      <a:tailEnd type="none" w="sm" len="sm"/>
                    </a:lnR>
                    <a:lnT w="6350" cap="flat" cmpd="sng">
                      <a:solidFill>
                        <a:srgbClr val="BFBFBF"/>
                      </a:solidFill>
                      <a:prstDash val="solid"/>
                      <a:round/>
                      <a:headEnd type="none" w="sm" len="sm"/>
                      <a:tailEnd type="none" w="sm" len="sm"/>
                    </a:lnT>
                    <a:lnB w="6350" cap="flat" cmpd="sng">
                      <a:solidFill>
                        <a:srgbClr val="BFBFBF"/>
                      </a:solidFill>
                      <a:prstDash val="solid"/>
                      <a:round/>
                      <a:headEnd type="none" w="sm" len="sm"/>
                      <a:tailEnd type="none" w="sm" len="sm"/>
                    </a:lnB>
                    <a:solidFill>
                      <a:srgbClr val="FFF2CC"/>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26"/>
        <p:cNvGrpSpPr/>
        <p:nvPr/>
      </p:nvGrpSpPr>
      <p:grpSpPr>
        <a:xfrm>
          <a:off x="0" y="0"/>
          <a:ext cx="0" cy="0"/>
          <a:chOff x="0" y="0"/>
          <a:chExt cx="0" cy="0"/>
        </a:xfrm>
      </p:grpSpPr>
      <p:sp>
        <p:nvSpPr>
          <p:cNvPr id="527" name="Google Shape;527;g3dbedb9dc74_0_49"/>
          <p:cNvSpPr/>
          <p:nvPr/>
        </p:nvSpPr>
        <p:spPr>
          <a:xfrm>
            <a:off x="457200" y="228600"/>
            <a:ext cx="91440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PARTIE VI · ROBUSTESSE</a:t>
            </a:r>
            <a:endParaRPr sz="1100">
              <a:solidFill>
                <a:schemeClr val="dk1"/>
              </a:solidFill>
              <a:latin typeface="Calibri"/>
              <a:ea typeface="Calibri"/>
              <a:cs typeface="Calibri"/>
              <a:sym typeface="Calibri"/>
            </a:endParaRPr>
          </a:p>
        </p:txBody>
      </p:sp>
      <p:sp>
        <p:nvSpPr>
          <p:cNvPr id="528" name="Google Shape;528;g3dbedb9dc74_0_49"/>
          <p:cNvSpPr/>
          <p:nvPr/>
        </p:nvSpPr>
        <p:spPr>
          <a:xfrm>
            <a:off x="10972800" y="228600"/>
            <a:ext cx="914400" cy="3201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14 / 16</a:t>
            </a:r>
            <a:endParaRPr sz="1000">
              <a:solidFill>
                <a:schemeClr val="dk1"/>
              </a:solidFill>
              <a:latin typeface="Calibri"/>
              <a:ea typeface="Calibri"/>
              <a:cs typeface="Calibri"/>
              <a:sym typeface="Calibri"/>
            </a:endParaRPr>
          </a:p>
        </p:txBody>
      </p:sp>
      <p:sp>
        <p:nvSpPr>
          <p:cNvPr id="529" name="Google Shape;529;g3dbedb9dc74_0_49"/>
          <p:cNvSpPr/>
          <p:nvPr/>
        </p:nvSpPr>
        <p:spPr>
          <a:xfrm>
            <a:off x="457200" y="502925"/>
            <a:ext cx="11124300" cy="731400"/>
          </a:xfrm>
          <a:prstGeom prst="rect">
            <a:avLst/>
          </a:prstGeom>
          <a:noFill/>
          <a:ln>
            <a:noFill/>
          </a:ln>
        </p:spPr>
        <p:txBody>
          <a:bodyPr spcFirstLastPara="1" wrap="square" lIns="0" tIns="0" rIns="0" bIns="0" anchor="ctr" anchorCtr="0">
            <a:noAutofit/>
          </a:bodyPr>
          <a:lstStyle/>
          <a:p>
            <a:pPr marL="0" lvl="0" indent="0" algn="l" rtl="0">
              <a:spcBef>
                <a:spcPts val="1400"/>
              </a:spcBef>
              <a:spcAft>
                <a:spcPts val="700"/>
              </a:spcAft>
              <a:buClr>
                <a:schemeClr val="dk1"/>
              </a:buClr>
              <a:buSzPts val="1100"/>
              <a:buFont typeface="Arial"/>
              <a:buNone/>
            </a:pPr>
            <a:r>
              <a:rPr lang="en-US" sz="3800" b="1">
                <a:solidFill>
                  <a:srgbClr val="21295C"/>
                </a:solidFill>
                <a:latin typeface="Times New Roman"/>
                <a:ea typeface="Times New Roman"/>
                <a:cs typeface="Times New Roman"/>
                <a:sym typeface="Times New Roman"/>
              </a:rPr>
              <a:t>Comparaison étendue avec la littérature</a:t>
            </a:r>
            <a:endParaRPr sz="7000">
              <a:solidFill>
                <a:srgbClr val="21295C"/>
              </a:solidFill>
              <a:latin typeface="Calibri"/>
              <a:ea typeface="Calibri"/>
              <a:cs typeface="Calibri"/>
              <a:sym typeface="Calibri"/>
            </a:endParaRPr>
          </a:p>
        </p:txBody>
      </p:sp>
      <p:sp>
        <p:nvSpPr>
          <p:cNvPr id="530" name="Google Shape;530;g3dbedb9dc74_0_49"/>
          <p:cNvSpPr/>
          <p:nvPr/>
        </p:nvSpPr>
        <p:spPr>
          <a:xfrm>
            <a:off x="457200" y="6537960"/>
            <a:ext cx="112470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Prédiction âge biologique · Méthylation ADN · Master UCA 2025-2026</a:t>
            </a:r>
            <a:endParaRPr sz="900">
              <a:solidFill>
                <a:schemeClr val="dk1"/>
              </a:solidFill>
              <a:latin typeface="Calibri"/>
              <a:ea typeface="Calibri"/>
              <a:cs typeface="Calibri"/>
              <a:sym typeface="Calibri"/>
            </a:endParaRPr>
          </a:p>
        </p:txBody>
      </p:sp>
      <p:pic>
        <p:nvPicPr>
          <p:cNvPr id="531" name="Google Shape;531;g3dbedb9dc74_0_49"/>
          <p:cNvPicPr preferRelativeResize="0"/>
          <p:nvPr/>
        </p:nvPicPr>
        <p:blipFill>
          <a:blip r:embed="rId3">
            <a:alphaModFix/>
          </a:blip>
          <a:stretch>
            <a:fillRect/>
          </a:stretch>
        </p:blipFill>
        <p:spPr>
          <a:xfrm>
            <a:off x="640200" y="1491550"/>
            <a:ext cx="11247000" cy="475418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36"/>
        <p:cNvGrpSpPr/>
        <p:nvPr/>
      </p:nvGrpSpPr>
      <p:grpSpPr>
        <a:xfrm>
          <a:off x="0" y="0"/>
          <a:ext cx="0" cy="0"/>
          <a:chOff x="0" y="0"/>
          <a:chExt cx="0" cy="0"/>
        </a:xfrm>
      </p:grpSpPr>
      <p:sp>
        <p:nvSpPr>
          <p:cNvPr id="537" name="Google Shape;537;p16"/>
          <p:cNvSpPr/>
          <p:nvPr/>
        </p:nvSpPr>
        <p:spPr>
          <a:xfrm>
            <a:off x="457200" y="228600"/>
            <a:ext cx="914400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C7293"/>
              </a:buClr>
              <a:buSzPts val="1100"/>
              <a:buFont typeface="Calibri"/>
              <a:buNone/>
            </a:pPr>
            <a:r>
              <a:rPr lang="en-US" sz="1100" b="1">
                <a:solidFill>
                  <a:srgbClr val="1C7293"/>
                </a:solidFill>
                <a:latin typeface="Calibri"/>
                <a:ea typeface="Calibri"/>
                <a:cs typeface="Calibri"/>
                <a:sym typeface="Calibri"/>
              </a:rPr>
              <a:t>PARTIE VII · CONCLUSION</a:t>
            </a:r>
            <a:endParaRPr sz="1100">
              <a:solidFill>
                <a:schemeClr val="dk1"/>
              </a:solidFill>
              <a:latin typeface="Calibri"/>
              <a:ea typeface="Calibri"/>
              <a:cs typeface="Calibri"/>
              <a:sym typeface="Calibri"/>
            </a:endParaRPr>
          </a:p>
        </p:txBody>
      </p:sp>
      <p:sp>
        <p:nvSpPr>
          <p:cNvPr id="538" name="Google Shape;538;p16"/>
          <p:cNvSpPr/>
          <p:nvPr/>
        </p:nvSpPr>
        <p:spPr>
          <a:xfrm>
            <a:off x="10972800" y="228600"/>
            <a:ext cx="914400" cy="32004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15 / 16</a:t>
            </a:r>
            <a:endParaRPr sz="1000">
              <a:solidFill>
                <a:schemeClr val="dk1"/>
              </a:solidFill>
              <a:latin typeface="Calibri"/>
              <a:ea typeface="Calibri"/>
              <a:cs typeface="Calibri"/>
              <a:sym typeface="Calibri"/>
            </a:endParaRPr>
          </a:p>
        </p:txBody>
      </p:sp>
      <p:sp>
        <p:nvSpPr>
          <p:cNvPr id="539" name="Google Shape;539;p16"/>
          <p:cNvSpPr/>
          <p:nvPr/>
        </p:nvSpPr>
        <p:spPr>
          <a:xfrm>
            <a:off x="457200" y="502920"/>
            <a:ext cx="1124712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3000"/>
              <a:buFont typeface="Georgia"/>
              <a:buNone/>
            </a:pPr>
            <a:r>
              <a:rPr lang="en-US" sz="3000" b="1">
                <a:solidFill>
                  <a:srgbClr val="21295C"/>
                </a:solidFill>
                <a:latin typeface="Georgia"/>
                <a:ea typeface="Georgia"/>
                <a:cs typeface="Georgia"/>
                <a:sym typeface="Georgia"/>
              </a:rPr>
              <a:t>Synthèse &amp; perspectives</a:t>
            </a:r>
            <a:endParaRPr sz="3000">
              <a:solidFill>
                <a:schemeClr val="dk1"/>
              </a:solidFill>
              <a:latin typeface="Calibri"/>
              <a:ea typeface="Calibri"/>
              <a:cs typeface="Calibri"/>
              <a:sym typeface="Calibri"/>
            </a:endParaRPr>
          </a:p>
        </p:txBody>
      </p:sp>
      <p:sp>
        <p:nvSpPr>
          <p:cNvPr id="540" name="Google Shape;540;p16"/>
          <p:cNvSpPr/>
          <p:nvPr/>
        </p:nvSpPr>
        <p:spPr>
          <a:xfrm>
            <a:off x="457200" y="6537960"/>
            <a:ext cx="1124712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Prédiction âge biologique · Méthylation ADN · Master 1 UCA 2025-2026</a:t>
            </a:r>
            <a:endParaRPr sz="900">
              <a:solidFill>
                <a:schemeClr val="dk1"/>
              </a:solidFill>
              <a:latin typeface="Calibri"/>
              <a:ea typeface="Calibri"/>
              <a:cs typeface="Calibri"/>
              <a:sym typeface="Calibri"/>
            </a:endParaRPr>
          </a:p>
        </p:txBody>
      </p:sp>
      <p:sp>
        <p:nvSpPr>
          <p:cNvPr id="541" name="Google Shape;541;p16"/>
          <p:cNvSpPr/>
          <p:nvPr/>
        </p:nvSpPr>
        <p:spPr>
          <a:xfrm>
            <a:off x="640080" y="1417320"/>
            <a:ext cx="5486400" cy="4846320"/>
          </a:xfrm>
          <a:prstGeom prst="rect">
            <a:avLst/>
          </a:prstGeom>
          <a:solidFill>
            <a:srgbClr val="F4F7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16"/>
          <p:cNvSpPr/>
          <p:nvPr/>
        </p:nvSpPr>
        <p:spPr>
          <a:xfrm>
            <a:off x="822960" y="1554480"/>
            <a:ext cx="521208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2B705"/>
              </a:buClr>
              <a:buSzPts val="1200"/>
              <a:buFont typeface="Calibri"/>
              <a:buNone/>
            </a:pPr>
            <a:r>
              <a:rPr lang="en-US" sz="1200" b="1">
                <a:solidFill>
                  <a:srgbClr val="F2B705"/>
                </a:solidFill>
                <a:latin typeface="Calibri"/>
                <a:ea typeface="Calibri"/>
                <a:cs typeface="Calibri"/>
                <a:sym typeface="Calibri"/>
              </a:rPr>
              <a:t>CE QU'ON RETIENT</a:t>
            </a:r>
            <a:endParaRPr sz="1200">
              <a:solidFill>
                <a:schemeClr val="dk1"/>
              </a:solidFill>
              <a:latin typeface="Calibri"/>
              <a:ea typeface="Calibri"/>
              <a:cs typeface="Calibri"/>
              <a:sym typeface="Calibri"/>
            </a:endParaRPr>
          </a:p>
        </p:txBody>
      </p:sp>
      <p:sp>
        <p:nvSpPr>
          <p:cNvPr id="543" name="Google Shape;543;p16"/>
          <p:cNvSpPr/>
          <p:nvPr/>
        </p:nvSpPr>
        <p:spPr>
          <a:xfrm>
            <a:off x="868680" y="2011680"/>
            <a:ext cx="5120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100"/>
              <a:buFont typeface="Calibri"/>
              <a:buNone/>
            </a:pPr>
            <a:r>
              <a:rPr lang="en-US" sz="1100" b="1">
                <a:solidFill>
                  <a:srgbClr val="64748B"/>
                </a:solidFill>
                <a:latin typeface="Calibri"/>
                <a:ea typeface="Calibri"/>
                <a:cs typeface="Calibri"/>
                <a:sym typeface="Calibri"/>
              </a:rPr>
              <a:t>Meilleur modèle</a:t>
            </a:r>
            <a:endParaRPr sz="1100">
              <a:solidFill>
                <a:schemeClr val="dk1"/>
              </a:solidFill>
              <a:latin typeface="Calibri"/>
              <a:ea typeface="Calibri"/>
              <a:cs typeface="Calibri"/>
              <a:sym typeface="Calibri"/>
            </a:endParaRPr>
          </a:p>
        </p:txBody>
      </p:sp>
      <p:sp>
        <p:nvSpPr>
          <p:cNvPr id="544" name="Google Shape;544;p16"/>
          <p:cNvSpPr/>
          <p:nvPr/>
        </p:nvSpPr>
        <p:spPr>
          <a:xfrm>
            <a:off x="868680" y="2267712"/>
            <a:ext cx="51206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300"/>
              <a:buFont typeface="Calibri"/>
              <a:buNone/>
            </a:pPr>
            <a:r>
              <a:rPr lang="en-US" sz="1300" b="1">
                <a:solidFill>
                  <a:srgbClr val="21295C"/>
                </a:solidFill>
                <a:latin typeface="Calibri"/>
                <a:ea typeface="Calibri"/>
                <a:cs typeface="Calibri"/>
                <a:sym typeface="Calibri"/>
              </a:rPr>
              <a:t>Stacking — MAE 3,21  ans · R² 0,95</a:t>
            </a:r>
            <a:endParaRPr sz="1300">
              <a:solidFill>
                <a:schemeClr val="dk1"/>
              </a:solidFill>
              <a:latin typeface="Calibri"/>
              <a:ea typeface="Calibri"/>
              <a:cs typeface="Calibri"/>
              <a:sym typeface="Calibri"/>
            </a:endParaRPr>
          </a:p>
        </p:txBody>
      </p:sp>
      <p:cxnSp>
        <p:nvCxnSpPr>
          <p:cNvPr id="545" name="Google Shape;545;p16"/>
          <p:cNvCxnSpPr/>
          <p:nvPr/>
        </p:nvCxnSpPr>
        <p:spPr>
          <a:xfrm>
            <a:off x="868680" y="2761488"/>
            <a:ext cx="5120640" cy="0"/>
          </a:xfrm>
          <a:prstGeom prst="straightConnector1">
            <a:avLst/>
          </a:prstGeom>
          <a:noFill/>
          <a:ln w="9525" cap="flat" cmpd="sng">
            <a:solidFill>
              <a:srgbClr val="E2E8F0"/>
            </a:solidFill>
            <a:prstDash val="solid"/>
            <a:round/>
            <a:headEnd type="none" w="sm" len="sm"/>
            <a:tailEnd type="none" w="sm" len="sm"/>
          </a:ln>
        </p:spPr>
      </p:cxnSp>
      <p:sp>
        <p:nvSpPr>
          <p:cNvPr id="546" name="Google Shape;546;p16"/>
          <p:cNvSpPr/>
          <p:nvPr/>
        </p:nvSpPr>
        <p:spPr>
          <a:xfrm>
            <a:off x="868680" y="2834640"/>
            <a:ext cx="5120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100"/>
              <a:buFont typeface="Calibri"/>
              <a:buNone/>
            </a:pPr>
            <a:r>
              <a:rPr lang="en-US" sz="1100" b="1">
                <a:solidFill>
                  <a:srgbClr val="64748B"/>
                </a:solidFill>
                <a:latin typeface="Calibri"/>
                <a:ea typeface="Calibri"/>
                <a:cs typeface="Calibri"/>
                <a:sym typeface="Calibri"/>
              </a:rPr>
              <a:t>Meilleur mono-modèle</a:t>
            </a:r>
            <a:endParaRPr sz="1100">
              <a:solidFill>
                <a:schemeClr val="dk1"/>
              </a:solidFill>
              <a:latin typeface="Calibri"/>
              <a:ea typeface="Calibri"/>
              <a:cs typeface="Calibri"/>
              <a:sym typeface="Calibri"/>
            </a:endParaRPr>
          </a:p>
        </p:txBody>
      </p:sp>
      <p:sp>
        <p:nvSpPr>
          <p:cNvPr id="547" name="Google Shape;547;p16"/>
          <p:cNvSpPr/>
          <p:nvPr/>
        </p:nvSpPr>
        <p:spPr>
          <a:xfrm>
            <a:off x="868680" y="3090672"/>
            <a:ext cx="51206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300"/>
              <a:buFont typeface="Calibri"/>
              <a:buNone/>
            </a:pPr>
            <a:r>
              <a:rPr lang="en-US" sz="1300" b="1">
                <a:solidFill>
                  <a:srgbClr val="21295C"/>
                </a:solidFill>
                <a:latin typeface="Calibri"/>
                <a:ea typeface="Calibri"/>
                <a:cs typeface="Calibri"/>
                <a:sym typeface="Calibri"/>
              </a:rPr>
              <a:t>ElasticNet — MAE 3,41 ans (528 CpG)</a:t>
            </a:r>
            <a:endParaRPr sz="1300">
              <a:solidFill>
                <a:schemeClr val="dk1"/>
              </a:solidFill>
              <a:latin typeface="Calibri"/>
              <a:ea typeface="Calibri"/>
              <a:cs typeface="Calibri"/>
              <a:sym typeface="Calibri"/>
            </a:endParaRPr>
          </a:p>
        </p:txBody>
      </p:sp>
      <p:cxnSp>
        <p:nvCxnSpPr>
          <p:cNvPr id="548" name="Google Shape;548;p16"/>
          <p:cNvCxnSpPr/>
          <p:nvPr/>
        </p:nvCxnSpPr>
        <p:spPr>
          <a:xfrm>
            <a:off x="868680" y="3584448"/>
            <a:ext cx="5120640" cy="0"/>
          </a:xfrm>
          <a:prstGeom prst="straightConnector1">
            <a:avLst/>
          </a:prstGeom>
          <a:noFill/>
          <a:ln w="9525" cap="flat" cmpd="sng">
            <a:solidFill>
              <a:srgbClr val="E2E8F0"/>
            </a:solidFill>
            <a:prstDash val="solid"/>
            <a:round/>
            <a:headEnd type="none" w="sm" len="sm"/>
            <a:tailEnd type="none" w="sm" len="sm"/>
          </a:ln>
        </p:spPr>
      </p:cxnSp>
      <p:sp>
        <p:nvSpPr>
          <p:cNvPr id="549" name="Google Shape;549;p16"/>
          <p:cNvSpPr/>
          <p:nvPr/>
        </p:nvSpPr>
        <p:spPr>
          <a:xfrm>
            <a:off x="868680" y="3657600"/>
            <a:ext cx="5120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100"/>
              <a:buFont typeface="Calibri"/>
              <a:buNone/>
            </a:pPr>
            <a:r>
              <a:rPr lang="en-US" sz="1100" b="1">
                <a:solidFill>
                  <a:srgbClr val="64748B"/>
                </a:solidFill>
                <a:latin typeface="Calibri"/>
                <a:ea typeface="Calibri"/>
                <a:cs typeface="Calibri"/>
                <a:sym typeface="Calibri"/>
              </a:rPr>
              <a:t>Modèle le plus parcimonieux</a:t>
            </a:r>
            <a:endParaRPr sz="1100">
              <a:solidFill>
                <a:schemeClr val="dk1"/>
              </a:solidFill>
              <a:latin typeface="Calibri"/>
              <a:ea typeface="Calibri"/>
              <a:cs typeface="Calibri"/>
              <a:sym typeface="Calibri"/>
            </a:endParaRPr>
          </a:p>
        </p:txBody>
      </p:sp>
      <p:sp>
        <p:nvSpPr>
          <p:cNvPr id="550" name="Google Shape;550;p16"/>
          <p:cNvSpPr/>
          <p:nvPr/>
        </p:nvSpPr>
        <p:spPr>
          <a:xfrm>
            <a:off x="868680" y="3913632"/>
            <a:ext cx="51206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300"/>
              <a:buFont typeface="Calibri"/>
              <a:buNone/>
            </a:pPr>
            <a:r>
              <a:rPr lang="en-US" sz="1300" b="1">
                <a:solidFill>
                  <a:srgbClr val="21295C"/>
                </a:solidFill>
                <a:latin typeface="Calibri"/>
                <a:ea typeface="Calibri"/>
                <a:cs typeface="Calibri"/>
                <a:sym typeface="Calibri"/>
              </a:rPr>
              <a:t>LASSO — 98 CpG seulement</a:t>
            </a:r>
            <a:endParaRPr sz="1300">
              <a:solidFill>
                <a:schemeClr val="dk1"/>
              </a:solidFill>
              <a:latin typeface="Calibri"/>
              <a:ea typeface="Calibri"/>
              <a:cs typeface="Calibri"/>
              <a:sym typeface="Calibri"/>
            </a:endParaRPr>
          </a:p>
        </p:txBody>
      </p:sp>
      <p:cxnSp>
        <p:nvCxnSpPr>
          <p:cNvPr id="551" name="Google Shape;551;p16"/>
          <p:cNvCxnSpPr/>
          <p:nvPr/>
        </p:nvCxnSpPr>
        <p:spPr>
          <a:xfrm>
            <a:off x="868680" y="4407408"/>
            <a:ext cx="5120640" cy="0"/>
          </a:xfrm>
          <a:prstGeom prst="straightConnector1">
            <a:avLst/>
          </a:prstGeom>
          <a:noFill/>
          <a:ln w="9525" cap="flat" cmpd="sng">
            <a:solidFill>
              <a:srgbClr val="E2E8F0"/>
            </a:solidFill>
            <a:prstDash val="solid"/>
            <a:round/>
            <a:headEnd type="none" w="sm" len="sm"/>
            <a:tailEnd type="none" w="sm" len="sm"/>
          </a:ln>
        </p:spPr>
      </p:cxnSp>
      <p:sp>
        <p:nvSpPr>
          <p:cNvPr id="552" name="Google Shape;552;p16"/>
          <p:cNvSpPr/>
          <p:nvPr/>
        </p:nvSpPr>
        <p:spPr>
          <a:xfrm>
            <a:off x="868680" y="4480560"/>
            <a:ext cx="5120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100"/>
              <a:buFont typeface="Calibri"/>
              <a:buNone/>
            </a:pPr>
            <a:r>
              <a:rPr lang="en-US" sz="1100" b="1">
                <a:solidFill>
                  <a:srgbClr val="64748B"/>
                </a:solidFill>
                <a:latin typeface="Calibri"/>
                <a:ea typeface="Calibri"/>
                <a:cs typeface="Calibri"/>
                <a:sym typeface="Calibri"/>
              </a:rPr>
              <a:t>Prédiction robuste ≤ 10 ans</a:t>
            </a:r>
            <a:endParaRPr sz="1100">
              <a:solidFill>
                <a:schemeClr val="dk1"/>
              </a:solidFill>
              <a:latin typeface="Calibri"/>
              <a:ea typeface="Calibri"/>
              <a:cs typeface="Calibri"/>
              <a:sym typeface="Calibri"/>
            </a:endParaRPr>
          </a:p>
        </p:txBody>
      </p:sp>
      <p:sp>
        <p:nvSpPr>
          <p:cNvPr id="553" name="Google Shape;553;p16"/>
          <p:cNvSpPr/>
          <p:nvPr/>
        </p:nvSpPr>
        <p:spPr>
          <a:xfrm>
            <a:off x="868680" y="4736592"/>
            <a:ext cx="51206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300"/>
              <a:buFont typeface="Calibri"/>
              <a:buNone/>
            </a:pPr>
            <a:r>
              <a:rPr lang="en-US" sz="1300" b="1">
                <a:solidFill>
                  <a:srgbClr val="21295C"/>
                </a:solidFill>
                <a:latin typeface="Calibri"/>
                <a:ea typeface="Calibri"/>
                <a:cs typeface="Calibri"/>
                <a:sym typeface="Calibri"/>
              </a:rPr>
              <a:t>95 % des sujets du test</a:t>
            </a:r>
            <a:endParaRPr sz="1300">
              <a:solidFill>
                <a:schemeClr val="dk1"/>
              </a:solidFill>
              <a:latin typeface="Calibri"/>
              <a:ea typeface="Calibri"/>
              <a:cs typeface="Calibri"/>
              <a:sym typeface="Calibri"/>
            </a:endParaRPr>
          </a:p>
        </p:txBody>
      </p:sp>
      <p:cxnSp>
        <p:nvCxnSpPr>
          <p:cNvPr id="554" name="Google Shape;554;p16"/>
          <p:cNvCxnSpPr/>
          <p:nvPr/>
        </p:nvCxnSpPr>
        <p:spPr>
          <a:xfrm>
            <a:off x="868680" y="5230368"/>
            <a:ext cx="5120640" cy="0"/>
          </a:xfrm>
          <a:prstGeom prst="straightConnector1">
            <a:avLst/>
          </a:prstGeom>
          <a:noFill/>
          <a:ln w="9525" cap="flat" cmpd="sng">
            <a:solidFill>
              <a:srgbClr val="E2E8F0"/>
            </a:solidFill>
            <a:prstDash val="solid"/>
            <a:round/>
            <a:headEnd type="none" w="sm" len="sm"/>
            <a:tailEnd type="none" w="sm" len="sm"/>
          </a:ln>
        </p:spPr>
      </p:cxnSp>
      <p:sp>
        <p:nvSpPr>
          <p:cNvPr id="555" name="Google Shape;555;p16"/>
          <p:cNvSpPr/>
          <p:nvPr/>
        </p:nvSpPr>
        <p:spPr>
          <a:xfrm>
            <a:off x="868680" y="5303520"/>
            <a:ext cx="5120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100"/>
              <a:buFont typeface="Calibri"/>
              <a:buNone/>
            </a:pPr>
            <a:r>
              <a:rPr lang="en-US" sz="1100" b="1">
                <a:solidFill>
                  <a:srgbClr val="64748B"/>
                </a:solidFill>
                <a:latin typeface="Calibri"/>
                <a:ea typeface="Calibri"/>
                <a:cs typeface="Calibri"/>
                <a:sym typeface="Calibri"/>
              </a:rPr>
              <a:t>Robustesse CpG manquants</a:t>
            </a:r>
            <a:endParaRPr sz="1100">
              <a:solidFill>
                <a:schemeClr val="dk1"/>
              </a:solidFill>
              <a:latin typeface="Calibri"/>
              <a:ea typeface="Calibri"/>
              <a:cs typeface="Calibri"/>
              <a:sym typeface="Calibri"/>
            </a:endParaRPr>
          </a:p>
        </p:txBody>
      </p:sp>
      <p:sp>
        <p:nvSpPr>
          <p:cNvPr id="556" name="Google Shape;556;p16"/>
          <p:cNvSpPr/>
          <p:nvPr/>
        </p:nvSpPr>
        <p:spPr>
          <a:xfrm>
            <a:off x="868680" y="5559552"/>
            <a:ext cx="51206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1295C"/>
              </a:buClr>
              <a:buSzPts val="1300"/>
              <a:buFont typeface="Calibri"/>
              <a:buNone/>
            </a:pPr>
            <a:r>
              <a:rPr lang="en-US" sz="1300" b="1">
                <a:solidFill>
                  <a:srgbClr val="21295C"/>
                </a:solidFill>
                <a:latin typeface="Calibri"/>
                <a:ea typeface="Calibri"/>
                <a:cs typeface="Calibri"/>
                <a:sym typeface="Calibri"/>
              </a:rPr>
              <a:t>Ridge &gt; XGBoost à toutes les dégradations</a:t>
            </a:r>
            <a:endParaRPr sz="1300">
              <a:solidFill>
                <a:schemeClr val="dk1"/>
              </a:solidFill>
              <a:latin typeface="Calibri"/>
              <a:ea typeface="Calibri"/>
              <a:cs typeface="Calibri"/>
              <a:sym typeface="Calibri"/>
            </a:endParaRPr>
          </a:p>
        </p:txBody>
      </p:sp>
      <p:sp>
        <p:nvSpPr>
          <p:cNvPr id="557" name="Google Shape;557;p16"/>
          <p:cNvSpPr/>
          <p:nvPr/>
        </p:nvSpPr>
        <p:spPr>
          <a:xfrm>
            <a:off x="6400800" y="1417320"/>
            <a:ext cx="5486400" cy="4846320"/>
          </a:xfrm>
          <a:prstGeom prst="rect">
            <a:avLst/>
          </a:prstGeom>
          <a:solidFill>
            <a:srgbClr val="2129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6"/>
          <p:cNvSpPr/>
          <p:nvPr/>
        </p:nvSpPr>
        <p:spPr>
          <a:xfrm>
            <a:off x="6583680" y="1554480"/>
            <a:ext cx="521208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2B705"/>
              </a:buClr>
              <a:buSzPts val="1200"/>
              <a:buFont typeface="Calibri"/>
              <a:buNone/>
            </a:pPr>
            <a:r>
              <a:rPr lang="en-US" sz="1200" b="1">
                <a:solidFill>
                  <a:srgbClr val="F2B705"/>
                </a:solidFill>
                <a:latin typeface="Calibri"/>
                <a:ea typeface="Calibri"/>
                <a:cs typeface="Calibri"/>
                <a:sym typeface="Calibri"/>
              </a:rPr>
              <a:t>PERSPECTIVES</a:t>
            </a:r>
            <a:endParaRPr sz="1200">
              <a:solidFill>
                <a:schemeClr val="dk1"/>
              </a:solidFill>
              <a:latin typeface="Calibri"/>
              <a:ea typeface="Calibri"/>
              <a:cs typeface="Calibri"/>
              <a:sym typeface="Calibri"/>
            </a:endParaRPr>
          </a:p>
        </p:txBody>
      </p:sp>
      <p:sp>
        <p:nvSpPr>
          <p:cNvPr id="559" name="Google Shape;559;p16"/>
          <p:cNvSpPr/>
          <p:nvPr/>
        </p:nvSpPr>
        <p:spPr>
          <a:xfrm>
            <a:off x="6583680" y="2057400"/>
            <a:ext cx="73152" cy="685800"/>
          </a:xfrm>
          <a:prstGeom prst="rect">
            <a:avLst/>
          </a:prstGeom>
          <a:solidFill>
            <a:srgbClr val="F2B7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6"/>
          <p:cNvSpPr/>
          <p:nvPr/>
        </p:nvSpPr>
        <p:spPr>
          <a:xfrm>
            <a:off x="6766560" y="2057400"/>
            <a:ext cx="5029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Passer aux 894k CpG</a:t>
            </a:r>
            <a:endParaRPr sz="1200">
              <a:solidFill>
                <a:schemeClr val="dk1"/>
              </a:solidFill>
              <a:latin typeface="Calibri"/>
              <a:ea typeface="Calibri"/>
              <a:cs typeface="Calibri"/>
              <a:sym typeface="Calibri"/>
            </a:endParaRPr>
          </a:p>
        </p:txBody>
      </p:sp>
      <p:sp>
        <p:nvSpPr>
          <p:cNvPr id="561" name="Google Shape;561;p16"/>
          <p:cNvSpPr/>
          <p:nvPr/>
        </p:nvSpPr>
        <p:spPr>
          <a:xfrm>
            <a:off x="6766560" y="2313432"/>
            <a:ext cx="50292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ADCFC"/>
              </a:buClr>
              <a:buSzPts val="1050"/>
              <a:buFont typeface="Calibri"/>
              <a:buNone/>
            </a:pPr>
            <a:r>
              <a:rPr lang="en-US" sz="1050" i="1">
                <a:solidFill>
                  <a:srgbClr val="CADCFC"/>
                </a:solidFill>
                <a:latin typeface="Calibri"/>
                <a:ea typeface="Calibri"/>
                <a:cs typeface="Calibri"/>
                <a:sym typeface="Calibri"/>
              </a:rPr>
              <a:t>Reproduire le pipeline sur la matrice complète avec un filtre univarié préalable.</a:t>
            </a:r>
            <a:endParaRPr sz="1050">
              <a:solidFill>
                <a:schemeClr val="dk1"/>
              </a:solidFill>
              <a:latin typeface="Calibri"/>
              <a:ea typeface="Calibri"/>
              <a:cs typeface="Calibri"/>
              <a:sym typeface="Calibri"/>
            </a:endParaRPr>
          </a:p>
        </p:txBody>
      </p:sp>
      <p:sp>
        <p:nvSpPr>
          <p:cNvPr id="562" name="Google Shape;562;p16"/>
          <p:cNvSpPr/>
          <p:nvPr/>
        </p:nvSpPr>
        <p:spPr>
          <a:xfrm>
            <a:off x="6583680" y="2834640"/>
            <a:ext cx="73152" cy="685800"/>
          </a:xfrm>
          <a:prstGeom prst="rect">
            <a:avLst/>
          </a:prstGeom>
          <a:solidFill>
            <a:srgbClr val="F2B7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16"/>
          <p:cNvSpPr/>
          <p:nvPr/>
        </p:nvSpPr>
        <p:spPr>
          <a:xfrm>
            <a:off x="6766560" y="2834640"/>
            <a:ext cx="5029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Comparer aux horloges publiées</a:t>
            </a:r>
            <a:endParaRPr sz="1200">
              <a:solidFill>
                <a:schemeClr val="dk1"/>
              </a:solidFill>
              <a:latin typeface="Calibri"/>
              <a:ea typeface="Calibri"/>
              <a:cs typeface="Calibri"/>
              <a:sym typeface="Calibri"/>
            </a:endParaRPr>
          </a:p>
        </p:txBody>
      </p:sp>
      <p:sp>
        <p:nvSpPr>
          <p:cNvPr id="564" name="Google Shape;564;p16"/>
          <p:cNvSpPr/>
          <p:nvPr/>
        </p:nvSpPr>
        <p:spPr>
          <a:xfrm>
            <a:off x="6766560" y="3090672"/>
            <a:ext cx="50292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ADCFC"/>
              </a:buClr>
              <a:buSzPts val="1050"/>
              <a:buFont typeface="Calibri"/>
              <a:buNone/>
            </a:pPr>
            <a:r>
              <a:rPr lang="en-US" sz="1050" i="1">
                <a:solidFill>
                  <a:srgbClr val="CADCFC"/>
                </a:solidFill>
                <a:latin typeface="Calibri"/>
                <a:ea typeface="Calibri"/>
                <a:cs typeface="Calibri"/>
                <a:sym typeface="Calibri"/>
              </a:rPr>
              <a:t>Horvath (353 CpG), Hannum, PhenoAge, GrimAge via pyaging.</a:t>
            </a:r>
            <a:endParaRPr sz="1050">
              <a:solidFill>
                <a:schemeClr val="dk1"/>
              </a:solidFill>
              <a:latin typeface="Calibri"/>
              <a:ea typeface="Calibri"/>
              <a:cs typeface="Calibri"/>
              <a:sym typeface="Calibri"/>
            </a:endParaRPr>
          </a:p>
        </p:txBody>
      </p:sp>
      <p:sp>
        <p:nvSpPr>
          <p:cNvPr id="565" name="Google Shape;565;p16"/>
          <p:cNvSpPr/>
          <p:nvPr/>
        </p:nvSpPr>
        <p:spPr>
          <a:xfrm>
            <a:off x="6583680" y="3611880"/>
            <a:ext cx="73152" cy="685800"/>
          </a:xfrm>
          <a:prstGeom prst="rect">
            <a:avLst/>
          </a:prstGeom>
          <a:solidFill>
            <a:srgbClr val="F2B7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16"/>
          <p:cNvSpPr/>
          <p:nvPr/>
        </p:nvSpPr>
        <p:spPr>
          <a:xfrm>
            <a:off x="6766560" y="3611880"/>
            <a:ext cx="5029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Intégrer le sexe et l'ethnie</a:t>
            </a:r>
            <a:endParaRPr sz="1200">
              <a:solidFill>
                <a:schemeClr val="dk1"/>
              </a:solidFill>
              <a:latin typeface="Calibri"/>
              <a:ea typeface="Calibri"/>
              <a:cs typeface="Calibri"/>
              <a:sym typeface="Calibri"/>
            </a:endParaRPr>
          </a:p>
        </p:txBody>
      </p:sp>
      <p:sp>
        <p:nvSpPr>
          <p:cNvPr id="567" name="Google Shape;567;p16"/>
          <p:cNvSpPr/>
          <p:nvPr/>
        </p:nvSpPr>
        <p:spPr>
          <a:xfrm>
            <a:off x="6766560" y="3867912"/>
            <a:ext cx="50292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ADCFC"/>
              </a:buClr>
              <a:buSzPts val="1050"/>
              <a:buFont typeface="Calibri"/>
              <a:buNone/>
            </a:pPr>
            <a:r>
              <a:rPr lang="en-US" sz="1050" i="1">
                <a:solidFill>
                  <a:srgbClr val="CADCFC"/>
                </a:solidFill>
                <a:latin typeface="Calibri"/>
                <a:ea typeface="Calibri"/>
                <a:cs typeface="Calibri"/>
                <a:sym typeface="Calibri"/>
              </a:rPr>
              <a:t>Tester des modèles stratifiés ou avec interactions explicites.</a:t>
            </a:r>
            <a:endParaRPr sz="1050">
              <a:solidFill>
                <a:schemeClr val="dk1"/>
              </a:solidFill>
              <a:latin typeface="Calibri"/>
              <a:ea typeface="Calibri"/>
              <a:cs typeface="Calibri"/>
              <a:sym typeface="Calibri"/>
            </a:endParaRPr>
          </a:p>
        </p:txBody>
      </p:sp>
      <p:sp>
        <p:nvSpPr>
          <p:cNvPr id="568" name="Google Shape;568;p16"/>
          <p:cNvSpPr/>
          <p:nvPr/>
        </p:nvSpPr>
        <p:spPr>
          <a:xfrm>
            <a:off x="6583680" y="4389120"/>
            <a:ext cx="73152" cy="685800"/>
          </a:xfrm>
          <a:prstGeom prst="rect">
            <a:avLst/>
          </a:prstGeom>
          <a:solidFill>
            <a:srgbClr val="F2B7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16"/>
          <p:cNvSpPr/>
          <p:nvPr/>
        </p:nvSpPr>
        <p:spPr>
          <a:xfrm>
            <a:off x="6766560" y="4389120"/>
            <a:ext cx="5029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Imputation plus fine</a:t>
            </a:r>
            <a:endParaRPr sz="1200">
              <a:solidFill>
                <a:schemeClr val="dk1"/>
              </a:solidFill>
              <a:latin typeface="Calibri"/>
              <a:ea typeface="Calibri"/>
              <a:cs typeface="Calibri"/>
              <a:sym typeface="Calibri"/>
            </a:endParaRPr>
          </a:p>
        </p:txBody>
      </p:sp>
      <p:sp>
        <p:nvSpPr>
          <p:cNvPr id="570" name="Google Shape;570;p16"/>
          <p:cNvSpPr/>
          <p:nvPr/>
        </p:nvSpPr>
        <p:spPr>
          <a:xfrm>
            <a:off x="6766560" y="4645152"/>
            <a:ext cx="50292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ADCFC"/>
              </a:buClr>
              <a:buSzPts val="1050"/>
              <a:buFont typeface="Calibri"/>
              <a:buNone/>
            </a:pPr>
            <a:r>
              <a:rPr lang="en-US" sz="1050" i="1">
                <a:solidFill>
                  <a:srgbClr val="CADCFC"/>
                </a:solidFill>
                <a:latin typeface="Calibri"/>
                <a:ea typeface="Calibri"/>
                <a:cs typeface="Calibri"/>
                <a:sym typeface="Calibri"/>
              </a:rPr>
              <a:t>KNN par CpG corrélé · ou XGBoost avec gestion native des NA pour tous les modèles.</a:t>
            </a:r>
            <a:endParaRPr sz="1050">
              <a:solidFill>
                <a:schemeClr val="dk1"/>
              </a:solidFill>
              <a:latin typeface="Calibri"/>
              <a:ea typeface="Calibri"/>
              <a:cs typeface="Calibri"/>
              <a:sym typeface="Calibri"/>
            </a:endParaRPr>
          </a:p>
        </p:txBody>
      </p:sp>
      <p:sp>
        <p:nvSpPr>
          <p:cNvPr id="571" name="Google Shape;571;p16"/>
          <p:cNvSpPr/>
          <p:nvPr/>
        </p:nvSpPr>
        <p:spPr>
          <a:xfrm>
            <a:off x="6583680" y="5166360"/>
            <a:ext cx="73152" cy="685800"/>
          </a:xfrm>
          <a:prstGeom prst="rect">
            <a:avLst/>
          </a:prstGeom>
          <a:solidFill>
            <a:srgbClr val="F2B7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16"/>
          <p:cNvSpPr/>
          <p:nvPr/>
        </p:nvSpPr>
        <p:spPr>
          <a:xfrm>
            <a:off x="6766560" y="5166360"/>
            <a:ext cx="5029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Validation externe</a:t>
            </a:r>
            <a:endParaRPr sz="1200">
              <a:solidFill>
                <a:schemeClr val="dk1"/>
              </a:solidFill>
              <a:latin typeface="Calibri"/>
              <a:ea typeface="Calibri"/>
              <a:cs typeface="Calibri"/>
              <a:sym typeface="Calibri"/>
            </a:endParaRPr>
          </a:p>
        </p:txBody>
      </p:sp>
      <p:sp>
        <p:nvSpPr>
          <p:cNvPr id="573" name="Google Shape;573;p16"/>
          <p:cNvSpPr/>
          <p:nvPr/>
        </p:nvSpPr>
        <p:spPr>
          <a:xfrm>
            <a:off x="6766560" y="5422392"/>
            <a:ext cx="50292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ADCFC"/>
              </a:buClr>
              <a:buSzPts val="1050"/>
              <a:buFont typeface="Calibri"/>
              <a:buNone/>
            </a:pPr>
            <a:r>
              <a:rPr lang="en-US" sz="1050" i="1">
                <a:solidFill>
                  <a:srgbClr val="CADCFC"/>
                </a:solidFill>
                <a:latin typeface="Calibri"/>
                <a:ea typeface="Calibri"/>
                <a:cs typeface="Calibri"/>
                <a:sym typeface="Calibri"/>
              </a:rPr>
              <a:t>Tester sur une cohorte indépendante (GEO) pour mesurer la généralisation.</a:t>
            </a:r>
            <a:endParaRPr sz="105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Shape 578"/>
        <p:cNvGrpSpPr/>
        <p:nvPr/>
      </p:nvGrpSpPr>
      <p:grpSpPr>
        <a:xfrm>
          <a:off x="0" y="0"/>
          <a:ext cx="0" cy="0"/>
          <a:chOff x="0" y="0"/>
          <a:chExt cx="0" cy="0"/>
        </a:xfrm>
      </p:grpSpPr>
      <p:sp>
        <p:nvSpPr>
          <p:cNvPr id="579" name="Google Shape;579;p17"/>
          <p:cNvSpPr/>
          <p:nvPr/>
        </p:nvSpPr>
        <p:spPr>
          <a:xfrm>
            <a:off x="-1828800" y="1828800"/>
            <a:ext cx="6400800" cy="6400800"/>
          </a:xfrm>
          <a:prstGeom prst="ellipse">
            <a:avLst/>
          </a:prstGeom>
          <a:solidFill>
            <a:srgbClr val="065A82">
              <a:alpha val="5019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7"/>
          <p:cNvSpPr/>
          <p:nvPr/>
        </p:nvSpPr>
        <p:spPr>
          <a:xfrm>
            <a:off x="8229600" y="-1828800"/>
            <a:ext cx="5486400" cy="5486400"/>
          </a:xfrm>
          <a:prstGeom prst="ellipse">
            <a:avLst/>
          </a:prstGeom>
          <a:solidFill>
            <a:srgbClr val="1C7293">
              <a:alpha val="5019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7"/>
          <p:cNvSpPr/>
          <p:nvPr/>
        </p:nvSpPr>
        <p:spPr>
          <a:xfrm>
            <a:off x="0" y="2011680"/>
            <a:ext cx="12161520" cy="1645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0"/>
              <a:buFont typeface="Georgia"/>
              <a:buNone/>
            </a:pPr>
            <a:r>
              <a:rPr lang="en-US" sz="11000" b="1">
                <a:solidFill>
                  <a:srgbClr val="FFFFFF"/>
                </a:solidFill>
                <a:latin typeface="Georgia"/>
                <a:ea typeface="Georgia"/>
                <a:cs typeface="Georgia"/>
                <a:sym typeface="Georgia"/>
              </a:rPr>
              <a:t>MERCI</a:t>
            </a:r>
            <a:endParaRPr sz="11000">
              <a:solidFill>
                <a:schemeClr val="dk1"/>
              </a:solidFill>
              <a:latin typeface="Calibri"/>
              <a:ea typeface="Calibri"/>
              <a:cs typeface="Calibri"/>
              <a:sym typeface="Calibri"/>
            </a:endParaRPr>
          </a:p>
        </p:txBody>
      </p:sp>
      <p:sp>
        <p:nvSpPr>
          <p:cNvPr id="582" name="Google Shape;582;p17"/>
          <p:cNvSpPr/>
          <p:nvPr/>
        </p:nvSpPr>
        <p:spPr>
          <a:xfrm>
            <a:off x="5623560" y="3749040"/>
            <a:ext cx="914400" cy="73152"/>
          </a:xfrm>
          <a:prstGeom prst="rect">
            <a:avLst/>
          </a:prstGeom>
          <a:solidFill>
            <a:srgbClr val="F2B7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17"/>
          <p:cNvSpPr/>
          <p:nvPr/>
        </p:nvSpPr>
        <p:spPr>
          <a:xfrm>
            <a:off x="0" y="3931920"/>
            <a:ext cx="1216152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ADCFC"/>
              </a:buClr>
              <a:buSzPts val="2400"/>
              <a:buFont typeface="Georgia"/>
              <a:buNone/>
            </a:pPr>
            <a:r>
              <a:rPr lang="en-US" sz="2400" i="1">
                <a:solidFill>
                  <a:srgbClr val="CADCFC"/>
                </a:solidFill>
                <a:latin typeface="Georgia"/>
                <a:ea typeface="Georgia"/>
                <a:cs typeface="Georgia"/>
                <a:sym typeface="Georgia"/>
              </a:rPr>
              <a:t>Questions &amp; discussion</a:t>
            </a:r>
            <a:endParaRPr sz="2400">
              <a:solidFill>
                <a:schemeClr val="dk1"/>
              </a:solidFill>
              <a:latin typeface="Calibri"/>
              <a:ea typeface="Calibri"/>
              <a:cs typeface="Calibri"/>
              <a:sym typeface="Calibri"/>
            </a:endParaRPr>
          </a:p>
        </p:txBody>
      </p:sp>
      <p:sp>
        <p:nvSpPr>
          <p:cNvPr id="584" name="Google Shape;584;p17"/>
          <p:cNvSpPr/>
          <p:nvPr/>
        </p:nvSpPr>
        <p:spPr>
          <a:xfrm>
            <a:off x="0" y="5029200"/>
            <a:ext cx="1216152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2B705"/>
              </a:buClr>
              <a:buSzPts val="1400"/>
              <a:buFont typeface="Calibri"/>
              <a:buNone/>
            </a:pPr>
            <a:r>
              <a:rPr lang="en-US" sz="1400">
                <a:solidFill>
                  <a:srgbClr val="F2B705"/>
                </a:solidFill>
                <a:latin typeface="Calibri"/>
                <a:ea typeface="Calibri"/>
                <a:cs typeface="Calibri"/>
                <a:sym typeface="Calibri"/>
              </a:rPr>
              <a:t>Don De Dieu MBOUMBA   ·   Mous</a:t>
            </a:r>
            <a:r>
              <a:rPr lang="en-US">
                <a:solidFill>
                  <a:srgbClr val="F2B705"/>
                </a:solidFill>
                <a:latin typeface="Calibri"/>
                <a:ea typeface="Calibri"/>
                <a:cs typeface="Calibri"/>
                <a:sym typeface="Calibri"/>
              </a:rPr>
              <a:t>tapha Diago  ·   Baba Galle Ndiaye</a:t>
            </a:r>
            <a:endParaRPr sz="1400">
              <a:solidFill>
                <a:schemeClr val="dk1"/>
              </a:solidFill>
              <a:latin typeface="Calibri"/>
              <a:ea typeface="Calibri"/>
              <a:cs typeface="Calibri"/>
              <a:sym typeface="Calibri"/>
            </a:endParaRPr>
          </a:p>
        </p:txBody>
      </p:sp>
      <p:sp>
        <p:nvSpPr>
          <p:cNvPr id="585" name="Google Shape;585;p17"/>
          <p:cNvSpPr/>
          <p:nvPr/>
        </p:nvSpPr>
        <p:spPr>
          <a:xfrm>
            <a:off x="0" y="5486400"/>
            <a:ext cx="12161520"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AB3E8"/>
              </a:buClr>
              <a:buSzPts val="1100"/>
              <a:buFont typeface="Calibri"/>
              <a:buNone/>
            </a:pPr>
            <a:r>
              <a:rPr lang="en-US" sz="1100" i="1">
                <a:solidFill>
                  <a:srgbClr val="9AB3E8"/>
                </a:solidFill>
                <a:latin typeface="Calibri"/>
                <a:ea typeface="Calibri"/>
                <a:cs typeface="Calibri"/>
                <a:sym typeface="Calibri"/>
              </a:rPr>
              <a:t>Master UCA · 2025-2026 · Sujet : Sylvain Moinard (CHU Clermont-Ferrand)</a:t>
            </a:r>
            <a:endParaRPr sz="11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2000</Words>
  <Application>Microsoft Office PowerPoint</Application>
  <PresentationFormat>Grand écran</PresentationFormat>
  <Paragraphs>384</Paragraphs>
  <Slides>29</Slides>
  <Notes>29</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29</vt:i4>
      </vt:variant>
    </vt:vector>
  </HeadingPairs>
  <TitlesOfParts>
    <vt:vector size="35" baseType="lpstr">
      <vt:lpstr>Arial</vt:lpstr>
      <vt:lpstr>Calibri</vt:lpstr>
      <vt:lpstr>Courier New</vt:lpstr>
      <vt:lpstr>Georgia</vt:lpstr>
      <vt:lpstr>Times New Roman</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Don De Dieu MBOUMBA, Moussa SAMBA DIALLO &amp; coéquipier</dc:creator>
  <cp:lastModifiedBy>Baba Galle NDIAYE</cp:lastModifiedBy>
  <cp:revision>1</cp:revision>
  <dcterms:created xsi:type="dcterms:W3CDTF">2026-04-23T23:35:06Z</dcterms:created>
  <dcterms:modified xsi:type="dcterms:W3CDTF">2026-05-14T20:41:02Z</dcterms:modified>
</cp:coreProperties>
</file>